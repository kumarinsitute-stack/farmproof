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Illustrations are drawn concept visuals with sample data, not real photos or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recap. The CAG audit shows delays also come from crop-cutting timelines and state subsidy releases; we target the evidence gap. Verify all figures against primary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concept targets a different gap: evidence (A), data silos (B), claim visibility (C), surveyor shortage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Scores are 1 (low) to 5 (high), equal weight. Impact = reduction of the problem for the farmer. Feasibility = prototype in one week with our skills, tools, budget. Differentiation = how meaningfully better than what exists (crop-cutting, CROPIC, satellite pilots, weather-index insurance). Adjust scores to your team's honest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CROPIC is described publicly by the Ministry of Agriculture and Farmers Welfare as geotagged crop photos plus AI for monitoring and claim support. Check its current status before pitching. Our difference: event-triggered, per-claim, 72-hour evidence with weather match and tamper checks, plus a farmer-facing tracker.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 is illustrative (not a real interview). Replace with a real quote from your farmer interviews if you have one. Step times after submission depend on the insurer; we do not promise payout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Mockups are concept screens with sample data. Prototype scope: features 1 to 4 and 6 fully, feature 5 as English/Telugu labels plus a basic offline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screens with sample data. This is the demo path for the prototype: report, capture, track, officer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below are prototype targets to be tested with pilot users, not results. Do not present them as achieved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components use free tiers or open data. No custom model training is needed in build week. Thresholds and rules are prototype defaults.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Open-Meteo provides free historical weather including precipitation, wind gusts and a weather code that flags thunderstorms with hail; its grid is coarse, so weather supports a claim rather than deciding it. Thresholds shown are starting values to tune on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Prototype must be built during the competition; pre-built prototypes are not eligible. Keep scope to essential features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B"/>
        </a:solidFill>
      </p:bgPr>
    </p:bg>
    <p:spTree>
      <p:nvGrpSpPr>
        <p:cNvPr id="1" name=""/>
        <p:cNvGrpSpPr/>
        <p:nvPr/>
      </p:nvGrpSpPr>
      <p:grpSpPr>
        <a:xfrm>
          <a:off x="0" y="0"/>
          <a:ext cx="0" cy="0"/>
          <a:chOff x="0" y="0"/>
          <a:chExt cx="0" cy="0"/>
        </a:xfrm>
      </p:grpSpPr>
      <p:pic>
        <p:nvPicPr>
          <p:cNvPr id="2" name="Image 0" descr="/home/claude/img/hero_portrait.png">    </p:cNvPr>
          <p:cNvPicPr>
            <a:picLocks noChangeAspect="1"/>
          </p:cNvPicPr>
          <p:nvPr/>
        </p:nvPicPr>
        <p:blipFill>
          <a:blip r:embed="rId1"/>
          <a:stretch>
            <a:fillRect/>
          </a:stretch>
        </p:blipFill>
        <p:spPr>
          <a:xfrm>
            <a:off x="6208776" y="0"/>
            <a:ext cx="5980176" cy="6858000"/>
          </a:xfrm>
          <a:prstGeom prst="rect">
            <a:avLst/>
          </a:prstGeom>
        </p:spPr>
      </p:pic>
      <p:sp>
        <p:nvSpPr>
          <p:cNvPr id="3" name="Shape 0"/>
          <p:cNvSpPr/>
          <p:nvPr/>
        </p:nvSpPr>
        <p:spPr>
          <a:xfrm>
            <a:off x="0" y="0"/>
            <a:ext cx="228600" cy="6858000"/>
          </a:xfrm>
          <a:prstGeom prst="rect">
            <a:avLst/>
          </a:prstGeom>
          <a:solidFill>
            <a:srgbClr val="2E9E6B"/>
          </a:solidFill>
          <a:ln w="12700">
            <a:solidFill>
              <a:srgbClr val="2E9E6B"/>
            </a:solidFill>
            <a:prstDash val="solid"/>
          </a:ln>
        </p:spPr>
      </p:sp>
      <p:sp>
        <p:nvSpPr>
          <p:cNvPr id="4" name="Text 1"/>
          <p:cNvSpPr/>
          <p:nvPr/>
        </p:nvSpPr>
        <p:spPr>
          <a:xfrm>
            <a:off x="731520" y="640080"/>
            <a:ext cx="4572000" cy="274320"/>
          </a:xfrm>
          <a:prstGeom prst="rect">
            <a:avLst/>
          </a:prstGeom>
          <a:noFill/>
          <a:ln/>
        </p:spPr>
        <p:txBody>
          <a:bodyPr wrap="square" lIns="0" tIns="0" rIns="0" bIns="0" rtlCol="0" anchor="t"/>
          <a:lstStyle/>
          <a:p>
            <a:pPr indent="0" marL="0">
              <a:buNone/>
            </a:pPr>
            <a:r>
              <a:rPr lang="en-US" sz="1100" b="1" spc="200" kern="0" dirty="0">
                <a:solidFill>
                  <a:srgbClr val="2E9E6B"/>
                </a:solidFill>
                <a:latin typeface="Calibri" pitchFamily="34" charset="0"/>
                <a:ea typeface="Calibri" pitchFamily="34" charset="-122"/>
                <a:cs typeface="Calibri" pitchFamily="34" charset="-120"/>
              </a:rPr>
              <a:t>IMPACT TANK '26  |  SOLUTION CONCEPT DECK</a:t>
            </a:r>
            <a:endParaRPr lang="en-US" sz="1100" dirty="0"/>
          </a:p>
        </p:txBody>
      </p:sp>
      <p:sp>
        <p:nvSpPr>
          <p:cNvPr id="5" name="Text 2"/>
          <p:cNvSpPr/>
          <p:nvPr/>
        </p:nvSpPr>
        <p:spPr>
          <a:xfrm>
            <a:off x="731520" y="1325880"/>
            <a:ext cx="4206240" cy="914400"/>
          </a:xfrm>
          <a:prstGeom prst="rect">
            <a:avLst/>
          </a:prstGeom>
          <a:noFill/>
          <a:ln/>
        </p:spPr>
        <p:txBody>
          <a:bodyPr wrap="square" lIns="0" tIns="0" rIns="0" bIns="0" rtlCol="0" anchor="t"/>
          <a:lstStyle/>
          <a:p>
            <a:pPr indent="0" marL="0">
              <a:buNone/>
            </a:pPr>
            <a:r>
              <a:rPr lang="en-US" sz="5200" b="1" dirty="0">
                <a:solidFill>
                  <a:srgbClr val="14213D"/>
                </a:solidFill>
                <a:latin typeface="Georgia" pitchFamily="34" charset="0"/>
                <a:ea typeface="Georgia" pitchFamily="34" charset="-122"/>
                <a:cs typeface="Georgia" pitchFamily="34" charset="-120"/>
              </a:rPr>
              <a:t>FarmProof</a:t>
            </a:r>
            <a:endParaRPr lang="en-US" sz="5200" dirty="0"/>
          </a:p>
        </p:txBody>
      </p:sp>
      <p:sp>
        <p:nvSpPr>
          <p:cNvPr id="6" name="Text 3"/>
          <p:cNvSpPr/>
          <p:nvPr/>
        </p:nvSpPr>
        <p:spPr>
          <a:xfrm>
            <a:off x="731520" y="2423160"/>
            <a:ext cx="4023360" cy="1463040"/>
          </a:xfrm>
          <a:prstGeom prst="rect">
            <a:avLst/>
          </a:prstGeom>
          <a:noFill/>
          <a:ln/>
        </p:spPr>
        <p:txBody>
          <a:bodyPr wrap="square" lIns="0" tIns="0" rIns="0" bIns="0" rtlCol="0" anchor="t"/>
          <a:lstStyle/>
          <a:p>
            <a:pPr indent="0" marL="0">
              <a:buNone/>
            </a:pPr>
            <a:r>
              <a:rPr lang="en-US" sz="1700" dirty="0">
                <a:solidFill>
                  <a:srgbClr val="14213D"/>
                </a:solidFill>
                <a:latin typeface="Georgia" pitchFamily="34" charset="0"/>
                <a:ea typeface="Georgia" pitchFamily="34" charset="-122"/>
                <a:cs typeface="Georgia" pitchFamily="34" charset="-120"/>
              </a:rPr>
              <a:t>Farm-level proof of loss for every crop-insurance claim, captured by the farmer within 72 hours</a:t>
            </a:r>
            <a:endParaRPr lang="en-US" sz="1700" dirty="0"/>
          </a:p>
        </p:txBody>
      </p:sp>
      <p:sp>
        <p:nvSpPr>
          <p:cNvPr id="7" name="Shape 4"/>
          <p:cNvSpPr/>
          <p:nvPr/>
        </p:nvSpPr>
        <p:spPr>
          <a:xfrm>
            <a:off x="731520" y="4069080"/>
            <a:ext cx="3749040" cy="530352"/>
          </a:xfrm>
          <a:prstGeom prst="roundRect">
            <a:avLst>
              <a:gd name="adj" fmla="val 17241"/>
            </a:avLst>
          </a:prstGeom>
          <a:solidFill>
            <a:srgbClr val="E8F5EE"/>
          </a:solidFill>
          <a:ln w="12700">
            <a:solidFill>
              <a:srgbClr val="E8F5EE"/>
            </a:solidFill>
            <a:prstDash val="solid"/>
          </a:ln>
        </p:spPr>
      </p:sp>
      <p:sp>
        <p:nvSpPr>
          <p:cNvPr id="8" name="Shape 5"/>
          <p:cNvSpPr/>
          <p:nvPr/>
        </p:nvSpPr>
        <p:spPr>
          <a:xfrm>
            <a:off x="896112" y="4224528"/>
            <a:ext cx="219456" cy="219456"/>
          </a:xfrm>
          <a:prstGeom prst="ellipse">
            <a:avLst/>
          </a:prstGeom>
          <a:solidFill>
            <a:srgbClr val="2E9E6B"/>
          </a:solidFill>
          <a:ln w="12700">
            <a:solidFill>
              <a:srgbClr val="2E9E6B"/>
            </a:solidFill>
            <a:prstDash val="solid"/>
          </a:ln>
        </p:spPr>
      </p:sp>
      <p:sp>
        <p:nvSpPr>
          <p:cNvPr id="9" name="Text 6"/>
          <p:cNvSpPr/>
          <p:nvPr/>
        </p:nvSpPr>
        <p:spPr>
          <a:xfrm>
            <a:off x="1280160" y="4069080"/>
            <a:ext cx="3108960" cy="530352"/>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Live photos   </a:t>
            </a:r>
            <a:pPr indent="0" marL="0">
              <a:buNone/>
            </a:pPr>
            <a:r>
              <a:rPr lang="en-US" sz="1250" dirty="0">
                <a:solidFill>
                  <a:srgbClr val="5F6B80"/>
                </a:solidFill>
                <a:latin typeface="Calibri" pitchFamily="34" charset="0"/>
                <a:ea typeface="Calibri" pitchFamily="34" charset="-122"/>
                <a:cs typeface="Calibri" pitchFamily="34" charset="-120"/>
              </a:rPr>
              <a:t>geotagged and time-stamped</a:t>
            </a:r>
            <a:endParaRPr lang="en-US" sz="1250" dirty="0"/>
          </a:p>
        </p:txBody>
      </p:sp>
      <p:sp>
        <p:nvSpPr>
          <p:cNvPr id="10" name="Shape 7"/>
          <p:cNvSpPr/>
          <p:nvPr/>
        </p:nvSpPr>
        <p:spPr>
          <a:xfrm>
            <a:off x="731520" y="4690872"/>
            <a:ext cx="3749040" cy="530352"/>
          </a:xfrm>
          <a:prstGeom prst="roundRect">
            <a:avLst>
              <a:gd name="adj" fmla="val 17241"/>
            </a:avLst>
          </a:prstGeom>
          <a:solidFill>
            <a:srgbClr val="E6F0FC"/>
          </a:solidFill>
          <a:ln w="12700">
            <a:solidFill>
              <a:srgbClr val="E6F0FC"/>
            </a:solidFill>
            <a:prstDash val="solid"/>
          </a:ln>
        </p:spPr>
      </p:sp>
      <p:sp>
        <p:nvSpPr>
          <p:cNvPr id="11" name="Shape 8"/>
          <p:cNvSpPr/>
          <p:nvPr/>
        </p:nvSpPr>
        <p:spPr>
          <a:xfrm>
            <a:off x="896112" y="4846320"/>
            <a:ext cx="219456" cy="219456"/>
          </a:xfrm>
          <a:prstGeom prst="ellipse">
            <a:avLst/>
          </a:prstGeom>
          <a:solidFill>
            <a:srgbClr val="2F7FD8"/>
          </a:solidFill>
          <a:ln w="12700">
            <a:solidFill>
              <a:srgbClr val="2F7FD8"/>
            </a:solidFill>
            <a:prstDash val="solid"/>
          </a:ln>
        </p:spPr>
      </p:sp>
      <p:sp>
        <p:nvSpPr>
          <p:cNvPr id="12" name="Text 9"/>
          <p:cNvSpPr/>
          <p:nvPr/>
        </p:nvSpPr>
        <p:spPr>
          <a:xfrm>
            <a:off x="1280160" y="4690872"/>
            <a:ext cx="3108960" cy="530352"/>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Weather check   </a:t>
            </a:r>
            <a:pPr indent="0" marL="0">
              <a:buNone/>
            </a:pPr>
            <a:r>
              <a:rPr lang="en-US" sz="1250" dirty="0">
                <a:solidFill>
                  <a:srgbClr val="5F6B80"/>
                </a:solidFill>
                <a:latin typeface="Calibri" pitchFamily="34" charset="0"/>
                <a:ea typeface="Calibri" pitchFamily="34" charset="-122"/>
                <a:cs typeface="Calibri" pitchFamily="34" charset="-120"/>
              </a:rPr>
              <a:t>matched to the claim date</a:t>
            </a:r>
            <a:endParaRPr lang="en-US" sz="1250" dirty="0"/>
          </a:p>
        </p:txBody>
      </p:sp>
      <p:sp>
        <p:nvSpPr>
          <p:cNvPr id="13" name="Shape 10"/>
          <p:cNvSpPr/>
          <p:nvPr/>
        </p:nvSpPr>
        <p:spPr>
          <a:xfrm>
            <a:off x="731520" y="5312664"/>
            <a:ext cx="3749040" cy="530352"/>
          </a:xfrm>
          <a:prstGeom prst="roundRect">
            <a:avLst>
              <a:gd name="adj" fmla="val 17241"/>
            </a:avLst>
          </a:prstGeom>
          <a:solidFill>
            <a:srgbClr val="FEF3E0"/>
          </a:solidFill>
          <a:ln w="12700">
            <a:solidFill>
              <a:srgbClr val="FEF3E0"/>
            </a:solidFill>
            <a:prstDash val="solid"/>
          </a:ln>
        </p:spPr>
      </p:sp>
      <p:sp>
        <p:nvSpPr>
          <p:cNvPr id="14" name="Shape 11"/>
          <p:cNvSpPr/>
          <p:nvPr/>
        </p:nvSpPr>
        <p:spPr>
          <a:xfrm>
            <a:off x="896112" y="5468112"/>
            <a:ext cx="219456" cy="219456"/>
          </a:xfrm>
          <a:prstGeom prst="ellipse">
            <a:avLst/>
          </a:prstGeom>
          <a:solidFill>
            <a:srgbClr val="F2A33A"/>
          </a:solidFill>
          <a:ln w="12700">
            <a:solidFill>
              <a:srgbClr val="F2A33A"/>
            </a:solidFill>
            <a:prstDash val="solid"/>
          </a:ln>
        </p:spPr>
      </p:sp>
      <p:sp>
        <p:nvSpPr>
          <p:cNvPr id="15" name="Text 12"/>
          <p:cNvSpPr/>
          <p:nvPr/>
        </p:nvSpPr>
        <p:spPr>
          <a:xfrm>
            <a:off x="1280160" y="5312664"/>
            <a:ext cx="3108960" cy="530352"/>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One claim file   </a:t>
            </a:r>
            <a:pPr indent="0" marL="0">
              <a:buNone/>
            </a:pPr>
            <a:r>
              <a:rPr lang="en-US" sz="1250" dirty="0">
                <a:solidFill>
                  <a:srgbClr val="5F6B80"/>
                </a:solidFill>
                <a:latin typeface="Calibri" pitchFamily="34" charset="0"/>
                <a:ea typeface="Calibri" pitchFamily="34" charset="-122"/>
                <a:cs typeface="Calibri" pitchFamily="34" charset="-120"/>
              </a:rPr>
              <a:t>ranked for surveyors</a:t>
            </a:r>
            <a:endParaRPr lang="en-US" sz="1250" dirty="0"/>
          </a:p>
        </p:txBody>
      </p:sp>
      <p:sp>
        <p:nvSpPr>
          <p:cNvPr id="16" name="Text 13"/>
          <p:cNvSpPr/>
          <p:nvPr/>
        </p:nvSpPr>
        <p:spPr>
          <a:xfrm>
            <a:off x="731520" y="5943600"/>
            <a:ext cx="4572000" cy="27432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Team Nexus.DTU</a:t>
            </a:r>
            <a:endParaRPr lang="en-US" sz="1300" dirty="0"/>
          </a:p>
        </p:txBody>
      </p:sp>
      <p:sp>
        <p:nvSpPr>
          <p:cNvPr id="17" name="Text 14"/>
          <p:cNvSpPr/>
          <p:nvPr/>
        </p:nvSpPr>
        <p:spPr>
          <a:xfrm>
            <a:off x="731520" y="6236208"/>
            <a:ext cx="5303520" cy="274320"/>
          </a:xfrm>
          <a:prstGeom prst="rect">
            <a:avLst/>
          </a:prstGeom>
          <a:noFill/>
          <a:ln/>
        </p:spPr>
        <p:txBody>
          <a:bodyPr wrap="square" lIns="0" tIns="0" rIns="0" bIns="0" rtlCol="0" anchor="t"/>
          <a:lstStyle/>
          <a:p>
            <a:pPr indent="0" marL="0">
              <a:buNone/>
            </a:pPr>
            <a:r>
              <a:rPr lang="en-US" sz="1100" dirty="0">
                <a:solidFill>
                  <a:srgbClr val="5F6B80"/>
                </a:solidFill>
                <a:latin typeface="Calibri" pitchFamily="34" charset="0"/>
                <a:ea typeface="Calibri" pitchFamily="34" charset="-122"/>
                <a:cs typeface="Calibri" pitchFamily="34" charset="-120"/>
              </a:rPr>
              <a:t>Sameer Raja  |  Gaurav Kumar  |  Akshat Bhati  |  Naynika Rani</a:t>
            </a:r>
            <a:endParaRPr lang="en-US" sz="1100" dirty="0"/>
          </a:p>
        </p:txBody>
      </p:sp>
      <p:pic>
        <p:nvPicPr>
          <p:cNvPr id="18" name="Image 1" descr="/home/claude/img/phone_capture.png">    </p:cNvPr>
          <p:cNvPicPr>
            <a:picLocks noChangeAspect="1"/>
          </p:cNvPicPr>
          <p:nvPr/>
        </p:nvPicPr>
        <p:blipFill>
          <a:blip r:embed="rId2"/>
          <a:stretch>
            <a:fillRect/>
          </a:stretch>
        </p:blipFill>
        <p:spPr>
          <a:xfrm>
            <a:off x="5257800" y="1188720"/>
            <a:ext cx="2194560" cy="44988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320040"/>
            <a:ext cx="11064240" cy="868680"/>
          </a:xfrm>
          <a:prstGeom prst="rect">
            <a:avLst/>
          </a:prstGeom>
          <a:noFill/>
          <a:ln/>
        </p:spPr>
        <p:txBody>
          <a:bodyPr wrap="square" lIns="0" tIns="0" rIns="0" bIns="0" rtlCol="0" anchor="t"/>
          <a:lstStyle/>
          <a:p>
            <a:pPr indent="0" marL="0">
              <a:buNone/>
            </a:pPr>
            <a:r>
              <a:rPr lang="en-US" sz="2400" b="1" dirty="0">
                <a:solidFill>
                  <a:srgbClr val="14213D"/>
                </a:solidFill>
                <a:latin typeface="Georgia" pitchFamily="34" charset="0"/>
                <a:ea typeface="Georgia" pitchFamily="34" charset="-122"/>
                <a:cs typeface="Georgia" pitchFamily="34" charset="-120"/>
              </a:rPr>
              <a:t>Small farmers wait for payouts because nobody can quickly prove one farm's loss</a:t>
            </a:r>
            <a:endParaRPr lang="en-US" sz="2400" dirty="0"/>
          </a:p>
        </p:txBody>
      </p:sp>
      <p:sp>
        <p:nvSpPr>
          <p:cNvPr id="3" name="Text 1"/>
          <p:cNvSpPr/>
          <p:nvPr/>
        </p:nvSpPr>
        <p:spPr>
          <a:xfrm>
            <a:off x="548640" y="6492240"/>
            <a:ext cx="7315200" cy="228600"/>
          </a:xfrm>
          <a:prstGeom prst="rect">
            <a:avLst/>
          </a:prstGeom>
          <a:noFill/>
          <a:ln/>
        </p:spPr>
        <p:txBody>
          <a:bodyPr wrap="square" lIns="0" tIns="0" rIns="0" bIns="0" rtlCol="0" anchor="ctr"/>
          <a:lstStyle/>
          <a:p>
            <a:pPr indent="0" marL="0">
              <a:buNone/>
            </a:pPr>
            <a:r>
              <a:rPr lang="en-US" sz="900" dirty="0">
                <a:solidFill>
                  <a:srgbClr val="5F6B80"/>
                </a:solidFill>
                <a:latin typeface="Calibri" pitchFamily="34" charset="0"/>
                <a:ea typeface="Calibri" pitchFamily="34" charset="-122"/>
                <a:cs typeface="Calibri" pitchFamily="34" charset="-120"/>
              </a:rPr>
              <a:t>IMPACT TANK '26  |  SOLUTION CONCEPT DECK  |  FarmProof  |  Team Nexus.DTU</a:t>
            </a:r>
            <a:endParaRPr lang="en-US" sz="900" dirty="0"/>
          </a:p>
        </p:txBody>
      </p:sp>
      <p:sp>
        <p:nvSpPr>
          <p:cNvPr id="4" name="Text 2"/>
          <p:cNvSpPr/>
          <p:nvPr/>
        </p:nvSpPr>
        <p:spPr>
          <a:xfrm>
            <a:off x="11155680" y="6492240"/>
            <a:ext cx="457200" cy="228600"/>
          </a:xfrm>
          <a:prstGeom prst="rect">
            <a:avLst/>
          </a:prstGeom>
          <a:noFill/>
          <a:ln/>
        </p:spPr>
        <p:txBody>
          <a:bodyPr wrap="square" lIns="0" tIns="0" rIns="0" bIns="0" rtlCol="0" anchor="ctr"/>
          <a:lstStyle/>
          <a:p>
            <a:pPr algn="r" indent="0" marL="0">
              <a:buNone/>
            </a:pPr>
            <a:r>
              <a:rPr lang="en-US" sz="900" dirty="0">
                <a:solidFill>
                  <a:srgbClr val="5F6B80"/>
                </a:solidFill>
                <a:latin typeface="Calibri" pitchFamily="34" charset="0"/>
                <a:ea typeface="Calibri" pitchFamily="34" charset="-122"/>
                <a:cs typeface="Calibri" pitchFamily="34" charset="-120"/>
              </a:rPr>
              <a:t>2</a:t>
            </a:r>
            <a:endParaRPr lang="en-US" sz="900" dirty="0"/>
          </a:p>
        </p:txBody>
      </p:sp>
      <p:pic>
        <p:nvPicPr>
          <p:cNvPr id="6" name="Image 0" descr="/home/claude/img/hero.png">    </p:cNvPr>
          <p:cNvPicPr>
            <a:picLocks noChangeAspect="1"/>
          </p:cNvPicPr>
          <p:nvPr/>
        </p:nvPicPr>
        <p:blipFill>
          <a:blip r:embed="rId1"/>
          <a:stretch>
            <a:fillRect/>
          </a:stretch>
        </p:blipFill>
        <p:spPr>
          <a:xfrm>
            <a:off x="548640" y="1371600"/>
            <a:ext cx="4572000" cy="2857500"/>
          </a:xfrm>
          <a:prstGeom prst="rect">
            <a:avLst/>
          </a:prstGeom>
        </p:spPr>
      </p:pic>
      <p:sp>
        <p:nvSpPr>
          <p:cNvPr id="7" name="Shape 3"/>
          <p:cNvSpPr/>
          <p:nvPr/>
        </p:nvSpPr>
        <p:spPr>
          <a:xfrm>
            <a:off x="548640" y="4389120"/>
            <a:ext cx="4572000" cy="1874520"/>
          </a:xfrm>
          <a:prstGeom prst="roundRect">
            <a:avLst>
              <a:gd name="adj" fmla="val 4878"/>
            </a:avLst>
          </a:prstGeom>
          <a:solidFill>
            <a:srgbClr val="E8F5EE"/>
          </a:solidFill>
          <a:ln w="12700">
            <a:solidFill>
              <a:srgbClr val="E8F5EE"/>
            </a:solidFill>
            <a:prstDash val="solid"/>
          </a:ln>
        </p:spPr>
      </p:sp>
      <p:sp>
        <p:nvSpPr>
          <p:cNvPr id="8" name="Text 4"/>
          <p:cNvSpPr/>
          <p:nvPr/>
        </p:nvSpPr>
        <p:spPr>
          <a:xfrm>
            <a:off x="731520" y="4498848"/>
            <a:ext cx="3657600" cy="228600"/>
          </a:xfrm>
          <a:prstGeom prst="rect">
            <a:avLst/>
          </a:prstGeom>
          <a:noFill/>
          <a:ln/>
        </p:spPr>
        <p:txBody>
          <a:bodyPr wrap="square" lIns="0" tIns="0" rIns="0" bIns="0" rtlCol="0" anchor="t"/>
          <a:lstStyle/>
          <a:p>
            <a:pPr indent="0" marL="0">
              <a:buNone/>
            </a:pPr>
            <a:r>
              <a:rPr lang="en-US" sz="1000" b="1" spc="150" kern="0" dirty="0">
                <a:solidFill>
                  <a:srgbClr val="2E9E6B"/>
                </a:solidFill>
                <a:latin typeface="Calibri" pitchFamily="34" charset="0"/>
                <a:ea typeface="Calibri" pitchFamily="34" charset="-122"/>
                <a:cs typeface="Calibri" pitchFamily="34" charset="-120"/>
              </a:rPr>
              <a:t>PROBLEM STATEMENT</a:t>
            </a:r>
            <a:endParaRPr lang="en-US" sz="1000" dirty="0"/>
          </a:p>
        </p:txBody>
      </p:sp>
      <p:sp>
        <p:nvSpPr>
          <p:cNvPr id="9" name="Text 5"/>
          <p:cNvSpPr/>
          <p:nvPr/>
        </p:nvSpPr>
        <p:spPr>
          <a:xfrm>
            <a:off x="731520" y="4754880"/>
            <a:ext cx="4206240" cy="1463040"/>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Small and marginal farmers</a:t>
            </a:r>
            <a:pPr indent="0" marL="0">
              <a:buNone/>
            </a:pPr>
            <a:r>
              <a:rPr lang="en-US" sz="1250" dirty="0">
                <a:solidFill>
                  <a:srgbClr val="14213D"/>
                </a:solidFill>
                <a:latin typeface="Calibri" pitchFamily="34" charset="0"/>
                <a:ea typeface="Calibri" pitchFamily="34" charset="-122"/>
                <a:cs typeface="Calibri" pitchFamily="34" charset="-120"/>
              </a:rPr>
              <a:t> face difficulty getting </a:t>
            </a:r>
            <a:pPr indent="0" marL="0">
              <a:buNone/>
            </a:pPr>
            <a:r>
              <a:rPr lang="en-US" sz="1250" b="1" dirty="0">
                <a:solidFill>
                  <a:srgbClr val="E4572E"/>
                </a:solidFill>
                <a:latin typeface="Calibri" pitchFamily="34" charset="0"/>
                <a:ea typeface="Calibri" pitchFamily="34" charset="-122"/>
                <a:cs typeface="Calibri" pitchFamily="34" charset="-120"/>
              </a:rPr>
              <a:t>timely, fair crop-insurance payouts</a:t>
            </a:r>
            <a:pPr indent="0" marL="0">
              <a:buNone/>
            </a:pPr>
            <a:r>
              <a:rPr lang="en-US" sz="1250" dirty="0">
                <a:solidFill>
                  <a:srgbClr val="14213D"/>
                </a:solidFill>
                <a:latin typeface="Calibri" pitchFamily="34" charset="0"/>
                <a:ea typeface="Calibri" pitchFamily="34" charset="-122"/>
                <a:cs typeface="Calibri" pitchFamily="34" charset="-120"/>
              </a:rPr>
              <a:t> after weather damage because </a:t>
            </a:r>
            <a:pPr indent="0" marL="0">
              <a:buNone/>
            </a:pPr>
            <a:r>
              <a:rPr lang="en-US" sz="1250" b="1" dirty="0">
                <a:solidFill>
                  <a:srgbClr val="14213D"/>
                </a:solidFill>
                <a:latin typeface="Calibri" pitchFamily="34" charset="0"/>
                <a:ea typeface="Calibri" pitchFamily="34" charset="-122"/>
                <a:cs typeface="Calibri" pitchFamily="34" charset="-120"/>
              </a:rPr>
              <a:t>loss assessment relies on slow, sample-based manual surveys</a:t>
            </a:r>
            <a:pPr indent="0" marL="0">
              <a:buNone/>
            </a:pPr>
            <a:r>
              <a:rPr lang="en-US" sz="1250" dirty="0">
                <a:solidFill>
                  <a:srgbClr val="14213D"/>
                </a:solidFill>
                <a:latin typeface="Calibri" pitchFamily="34" charset="0"/>
                <a:ea typeface="Calibri" pitchFamily="34" charset="-122"/>
                <a:cs typeface="Calibri" pitchFamily="34" charset="-120"/>
              </a:rPr>
              <a:t>, resulting in delayed or under-paid claims and a fall back into informal debt.</a:t>
            </a:r>
            <a:endParaRPr lang="en-US" sz="1250" dirty="0"/>
          </a:p>
        </p:txBody>
      </p:sp>
      <p:sp>
        <p:nvSpPr>
          <p:cNvPr id="10" name="Text 6"/>
          <p:cNvSpPr/>
          <p:nvPr/>
        </p:nvSpPr>
        <p:spPr>
          <a:xfrm>
            <a:off x="5486400" y="1371600"/>
            <a:ext cx="5943600" cy="228600"/>
          </a:xfrm>
          <a:prstGeom prst="rect">
            <a:avLst/>
          </a:prstGeom>
          <a:noFill/>
          <a:ln/>
        </p:spPr>
        <p:txBody>
          <a:bodyPr wrap="square" lIns="0" tIns="0" rIns="0" bIns="0" rtlCol="0" anchor="t"/>
          <a:lstStyle/>
          <a:p>
            <a:pPr indent="0" marL="0">
              <a:buNone/>
            </a:pPr>
            <a:r>
              <a:rPr lang="en-US" sz="1000" b="1" spc="150" kern="0" dirty="0">
                <a:solidFill>
                  <a:srgbClr val="2E9E6B"/>
                </a:solidFill>
                <a:latin typeface="Calibri" pitchFamily="34" charset="0"/>
                <a:ea typeface="Calibri" pitchFamily="34" charset="-122"/>
                <a:cs typeface="Calibri" pitchFamily="34" charset="-120"/>
              </a:rPr>
              <a:t>ROOT CAUSE: 5 WHYS</a:t>
            </a:r>
            <a:endParaRPr lang="en-US" sz="1000" dirty="0"/>
          </a:p>
        </p:txBody>
      </p:sp>
      <p:sp>
        <p:nvSpPr>
          <p:cNvPr id="11" name="Shape 7"/>
          <p:cNvSpPr/>
          <p:nvPr/>
        </p:nvSpPr>
        <p:spPr>
          <a:xfrm>
            <a:off x="5486400" y="1664208"/>
            <a:ext cx="6126480" cy="512064"/>
          </a:xfrm>
          <a:prstGeom prst="roundRect">
            <a:avLst>
              <a:gd name="adj" fmla="val 17857"/>
            </a:avLst>
          </a:prstGeom>
          <a:solidFill>
            <a:srgbClr val="FFFFFF"/>
          </a:solidFill>
          <a:ln w="12700">
            <a:solidFill>
              <a:srgbClr val="FFFFFF"/>
            </a:solidFill>
            <a:prstDash val="solid"/>
          </a:ln>
        </p:spPr>
      </p:sp>
      <p:sp>
        <p:nvSpPr>
          <p:cNvPr id="12" name="Shape 8"/>
          <p:cNvSpPr/>
          <p:nvPr/>
        </p:nvSpPr>
        <p:spPr>
          <a:xfrm>
            <a:off x="5596128" y="1755648"/>
            <a:ext cx="329184" cy="329184"/>
          </a:xfrm>
          <a:prstGeom prst="ellipse">
            <a:avLst/>
          </a:prstGeom>
          <a:solidFill>
            <a:srgbClr val="2E9E6B"/>
          </a:solidFill>
          <a:ln w="12700">
            <a:solidFill>
              <a:srgbClr val="2E9E6B"/>
            </a:solidFill>
            <a:prstDash val="solid"/>
          </a:ln>
        </p:spPr>
      </p:sp>
      <p:sp>
        <p:nvSpPr>
          <p:cNvPr id="13" name="Text 9"/>
          <p:cNvSpPr/>
          <p:nvPr/>
        </p:nvSpPr>
        <p:spPr>
          <a:xfrm>
            <a:off x="5596128" y="17556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0"/>
          <p:cNvSpPr/>
          <p:nvPr/>
        </p:nvSpPr>
        <p:spPr>
          <a:xfrm>
            <a:off x="6053328" y="1664208"/>
            <a:ext cx="2011680" cy="512064"/>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Why are payouts delayed?</a:t>
            </a:r>
            <a:endParaRPr lang="en-US" sz="1150" dirty="0"/>
          </a:p>
        </p:txBody>
      </p:sp>
      <p:sp>
        <p:nvSpPr>
          <p:cNvPr id="15" name="Text 11"/>
          <p:cNvSpPr/>
          <p:nvPr/>
        </p:nvSpPr>
        <p:spPr>
          <a:xfrm>
            <a:off x="8046720" y="1664208"/>
            <a:ext cx="3474720" cy="512064"/>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Losses must be verified before claims are settled.</a:t>
            </a:r>
            <a:endParaRPr lang="en-US" sz="1100" dirty="0"/>
          </a:p>
        </p:txBody>
      </p:sp>
      <p:sp>
        <p:nvSpPr>
          <p:cNvPr id="16" name="Shape 12"/>
          <p:cNvSpPr/>
          <p:nvPr/>
        </p:nvSpPr>
        <p:spPr>
          <a:xfrm>
            <a:off x="5486400" y="2249424"/>
            <a:ext cx="6126480" cy="512064"/>
          </a:xfrm>
          <a:prstGeom prst="roundRect">
            <a:avLst>
              <a:gd name="adj" fmla="val 17857"/>
            </a:avLst>
          </a:prstGeom>
          <a:solidFill>
            <a:srgbClr val="FFFFFF"/>
          </a:solidFill>
          <a:ln w="12700">
            <a:solidFill>
              <a:srgbClr val="FFFFFF"/>
            </a:solidFill>
            <a:prstDash val="solid"/>
          </a:ln>
        </p:spPr>
      </p:sp>
      <p:sp>
        <p:nvSpPr>
          <p:cNvPr id="17" name="Shape 13"/>
          <p:cNvSpPr/>
          <p:nvPr/>
        </p:nvSpPr>
        <p:spPr>
          <a:xfrm>
            <a:off x="5596128" y="2340864"/>
            <a:ext cx="329184" cy="329184"/>
          </a:xfrm>
          <a:prstGeom prst="ellipse">
            <a:avLst/>
          </a:prstGeom>
          <a:solidFill>
            <a:srgbClr val="2E9E6B"/>
          </a:solidFill>
          <a:ln w="12700">
            <a:solidFill>
              <a:srgbClr val="2E9E6B"/>
            </a:solidFill>
            <a:prstDash val="solid"/>
          </a:ln>
        </p:spPr>
      </p:sp>
      <p:sp>
        <p:nvSpPr>
          <p:cNvPr id="18" name="Text 14"/>
          <p:cNvSpPr/>
          <p:nvPr/>
        </p:nvSpPr>
        <p:spPr>
          <a:xfrm>
            <a:off x="5596128" y="23408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5"/>
          <p:cNvSpPr/>
          <p:nvPr/>
        </p:nvSpPr>
        <p:spPr>
          <a:xfrm>
            <a:off x="6053328" y="2249424"/>
            <a:ext cx="2011680" cy="512064"/>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Why is verification slow?</a:t>
            </a:r>
            <a:endParaRPr lang="en-US" sz="1150" dirty="0"/>
          </a:p>
        </p:txBody>
      </p:sp>
      <p:sp>
        <p:nvSpPr>
          <p:cNvPr id="20" name="Text 16"/>
          <p:cNvSpPr/>
          <p:nvPr/>
        </p:nvSpPr>
        <p:spPr>
          <a:xfrm>
            <a:off x="8046720" y="2249424"/>
            <a:ext cx="3474720" cy="512064"/>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It relies on manual surveys and sample-plot yield tests.</a:t>
            </a:r>
            <a:endParaRPr lang="en-US" sz="1100" dirty="0"/>
          </a:p>
        </p:txBody>
      </p:sp>
      <p:sp>
        <p:nvSpPr>
          <p:cNvPr id="21" name="Shape 17"/>
          <p:cNvSpPr/>
          <p:nvPr/>
        </p:nvSpPr>
        <p:spPr>
          <a:xfrm>
            <a:off x="5486400" y="2834640"/>
            <a:ext cx="6126480" cy="512064"/>
          </a:xfrm>
          <a:prstGeom prst="roundRect">
            <a:avLst>
              <a:gd name="adj" fmla="val 17857"/>
            </a:avLst>
          </a:prstGeom>
          <a:solidFill>
            <a:srgbClr val="FFFFFF"/>
          </a:solidFill>
          <a:ln w="12700">
            <a:solidFill>
              <a:srgbClr val="FFFFFF"/>
            </a:solidFill>
            <a:prstDash val="solid"/>
          </a:ln>
        </p:spPr>
      </p:sp>
      <p:sp>
        <p:nvSpPr>
          <p:cNvPr id="22" name="Shape 18"/>
          <p:cNvSpPr/>
          <p:nvPr/>
        </p:nvSpPr>
        <p:spPr>
          <a:xfrm>
            <a:off x="5596128" y="2926080"/>
            <a:ext cx="329184" cy="329184"/>
          </a:xfrm>
          <a:prstGeom prst="ellipse">
            <a:avLst/>
          </a:prstGeom>
          <a:solidFill>
            <a:srgbClr val="2E9E6B"/>
          </a:solidFill>
          <a:ln w="12700">
            <a:solidFill>
              <a:srgbClr val="2E9E6B"/>
            </a:solidFill>
            <a:prstDash val="solid"/>
          </a:ln>
        </p:spPr>
      </p:sp>
      <p:sp>
        <p:nvSpPr>
          <p:cNvPr id="23" name="Text 19"/>
          <p:cNvSpPr/>
          <p:nvPr/>
        </p:nvSpPr>
        <p:spPr>
          <a:xfrm>
            <a:off x="5596128" y="29260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0"/>
          <p:cNvSpPr/>
          <p:nvPr/>
        </p:nvSpPr>
        <p:spPr>
          <a:xfrm>
            <a:off x="6053328" y="2834640"/>
            <a:ext cx="2011680" cy="512064"/>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Why only samples?</a:t>
            </a:r>
            <a:endParaRPr lang="en-US" sz="1150" dirty="0"/>
          </a:p>
        </p:txBody>
      </p:sp>
      <p:sp>
        <p:nvSpPr>
          <p:cNvPr id="25" name="Text 21"/>
          <p:cNvSpPr/>
          <p:nvPr/>
        </p:nvSpPr>
        <p:spPr>
          <a:xfrm>
            <a:off x="8046720" y="2834640"/>
            <a:ext cx="3474720" cy="512064"/>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Fieldwork across thousands of villages is costly, with limited staff.</a:t>
            </a:r>
            <a:endParaRPr lang="en-US" sz="1100" dirty="0"/>
          </a:p>
        </p:txBody>
      </p:sp>
      <p:sp>
        <p:nvSpPr>
          <p:cNvPr id="26" name="Shape 22"/>
          <p:cNvSpPr/>
          <p:nvPr/>
        </p:nvSpPr>
        <p:spPr>
          <a:xfrm>
            <a:off x="5486400" y="3419856"/>
            <a:ext cx="6126480" cy="512064"/>
          </a:xfrm>
          <a:prstGeom prst="roundRect">
            <a:avLst>
              <a:gd name="adj" fmla="val 17857"/>
            </a:avLst>
          </a:prstGeom>
          <a:solidFill>
            <a:srgbClr val="FFFFFF"/>
          </a:solidFill>
          <a:ln w="12700">
            <a:solidFill>
              <a:srgbClr val="FFFFFF"/>
            </a:solidFill>
            <a:prstDash val="solid"/>
          </a:ln>
        </p:spPr>
      </p:sp>
      <p:sp>
        <p:nvSpPr>
          <p:cNvPr id="27" name="Shape 23"/>
          <p:cNvSpPr/>
          <p:nvPr/>
        </p:nvSpPr>
        <p:spPr>
          <a:xfrm>
            <a:off x="5596128" y="3511296"/>
            <a:ext cx="329184" cy="329184"/>
          </a:xfrm>
          <a:prstGeom prst="ellipse">
            <a:avLst/>
          </a:prstGeom>
          <a:solidFill>
            <a:srgbClr val="2E9E6B"/>
          </a:solidFill>
          <a:ln w="12700">
            <a:solidFill>
              <a:srgbClr val="2E9E6B"/>
            </a:solidFill>
            <a:prstDash val="solid"/>
          </a:ln>
        </p:spPr>
      </p:sp>
      <p:sp>
        <p:nvSpPr>
          <p:cNvPr id="28" name="Text 24"/>
          <p:cNvSpPr/>
          <p:nvPr/>
        </p:nvSpPr>
        <p:spPr>
          <a:xfrm>
            <a:off x="5596128" y="351129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9" name="Text 25"/>
          <p:cNvSpPr/>
          <p:nvPr/>
        </p:nvSpPr>
        <p:spPr>
          <a:xfrm>
            <a:off x="6053328" y="3419856"/>
            <a:ext cx="2011680" cy="512064"/>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Why do disputes arise?</a:t>
            </a:r>
            <a:endParaRPr lang="en-US" sz="1150" dirty="0"/>
          </a:p>
        </p:txBody>
      </p:sp>
      <p:sp>
        <p:nvSpPr>
          <p:cNvPr id="30" name="Text 26"/>
          <p:cNvSpPr/>
          <p:nvPr/>
        </p:nvSpPr>
        <p:spPr>
          <a:xfrm>
            <a:off x="8046720" y="3419856"/>
            <a:ext cx="3474720" cy="512064"/>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Village-level averages can hide one farm's real loss.</a:t>
            </a:r>
            <a:endParaRPr lang="en-US" sz="1100" dirty="0"/>
          </a:p>
        </p:txBody>
      </p:sp>
      <p:sp>
        <p:nvSpPr>
          <p:cNvPr id="31" name="Shape 27"/>
          <p:cNvSpPr/>
          <p:nvPr/>
        </p:nvSpPr>
        <p:spPr>
          <a:xfrm>
            <a:off x="5486400" y="4005072"/>
            <a:ext cx="6126480" cy="512064"/>
          </a:xfrm>
          <a:prstGeom prst="roundRect">
            <a:avLst>
              <a:gd name="adj" fmla="val 17857"/>
            </a:avLst>
          </a:prstGeom>
          <a:solidFill>
            <a:srgbClr val="2E9E6B"/>
          </a:solidFill>
          <a:ln w="12700">
            <a:solidFill>
              <a:srgbClr val="2E9E6B"/>
            </a:solidFill>
            <a:prstDash val="solid"/>
          </a:ln>
        </p:spPr>
      </p:sp>
      <p:sp>
        <p:nvSpPr>
          <p:cNvPr id="32" name="Shape 28"/>
          <p:cNvSpPr/>
          <p:nvPr/>
        </p:nvSpPr>
        <p:spPr>
          <a:xfrm>
            <a:off x="5596128" y="4096512"/>
            <a:ext cx="329184" cy="329184"/>
          </a:xfrm>
          <a:prstGeom prst="ellipse">
            <a:avLst/>
          </a:prstGeom>
          <a:solidFill>
            <a:srgbClr val="FFFFFF"/>
          </a:solidFill>
          <a:ln w="12700">
            <a:solidFill>
              <a:srgbClr val="FFFFFF"/>
            </a:solidFill>
            <a:prstDash val="solid"/>
          </a:ln>
        </p:spPr>
      </p:sp>
      <p:sp>
        <p:nvSpPr>
          <p:cNvPr id="33" name="Text 29"/>
          <p:cNvSpPr/>
          <p:nvPr/>
        </p:nvSpPr>
        <p:spPr>
          <a:xfrm>
            <a:off x="5596128" y="40965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4" name="Text 30"/>
          <p:cNvSpPr/>
          <p:nvPr/>
        </p:nvSpPr>
        <p:spPr>
          <a:xfrm>
            <a:off x="5596128" y="4096512"/>
            <a:ext cx="329184" cy="329184"/>
          </a:xfrm>
          <a:prstGeom prst="rect">
            <a:avLst/>
          </a:prstGeom>
          <a:noFill/>
          <a:ln/>
        </p:spPr>
        <p:txBody>
          <a:bodyPr wrap="square" lIns="0" tIns="0" rIns="0" bIns="0" rtlCol="0" anchor="ctr"/>
          <a:lstStyle/>
          <a:p>
            <a:pPr algn="ctr" indent="0" marL="0">
              <a:buNone/>
            </a:pPr>
            <a:r>
              <a:rPr lang="en-US" sz="1200" b="1" dirty="0">
                <a:solidFill>
                  <a:srgbClr val="2E9E6B"/>
                </a:solidFill>
                <a:latin typeface="Calibri" pitchFamily="34" charset="0"/>
                <a:ea typeface="Calibri" pitchFamily="34" charset="-122"/>
                <a:cs typeface="Calibri" pitchFamily="34" charset="-120"/>
              </a:rPr>
              <a:t>5</a:t>
            </a:r>
            <a:endParaRPr lang="en-US" sz="1200" dirty="0"/>
          </a:p>
        </p:txBody>
      </p:sp>
      <p:sp>
        <p:nvSpPr>
          <p:cNvPr id="35" name="Text 31"/>
          <p:cNvSpPr/>
          <p:nvPr/>
        </p:nvSpPr>
        <p:spPr>
          <a:xfrm>
            <a:off x="6053328" y="4005072"/>
            <a:ext cx="2011680" cy="51206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Root cause</a:t>
            </a:r>
            <a:endParaRPr lang="en-US" sz="1150" dirty="0"/>
          </a:p>
        </p:txBody>
      </p:sp>
      <p:sp>
        <p:nvSpPr>
          <p:cNvPr id="36" name="Text 32"/>
          <p:cNvSpPr/>
          <p:nvPr/>
        </p:nvSpPr>
        <p:spPr>
          <a:xfrm>
            <a:off x="8046720" y="4005072"/>
            <a:ext cx="3474720" cy="51206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No trusted, low-cost, farm-level evidence in the claim process.</a:t>
            </a:r>
            <a:endParaRPr lang="en-US" sz="1100" dirty="0"/>
          </a:p>
        </p:txBody>
      </p:sp>
      <p:sp>
        <p:nvSpPr>
          <p:cNvPr id="37" name="Shape 33"/>
          <p:cNvSpPr/>
          <p:nvPr/>
        </p:nvSpPr>
        <p:spPr>
          <a:xfrm>
            <a:off x="5486400" y="4663440"/>
            <a:ext cx="1956816" cy="960120"/>
          </a:xfrm>
          <a:prstGeom prst="roundRect">
            <a:avLst>
              <a:gd name="adj" fmla="val 9524"/>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sp>
        <p:nvSpPr>
          <p:cNvPr id="38" name="Text 34"/>
          <p:cNvSpPr/>
          <p:nvPr/>
        </p:nvSpPr>
        <p:spPr>
          <a:xfrm>
            <a:off x="5623560" y="4736592"/>
            <a:ext cx="1737360" cy="365760"/>
          </a:xfrm>
          <a:prstGeom prst="rect">
            <a:avLst/>
          </a:prstGeom>
          <a:noFill/>
          <a:ln/>
        </p:spPr>
        <p:txBody>
          <a:bodyPr wrap="square" lIns="0" tIns="0" rIns="0" bIns="0" rtlCol="0" anchor="ctr"/>
          <a:lstStyle/>
          <a:p>
            <a:pPr indent="0" marL="0">
              <a:buNone/>
            </a:pPr>
            <a:r>
              <a:rPr lang="en-US" sz="2000" b="1" dirty="0">
                <a:solidFill>
                  <a:srgbClr val="2E9E6B"/>
                </a:solidFill>
                <a:latin typeface="Georgia" pitchFamily="34" charset="0"/>
                <a:ea typeface="Georgia" pitchFamily="34" charset="-122"/>
                <a:cs typeface="Georgia" pitchFamily="34" charset="-120"/>
              </a:rPr>
              <a:t>~86%</a:t>
            </a:r>
            <a:endParaRPr lang="en-US" sz="2000" dirty="0"/>
          </a:p>
        </p:txBody>
      </p:sp>
      <p:sp>
        <p:nvSpPr>
          <p:cNvPr id="39" name="Text 35"/>
          <p:cNvSpPr/>
          <p:nvPr/>
        </p:nvSpPr>
        <p:spPr>
          <a:xfrm>
            <a:off x="5623560" y="5138928"/>
            <a:ext cx="1737360" cy="457200"/>
          </a:xfrm>
          <a:prstGeom prst="rect">
            <a:avLst/>
          </a:prstGeom>
          <a:noFill/>
          <a:ln/>
        </p:spPr>
        <p:txBody>
          <a:bodyPr wrap="square" lIns="0" tIns="0" rIns="0" bIns="0" rtlCol="0" anchor="t"/>
          <a:lstStyle/>
          <a:p>
            <a:pPr indent="0" marL="0">
              <a:buNone/>
            </a:pPr>
            <a:r>
              <a:rPr lang="en-US" sz="1050" dirty="0">
                <a:solidFill>
                  <a:srgbClr val="5F6B80"/>
                </a:solidFill>
                <a:latin typeface="Calibri" pitchFamily="34" charset="0"/>
                <a:ea typeface="Calibri" pitchFamily="34" charset="-122"/>
                <a:cs typeface="Calibri" pitchFamily="34" charset="-120"/>
              </a:rPr>
              <a:t>of Indian farmers are small or marginal</a:t>
            </a:r>
            <a:endParaRPr lang="en-US" sz="1050" dirty="0"/>
          </a:p>
        </p:txBody>
      </p:sp>
      <p:sp>
        <p:nvSpPr>
          <p:cNvPr id="40" name="Shape 36"/>
          <p:cNvSpPr/>
          <p:nvPr/>
        </p:nvSpPr>
        <p:spPr>
          <a:xfrm>
            <a:off x="7571232" y="4663440"/>
            <a:ext cx="1956816" cy="960120"/>
          </a:xfrm>
          <a:prstGeom prst="roundRect">
            <a:avLst>
              <a:gd name="adj" fmla="val 9524"/>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sp>
        <p:nvSpPr>
          <p:cNvPr id="41" name="Text 37"/>
          <p:cNvSpPr/>
          <p:nvPr/>
        </p:nvSpPr>
        <p:spPr>
          <a:xfrm>
            <a:off x="7708392" y="4736592"/>
            <a:ext cx="1737360" cy="365760"/>
          </a:xfrm>
          <a:prstGeom prst="rect">
            <a:avLst/>
          </a:prstGeom>
          <a:noFill/>
          <a:ln/>
        </p:spPr>
        <p:txBody>
          <a:bodyPr wrap="square" lIns="0" tIns="0" rIns="0" bIns="0" rtlCol="0" anchor="ctr"/>
          <a:lstStyle/>
          <a:p>
            <a:pPr indent="0" marL="0">
              <a:buNone/>
            </a:pPr>
            <a:r>
              <a:rPr lang="en-US" sz="2000" b="1" dirty="0">
                <a:solidFill>
                  <a:srgbClr val="E4572E"/>
                </a:solidFill>
                <a:latin typeface="Georgia" pitchFamily="34" charset="0"/>
                <a:ea typeface="Georgia" pitchFamily="34" charset="-122"/>
                <a:cs typeface="Georgia" pitchFamily="34" charset="-120"/>
              </a:rPr>
              <a:t>72 hrs</a:t>
            </a:r>
            <a:endParaRPr lang="en-US" sz="2000" dirty="0"/>
          </a:p>
        </p:txBody>
      </p:sp>
      <p:sp>
        <p:nvSpPr>
          <p:cNvPr id="42" name="Text 38"/>
          <p:cNvSpPr/>
          <p:nvPr/>
        </p:nvSpPr>
        <p:spPr>
          <a:xfrm>
            <a:off x="7708392" y="5138928"/>
            <a:ext cx="1737360" cy="457200"/>
          </a:xfrm>
          <a:prstGeom prst="rect">
            <a:avLst/>
          </a:prstGeom>
          <a:noFill/>
          <a:ln/>
        </p:spPr>
        <p:txBody>
          <a:bodyPr wrap="square" lIns="0" tIns="0" rIns="0" bIns="0" rtlCol="0" anchor="t"/>
          <a:lstStyle/>
          <a:p>
            <a:pPr indent="0" marL="0">
              <a:buNone/>
            </a:pPr>
            <a:r>
              <a:rPr lang="en-US" sz="1050" dirty="0">
                <a:solidFill>
                  <a:srgbClr val="5F6B80"/>
                </a:solidFill>
                <a:latin typeface="Calibri" pitchFamily="34" charset="0"/>
                <a:ea typeface="Calibri" pitchFamily="34" charset="-122"/>
                <a:cs typeface="Calibri" pitchFamily="34" charset="-120"/>
              </a:rPr>
              <a:t>window to report localised crop loss</a:t>
            </a:r>
            <a:endParaRPr lang="en-US" sz="1050" dirty="0"/>
          </a:p>
        </p:txBody>
      </p:sp>
      <p:sp>
        <p:nvSpPr>
          <p:cNvPr id="43" name="Shape 39"/>
          <p:cNvSpPr/>
          <p:nvPr/>
        </p:nvSpPr>
        <p:spPr>
          <a:xfrm>
            <a:off x="9656064" y="4663440"/>
            <a:ext cx="1956816" cy="960120"/>
          </a:xfrm>
          <a:prstGeom prst="roundRect">
            <a:avLst>
              <a:gd name="adj" fmla="val 9524"/>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sp>
        <p:nvSpPr>
          <p:cNvPr id="44" name="Text 40"/>
          <p:cNvSpPr/>
          <p:nvPr/>
        </p:nvSpPr>
        <p:spPr>
          <a:xfrm>
            <a:off x="9793224" y="4736592"/>
            <a:ext cx="1737360" cy="365760"/>
          </a:xfrm>
          <a:prstGeom prst="rect">
            <a:avLst/>
          </a:prstGeom>
          <a:noFill/>
          <a:ln/>
        </p:spPr>
        <p:txBody>
          <a:bodyPr wrap="square" lIns="0" tIns="0" rIns="0" bIns="0" rtlCol="0" anchor="ctr"/>
          <a:lstStyle/>
          <a:p>
            <a:pPr indent="0" marL="0">
              <a:buNone/>
            </a:pPr>
            <a:r>
              <a:rPr lang="en-US" sz="1500" b="1" dirty="0">
                <a:solidFill>
                  <a:srgbClr val="2E9E6B"/>
                </a:solidFill>
                <a:latin typeface="Georgia" pitchFamily="34" charset="0"/>
                <a:ea typeface="Georgia" pitchFamily="34" charset="-122"/>
                <a:cs typeface="Georgia" pitchFamily="34" charset="-120"/>
              </a:rPr>
              <a:t>362 to 248 lakh</a:t>
            </a:r>
            <a:endParaRPr lang="en-US" sz="1500" dirty="0"/>
          </a:p>
        </p:txBody>
      </p:sp>
      <p:sp>
        <p:nvSpPr>
          <p:cNvPr id="45" name="Text 41"/>
          <p:cNvSpPr/>
          <p:nvPr/>
        </p:nvSpPr>
        <p:spPr>
          <a:xfrm>
            <a:off x="9793224" y="5138928"/>
            <a:ext cx="1737360" cy="457200"/>
          </a:xfrm>
          <a:prstGeom prst="rect">
            <a:avLst/>
          </a:prstGeom>
          <a:noFill/>
          <a:ln/>
        </p:spPr>
        <p:txBody>
          <a:bodyPr wrap="square" lIns="0" tIns="0" rIns="0" bIns="0" rtlCol="0" anchor="t"/>
          <a:lstStyle/>
          <a:p>
            <a:pPr indent="0" marL="0">
              <a:buNone/>
            </a:pPr>
            <a:r>
              <a:rPr lang="en-US" sz="1050" dirty="0">
                <a:solidFill>
                  <a:srgbClr val="5F6B80"/>
                </a:solidFill>
                <a:latin typeface="Calibri" pitchFamily="34" charset="0"/>
                <a:ea typeface="Calibri" pitchFamily="34" charset="-122"/>
                <a:cs typeface="Calibri" pitchFamily="34" charset="-120"/>
              </a:rPr>
              <a:t>farmers insured under PMFBY, 2016 to 2021</a:t>
            </a:r>
            <a:endParaRPr lang="en-US" sz="1050" dirty="0"/>
          </a:p>
        </p:txBody>
      </p:sp>
      <p:sp>
        <p:nvSpPr>
          <p:cNvPr id="46" name="Text 42"/>
          <p:cNvSpPr/>
          <p:nvPr/>
        </p:nvSpPr>
        <p:spPr>
          <a:xfrm>
            <a:off x="5486400" y="5760720"/>
            <a:ext cx="6126480" cy="502920"/>
          </a:xfrm>
          <a:prstGeom prst="rect">
            <a:avLst/>
          </a:prstGeom>
          <a:noFill/>
          <a:ln/>
        </p:spPr>
        <p:txBody>
          <a:bodyPr wrap="square" lIns="0" tIns="0" rIns="0" bIns="0" rtlCol="0" anchor="t"/>
          <a:lstStyle/>
          <a:p>
            <a:pPr indent="0" marL="0">
              <a:buNone/>
            </a:pPr>
            <a:r>
              <a:rPr lang="en-US" sz="1050" b="1" dirty="0">
                <a:solidFill>
                  <a:srgbClr val="14213D"/>
                </a:solidFill>
                <a:latin typeface="Calibri" pitchFamily="34" charset="0"/>
                <a:ea typeface="Calibri" pitchFamily="34" charset="-122"/>
                <a:cs typeface="Calibri" pitchFamily="34" charset="-120"/>
              </a:rPr>
              <a:t>Scope note: </a:t>
            </a:r>
            <a:pPr indent="0" marL="0">
              <a:buNone/>
            </a:pPr>
            <a:r>
              <a:rPr lang="en-US" sz="1050" dirty="0">
                <a:solidFill>
                  <a:srgbClr val="14213D"/>
                </a:solidFill>
                <a:latin typeface="Calibri" pitchFamily="34" charset="0"/>
                <a:ea typeface="Calibri" pitchFamily="34" charset="-122"/>
                <a:cs typeface="Calibri" pitchFamily="34" charset="-120"/>
              </a:rPr>
              <a:t>delays also come from crop-cutting timelines and state subsidy releases (CAG, 2017). FarmProof targets the evidence gap, the part a technology tool can fix.</a:t>
            </a:r>
            <a:endParaRPr lang="en-US" sz="1050" dirty="0"/>
          </a:p>
        </p:txBody>
      </p:sp>
      <p:sp>
        <p:nvSpPr>
          <p:cNvPr id="47" name="Text 43"/>
          <p:cNvSpPr/>
          <p:nvPr/>
        </p:nvSpPr>
        <p:spPr>
          <a:xfrm>
            <a:off x="548640" y="6291072"/>
            <a:ext cx="10972800" cy="182880"/>
          </a:xfrm>
          <a:prstGeom prst="rect">
            <a:avLst/>
          </a:prstGeom>
          <a:noFill/>
          <a:ln/>
        </p:spPr>
        <p:txBody>
          <a:bodyPr wrap="square" lIns="0" tIns="0" rIns="0" bIns="0" rtlCol="0" anchor="t"/>
          <a:lstStyle/>
          <a:p>
            <a:pPr indent="0" marL="0">
              <a:buNone/>
            </a:pPr>
            <a:r>
              <a:rPr lang="en-US" sz="850" dirty="0">
                <a:solidFill>
                  <a:srgbClr val="5F6B80"/>
                </a:solidFill>
                <a:latin typeface="Calibri" pitchFamily="34" charset="0"/>
                <a:ea typeface="Calibri" pitchFamily="34" charset="-122"/>
                <a:cs typeface="Calibri" pitchFamily="34" charset="-120"/>
              </a:rPr>
              <a:t>Sources: Agriculture Census 2015-16; PMFBY guidelines; CAG audit 2017; Dalwai committee. Verify before final submission.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320040"/>
            <a:ext cx="11064240" cy="868680"/>
          </a:xfrm>
          <a:prstGeom prst="rect">
            <a:avLst/>
          </a:prstGeom>
          <a:noFill/>
          <a:ln/>
        </p:spPr>
        <p:txBody>
          <a:bodyPr wrap="square" lIns="0" tIns="0" rIns="0" bIns="0" rtlCol="0" anchor="t"/>
          <a:lstStyle/>
          <a:p>
            <a:pPr indent="0" marL="0">
              <a:buNone/>
            </a:pPr>
            <a:r>
              <a:rPr lang="en-US" sz="2400" b="1" dirty="0">
                <a:solidFill>
                  <a:srgbClr val="14213D"/>
                </a:solidFill>
                <a:latin typeface="Georgia" pitchFamily="34" charset="0"/>
                <a:ea typeface="Georgia" pitchFamily="34" charset="-122"/>
                <a:cs typeface="Georgia" pitchFamily="34" charset="-120"/>
              </a:rPr>
              <a:t>We explored four different routes to the same problem, then picked the one that fixes its root cause</a:t>
            </a:r>
            <a:endParaRPr lang="en-US" sz="2400" dirty="0"/>
          </a:p>
        </p:txBody>
      </p:sp>
      <p:sp>
        <p:nvSpPr>
          <p:cNvPr id="3" name="Text 1"/>
          <p:cNvSpPr/>
          <p:nvPr/>
        </p:nvSpPr>
        <p:spPr>
          <a:xfrm>
            <a:off x="548640" y="6492240"/>
            <a:ext cx="7315200" cy="228600"/>
          </a:xfrm>
          <a:prstGeom prst="rect">
            <a:avLst/>
          </a:prstGeom>
          <a:noFill/>
          <a:ln/>
        </p:spPr>
        <p:txBody>
          <a:bodyPr wrap="square" lIns="0" tIns="0" rIns="0" bIns="0" rtlCol="0" anchor="ctr"/>
          <a:lstStyle/>
          <a:p>
            <a:pPr indent="0" marL="0">
              <a:buNone/>
            </a:pPr>
            <a:r>
              <a:rPr lang="en-US" sz="900" dirty="0">
                <a:solidFill>
                  <a:srgbClr val="5F6B80"/>
                </a:solidFill>
                <a:latin typeface="Calibri" pitchFamily="34" charset="0"/>
                <a:ea typeface="Calibri" pitchFamily="34" charset="-122"/>
                <a:cs typeface="Calibri" pitchFamily="34" charset="-120"/>
              </a:rPr>
              <a:t>IMPACT TANK '26  |  SOLUTION CONCEPT DECK  |  FarmProof  |  Team Nexus.DTU</a:t>
            </a:r>
            <a:endParaRPr lang="en-US" sz="900" dirty="0"/>
          </a:p>
        </p:txBody>
      </p:sp>
      <p:sp>
        <p:nvSpPr>
          <p:cNvPr id="4" name="Text 2"/>
          <p:cNvSpPr/>
          <p:nvPr/>
        </p:nvSpPr>
        <p:spPr>
          <a:xfrm>
            <a:off x="11155680" y="6492240"/>
            <a:ext cx="457200" cy="228600"/>
          </a:xfrm>
          <a:prstGeom prst="rect">
            <a:avLst/>
          </a:prstGeom>
          <a:noFill/>
          <a:ln/>
        </p:spPr>
        <p:txBody>
          <a:bodyPr wrap="square" lIns="0" tIns="0" rIns="0" bIns="0" rtlCol="0" anchor="ctr"/>
          <a:lstStyle/>
          <a:p>
            <a:pPr algn="r" indent="0" marL="0">
              <a:buNone/>
            </a:pPr>
            <a:r>
              <a:rPr lang="en-US" sz="900" dirty="0">
                <a:solidFill>
                  <a:srgbClr val="5F6B80"/>
                </a:solidFill>
                <a:latin typeface="Calibri" pitchFamily="34" charset="0"/>
                <a:ea typeface="Calibri" pitchFamily="34" charset="-122"/>
                <a:cs typeface="Calibri" pitchFamily="34" charset="-120"/>
              </a:rPr>
              <a:t>3</a:t>
            </a:r>
            <a:endParaRPr lang="en-US" sz="900" dirty="0"/>
          </a:p>
        </p:txBody>
      </p:sp>
      <p:sp>
        <p:nvSpPr>
          <p:cNvPr id="6" name="Shape 3"/>
          <p:cNvSpPr/>
          <p:nvPr/>
        </p:nvSpPr>
        <p:spPr>
          <a:xfrm>
            <a:off x="548640" y="1371600"/>
            <a:ext cx="2697480" cy="4937760"/>
          </a:xfrm>
          <a:prstGeom prst="roundRect">
            <a:avLst>
              <a:gd name="adj" fmla="val 3390"/>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pic>
        <p:nvPicPr>
          <p:cNvPr id="7" name="Image 0" descr="/home/claude/img/icon_a.png">    </p:cNvPr>
          <p:cNvPicPr>
            <a:picLocks noChangeAspect="1"/>
          </p:cNvPicPr>
          <p:nvPr/>
        </p:nvPicPr>
        <p:blipFill>
          <a:blip r:embed="rId1"/>
          <a:stretch>
            <a:fillRect/>
          </a:stretch>
        </p:blipFill>
        <p:spPr>
          <a:xfrm>
            <a:off x="713232" y="1536192"/>
            <a:ext cx="731520" cy="731520"/>
          </a:xfrm>
          <a:prstGeom prst="rect">
            <a:avLst/>
          </a:prstGeom>
        </p:spPr>
      </p:pic>
      <p:sp>
        <p:nvSpPr>
          <p:cNvPr id="8" name="Text 4"/>
          <p:cNvSpPr/>
          <p:nvPr/>
        </p:nvSpPr>
        <p:spPr>
          <a:xfrm>
            <a:off x="1554480" y="1554480"/>
            <a:ext cx="1600200" cy="365760"/>
          </a:xfrm>
          <a:prstGeom prst="rect">
            <a:avLst/>
          </a:prstGeom>
          <a:noFill/>
          <a:ln/>
        </p:spPr>
        <p:txBody>
          <a:bodyPr wrap="square" lIns="0" tIns="0" rIns="0" bIns="0" rtlCol="0" anchor="t"/>
          <a:lstStyle/>
          <a:p>
            <a:pPr indent="0" marL="0">
              <a:buNone/>
            </a:pPr>
            <a:r>
              <a:rPr lang="en-US" sz="1400" b="1" dirty="0">
                <a:solidFill>
                  <a:srgbClr val="2E9E6B"/>
                </a:solidFill>
                <a:latin typeface="Georgia" pitchFamily="34" charset="0"/>
                <a:ea typeface="Georgia" pitchFamily="34" charset="-122"/>
                <a:cs typeface="Georgia" pitchFamily="34" charset="-120"/>
              </a:rPr>
              <a:t>FarmProof</a:t>
            </a:r>
            <a:endParaRPr lang="en-US" sz="1400" dirty="0"/>
          </a:p>
        </p:txBody>
      </p:sp>
      <p:sp>
        <p:nvSpPr>
          <p:cNvPr id="9" name="Text 5"/>
          <p:cNvSpPr/>
          <p:nvPr/>
        </p:nvSpPr>
        <p:spPr>
          <a:xfrm>
            <a:off x="1554480" y="1901952"/>
            <a:ext cx="1600200" cy="411480"/>
          </a:xfrm>
          <a:prstGeom prst="rect">
            <a:avLst/>
          </a:prstGeom>
          <a:noFill/>
          <a:ln/>
        </p:spPr>
        <p:txBody>
          <a:bodyPr wrap="square" lIns="0" tIns="0" rIns="0" bIns="0" rtlCol="0" anchor="t"/>
          <a:lstStyle/>
          <a:p>
            <a:pPr indent="0" marL="0">
              <a:buNone/>
            </a:pPr>
            <a:r>
              <a:rPr lang="en-US" sz="1050" dirty="0">
                <a:solidFill>
                  <a:srgbClr val="5F6B80"/>
                </a:solidFill>
                <a:latin typeface="Calibri" pitchFamily="34" charset="0"/>
                <a:ea typeface="Calibri" pitchFamily="34" charset="-122"/>
                <a:cs typeface="Calibri" pitchFamily="34" charset="-120"/>
              </a:rPr>
              <a:t>Event-triggered farmer evidence kit</a:t>
            </a:r>
            <a:endParaRPr lang="en-US" sz="1050" dirty="0"/>
          </a:p>
        </p:txBody>
      </p:sp>
      <p:sp>
        <p:nvSpPr>
          <p:cNvPr id="10" name="Text 6"/>
          <p:cNvSpPr/>
          <p:nvPr/>
        </p:nvSpPr>
        <p:spPr>
          <a:xfrm>
            <a:off x="731520" y="2514600"/>
            <a:ext cx="2359152" cy="3703320"/>
          </a:xfrm>
          <a:prstGeom prst="rect">
            <a:avLst/>
          </a:prstGeom>
          <a:noFill/>
          <a:ln/>
        </p:spPr>
        <p:txBody>
          <a:bodyPr wrap="square" lIns="0" tIns="0" rIns="0" bIns="0" rtlCol="0" anchor="t"/>
          <a:lstStyle/>
          <a:p>
            <a:pPr indent="0" marL="0">
              <a:buNone/>
            </a:pPr>
            <a:r>
              <a:rPr lang="en-US" sz="1050" b="1" dirty="0">
                <a:solidFill>
                  <a:srgbClr val="2E9E6B"/>
                </a:solidFill>
                <a:latin typeface="Calibri" pitchFamily="34" charset="0"/>
                <a:ea typeface="Calibri" pitchFamily="34" charset="-122"/>
                <a:cs typeface="Calibri" pitchFamily="34" charset="-120"/>
              </a:rPr>
              <a:t>HOW IT WORKS</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After damage, the farmer takes guided, geotagged photos inside the 72-hour window. AI rates severity and local weather data is cross-checked.</a:t>
            </a:r>
            <a:endParaRPr lang="en-US" sz="1200" dirty="0"/>
          </a:p>
          <a:p>
            <a:pPr indent="0" marL="0">
              <a:buNone/>
            </a:pPr>
            <a:r>
              <a:rPr lang="en-US" sz="700" dirty="0">
                <a:solidFill>
                  <a:srgbClr val="14213D"/>
                </a:solidFill>
                <a:latin typeface="Calibri" pitchFamily="34" charset="0"/>
                <a:ea typeface="Calibri" pitchFamily="34" charset="-122"/>
                <a:cs typeface="Calibri" pitchFamily="34" charset="-120"/>
              </a:rPr>
              <a:t> </a:t>
            </a:r>
            <a:endParaRPr lang="en-US" sz="1200" dirty="0"/>
          </a:p>
          <a:p>
            <a:pPr indent="0" marL="0">
              <a:buNone/>
            </a:pPr>
            <a:r>
              <a:rPr lang="en-US" sz="1050" b="1" dirty="0">
                <a:solidFill>
                  <a:srgbClr val="2E9E6B"/>
                </a:solidFill>
                <a:latin typeface="Calibri" pitchFamily="34" charset="0"/>
                <a:ea typeface="Calibri" pitchFamily="34" charset="-122"/>
                <a:cs typeface="Calibri" pitchFamily="34" charset="-120"/>
              </a:rPr>
              <a:t>BORROWED FROM</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Photo claims in motor insurance (first notice of loss).</a:t>
            </a:r>
            <a:endParaRPr lang="en-US" sz="1200" dirty="0"/>
          </a:p>
          <a:p>
            <a:pPr indent="0" marL="0">
              <a:buNone/>
            </a:pPr>
            <a:r>
              <a:rPr lang="en-US" sz="700" dirty="0">
                <a:solidFill>
                  <a:srgbClr val="14213D"/>
                </a:solidFill>
                <a:latin typeface="Calibri" pitchFamily="34" charset="0"/>
                <a:ea typeface="Calibri" pitchFamily="34" charset="-122"/>
                <a:cs typeface="Calibri" pitchFamily="34" charset="-120"/>
              </a:rPr>
              <a:t> </a:t>
            </a:r>
            <a:endParaRPr lang="en-US" sz="1200" dirty="0"/>
          </a:p>
          <a:p>
            <a:pPr indent="0" marL="0">
              <a:buNone/>
            </a:pPr>
            <a:r>
              <a:rPr lang="en-US" sz="1050" b="1" dirty="0">
                <a:solidFill>
                  <a:srgbClr val="2E9E6B"/>
                </a:solidFill>
                <a:latin typeface="Calibri" pitchFamily="34" charset="0"/>
                <a:ea typeface="Calibri" pitchFamily="34" charset="-122"/>
                <a:cs typeface="Calibri" pitchFamily="34" charset="-120"/>
              </a:rPr>
              <a:t>GAP IT CLOSES</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Evidence is village-level, not farm-level.</a:t>
            </a:r>
            <a:endParaRPr lang="en-US" sz="1200" dirty="0"/>
          </a:p>
          <a:p>
            <a:pPr indent="0" marL="0">
              <a:buNone/>
            </a:pPr>
            <a:r>
              <a:rPr lang="en-US" sz="700" dirty="0">
                <a:solidFill>
                  <a:srgbClr val="14213D"/>
                </a:solidFill>
                <a:latin typeface="Calibri" pitchFamily="34" charset="0"/>
                <a:ea typeface="Calibri" pitchFamily="34" charset="-122"/>
                <a:cs typeface="Calibri" pitchFamily="34" charset="-120"/>
              </a:rPr>
              <a:t> </a:t>
            </a:r>
            <a:endParaRPr lang="en-US" sz="1200" dirty="0"/>
          </a:p>
          <a:p>
            <a:pPr indent="0" marL="0">
              <a:buNone/>
            </a:pPr>
            <a:r>
              <a:rPr lang="en-US" sz="1050" b="1" dirty="0">
                <a:solidFill>
                  <a:srgbClr val="C0561F"/>
                </a:solidFill>
                <a:latin typeface="Calibri" pitchFamily="34" charset="0"/>
                <a:ea typeface="Calibri" pitchFamily="34" charset="-122"/>
                <a:cs typeface="Calibri" pitchFamily="34" charset="-120"/>
              </a:rPr>
              <a:t>WATCH-OUT</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Needs a smartphone; photos can be faked.</a:t>
            </a:r>
            <a:endParaRPr lang="en-US" sz="1200" dirty="0"/>
          </a:p>
        </p:txBody>
      </p:sp>
      <p:sp>
        <p:nvSpPr>
          <p:cNvPr id="11" name="Shape 7"/>
          <p:cNvSpPr/>
          <p:nvPr/>
        </p:nvSpPr>
        <p:spPr>
          <a:xfrm>
            <a:off x="3364992" y="1371600"/>
            <a:ext cx="2697480" cy="4937760"/>
          </a:xfrm>
          <a:prstGeom prst="roundRect">
            <a:avLst>
              <a:gd name="adj" fmla="val 3390"/>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pic>
        <p:nvPicPr>
          <p:cNvPr id="12" name="Image 1" descr="/home/claude/img/icon_b.png">    </p:cNvPr>
          <p:cNvPicPr>
            <a:picLocks noChangeAspect="1"/>
          </p:cNvPicPr>
          <p:nvPr/>
        </p:nvPicPr>
        <p:blipFill>
          <a:blip r:embed="rId2"/>
          <a:stretch>
            <a:fillRect/>
          </a:stretch>
        </p:blipFill>
        <p:spPr>
          <a:xfrm>
            <a:off x="3529584" y="1536192"/>
            <a:ext cx="731520" cy="731520"/>
          </a:xfrm>
          <a:prstGeom prst="rect">
            <a:avLst/>
          </a:prstGeom>
        </p:spPr>
      </p:pic>
      <p:sp>
        <p:nvSpPr>
          <p:cNvPr id="13" name="Text 8"/>
          <p:cNvSpPr/>
          <p:nvPr/>
        </p:nvSpPr>
        <p:spPr>
          <a:xfrm>
            <a:off x="4370832" y="1554480"/>
            <a:ext cx="1600200" cy="365760"/>
          </a:xfrm>
          <a:prstGeom prst="rect">
            <a:avLst/>
          </a:prstGeom>
          <a:noFill/>
          <a:ln/>
        </p:spPr>
        <p:txBody>
          <a:bodyPr wrap="square" lIns="0" tIns="0" rIns="0" bIns="0" rtlCol="0" anchor="t"/>
          <a:lstStyle/>
          <a:p>
            <a:pPr indent="0" marL="0">
              <a:buNone/>
            </a:pPr>
            <a:r>
              <a:rPr lang="en-US" sz="1400" b="1" dirty="0">
                <a:solidFill>
                  <a:srgbClr val="2F7FD8"/>
                </a:solidFill>
                <a:latin typeface="Georgia" pitchFamily="34" charset="0"/>
                <a:ea typeface="Georgia" pitchFamily="34" charset="-122"/>
                <a:cs typeface="Georgia" pitchFamily="34" charset="-120"/>
              </a:rPr>
              <a:t>AgroFusion</a:t>
            </a:r>
            <a:endParaRPr lang="en-US" sz="1400" dirty="0"/>
          </a:p>
        </p:txBody>
      </p:sp>
      <p:sp>
        <p:nvSpPr>
          <p:cNvPr id="14" name="Text 9"/>
          <p:cNvSpPr/>
          <p:nvPr/>
        </p:nvSpPr>
        <p:spPr>
          <a:xfrm>
            <a:off x="4370832" y="1901952"/>
            <a:ext cx="1600200" cy="411480"/>
          </a:xfrm>
          <a:prstGeom prst="rect">
            <a:avLst/>
          </a:prstGeom>
          <a:noFill/>
          <a:ln/>
        </p:spPr>
        <p:txBody>
          <a:bodyPr wrap="square" lIns="0" tIns="0" rIns="0" bIns="0" rtlCol="0" anchor="t"/>
          <a:lstStyle/>
          <a:p>
            <a:pPr indent="0" marL="0">
              <a:buNone/>
            </a:pPr>
            <a:r>
              <a:rPr lang="en-US" sz="1050" dirty="0">
                <a:solidFill>
                  <a:srgbClr val="5F6B80"/>
                </a:solidFill>
                <a:latin typeface="Calibri" pitchFamily="34" charset="0"/>
                <a:ea typeface="Calibri" pitchFamily="34" charset="-122"/>
                <a:cs typeface="Calibri" pitchFamily="34" charset="-120"/>
              </a:rPr>
              <a:t>Plot-level satellite + weather loss map</a:t>
            </a:r>
            <a:endParaRPr lang="en-US" sz="1050" dirty="0"/>
          </a:p>
        </p:txBody>
      </p:sp>
      <p:sp>
        <p:nvSpPr>
          <p:cNvPr id="15" name="Text 10"/>
          <p:cNvSpPr/>
          <p:nvPr/>
        </p:nvSpPr>
        <p:spPr>
          <a:xfrm>
            <a:off x="3547872" y="2514600"/>
            <a:ext cx="2359152" cy="3703320"/>
          </a:xfrm>
          <a:prstGeom prst="rect">
            <a:avLst/>
          </a:prstGeom>
          <a:noFill/>
          <a:ln/>
        </p:spPr>
        <p:txBody>
          <a:bodyPr wrap="square" lIns="0" tIns="0" rIns="0" bIns="0" rtlCol="0" anchor="t"/>
          <a:lstStyle/>
          <a:p>
            <a:pPr indent="0" marL="0">
              <a:buNone/>
            </a:pPr>
            <a:r>
              <a:rPr lang="en-US" sz="1050" b="1" dirty="0">
                <a:solidFill>
                  <a:srgbClr val="2E9E6B"/>
                </a:solidFill>
                <a:latin typeface="Calibri" pitchFamily="34" charset="0"/>
                <a:ea typeface="Calibri" pitchFamily="34" charset="-122"/>
                <a:cs typeface="Calibri" pitchFamily="34" charset="-120"/>
              </a:rPr>
              <a:t>HOW IT WORKS</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Combine Sentinel imagery, rainfall data and land records to estimate loss plot by plot for insurers and officials.</a:t>
            </a:r>
            <a:endParaRPr lang="en-US" sz="1200" dirty="0"/>
          </a:p>
          <a:p>
            <a:pPr indent="0" marL="0">
              <a:buNone/>
            </a:pPr>
            <a:r>
              <a:rPr lang="en-US" sz="700" dirty="0">
                <a:solidFill>
                  <a:srgbClr val="14213D"/>
                </a:solidFill>
                <a:latin typeface="Calibri" pitchFamily="34" charset="0"/>
                <a:ea typeface="Calibri" pitchFamily="34" charset="-122"/>
                <a:cs typeface="Calibri" pitchFamily="34" charset="-120"/>
              </a:rPr>
              <a:t> </a:t>
            </a:r>
            <a:endParaRPr lang="en-US" sz="1200" dirty="0"/>
          </a:p>
          <a:p>
            <a:pPr indent="0" marL="0">
              <a:buNone/>
            </a:pPr>
            <a:r>
              <a:rPr lang="en-US" sz="1050" b="1" dirty="0">
                <a:solidFill>
                  <a:srgbClr val="2E9E6B"/>
                </a:solidFill>
                <a:latin typeface="Calibri" pitchFamily="34" charset="0"/>
                <a:ea typeface="Calibri" pitchFamily="34" charset="-122"/>
                <a:cs typeface="Calibri" pitchFamily="34" charset="-120"/>
              </a:rPr>
              <a:t>BORROWED FROM</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Predictive demand planning (multi-source forecasting).</a:t>
            </a:r>
            <a:endParaRPr lang="en-US" sz="1200" dirty="0"/>
          </a:p>
          <a:p>
            <a:pPr indent="0" marL="0">
              <a:buNone/>
            </a:pPr>
            <a:r>
              <a:rPr lang="en-US" sz="700" dirty="0">
                <a:solidFill>
                  <a:srgbClr val="14213D"/>
                </a:solidFill>
                <a:latin typeface="Calibri" pitchFamily="34" charset="0"/>
                <a:ea typeface="Calibri" pitchFamily="34" charset="-122"/>
                <a:cs typeface="Calibri" pitchFamily="34" charset="-120"/>
              </a:rPr>
              <a:t> </a:t>
            </a:r>
            <a:endParaRPr lang="en-US" sz="1200" dirty="0"/>
          </a:p>
          <a:p>
            <a:pPr indent="0" marL="0">
              <a:buNone/>
            </a:pPr>
            <a:r>
              <a:rPr lang="en-US" sz="1050" b="1" dirty="0">
                <a:solidFill>
                  <a:srgbClr val="2E9E6B"/>
                </a:solidFill>
                <a:latin typeface="Calibri" pitchFamily="34" charset="0"/>
                <a:ea typeface="Calibri" pitchFamily="34" charset="-122"/>
                <a:cs typeface="Calibri" pitchFamily="34" charset="-120"/>
              </a:rPr>
              <a:t>GAP IT CLOSES</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Satellite, weather and land data sit in silos.</a:t>
            </a:r>
            <a:endParaRPr lang="en-US" sz="1200" dirty="0"/>
          </a:p>
          <a:p>
            <a:pPr indent="0" marL="0">
              <a:buNone/>
            </a:pPr>
            <a:r>
              <a:rPr lang="en-US" sz="700" dirty="0">
                <a:solidFill>
                  <a:srgbClr val="14213D"/>
                </a:solidFill>
                <a:latin typeface="Calibri" pitchFamily="34" charset="0"/>
                <a:ea typeface="Calibri" pitchFamily="34" charset="-122"/>
                <a:cs typeface="Calibri" pitchFamily="34" charset="-120"/>
              </a:rPr>
              <a:t> </a:t>
            </a:r>
            <a:endParaRPr lang="en-US" sz="1200" dirty="0"/>
          </a:p>
          <a:p>
            <a:pPr indent="0" marL="0">
              <a:buNone/>
            </a:pPr>
            <a:r>
              <a:rPr lang="en-US" sz="1050" b="1" dirty="0">
                <a:solidFill>
                  <a:srgbClr val="C0561F"/>
                </a:solidFill>
                <a:latin typeface="Calibri" pitchFamily="34" charset="0"/>
                <a:ea typeface="Calibri" pitchFamily="34" charset="-122"/>
                <a:cs typeface="Calibri" pitchFamily="34" charset="-120"/>
              </a:rPr>
              <a:t>WATCH-OUT</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Monsoon cloud cover; 10 m pixels vs plots under 2 ha; heavy data work.</a:t>
            </a:r>
            <a:endParaRPr lang="en-US" sz="1200" dirty="0"/>
          </a:p>
        </p:txBody>
      </p:sp>
      <p:sp>
        <p:nvSpPr>
          <p:cNvPr id="16" name="Shape 11"/>
          <p:cNvSpPr/>
          <p:nvPr/>
        </p:nvSpPr>
        <p:spPr>
          <a:xfrm>
            <a:off x="6181344" y="1371600"/>
            <a:ext cx="2697480" cy="4937760"/>
          </a:xfrm>
          <a:prstGeom prst="roundRect">
            <a:avLst>
              <a:gd name="adj" fmla="val 3390"/>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pic>
        <p:nvPicPr>
          <p:cNvPr id="17" name="Image 2" descr="/home/claude/img/icon_c.png">    </p:cNvPr>
          <p:cNvPicPr>
            <a:picLocks noChangeAspect="1"/>
          </p:cNvPicPr>
          <p:nvPr/>
        </p:nvPicPr>
        <p:blipFill>
          <a:blip r:embed="rId3"/>
          <a:stretch>
            <a:fillRect/>
          </a:stretch>
        </p:blipFill>
        <p:spPr>
          <a:xfrm>
            <a:off x="6345936" y="1536192"/>
            <a:ext cx="731520" cy="731520"/>
          </a:xfrm>
          <a:prstGeom prst="rect">
            <a:avLst/>
          </a:prstGeom>
        </p:spPr>
      </p:pic>
      <p:sp>
        <p:nvSpPr>
          <p:cNvPr id="18" name="Text 12"/>
          <p:cNvSpPr/>
          <p:nvPr/>
        </p:nvSpPr>
        <p:spPr>
          <a:xfrm>
            <a:off x="7187184" y="1554480"/>
            <a:ext cx="1600200" cy="365760"/>
          </a:xfrm>
          <a:prstGeom prst="rect">
            <a:avLst/>
          </a:prstGeom>
          <a:noFill/>
          <a:ln/>
        </p:spPr>
        <p:txBody>
          <a:bodyPr wrap="square" lIns="0" tIns="0" rIns="0" bIns="0" rtlCol="0" anchor="t"/>
          <a:lstStyle/>
          <a:p>
            <a:pPr indent="0" marL="0">
              <a:buNone/>
            </a:pPr>
            <a:r>
              <a:rPr lang="en-US" sz="1400" b="1" dirty="0">
                <a:solidFill>
                  <a:srgbClr val="B8741A"/>
                </a:solidFill>
                <a:latin typeface="Georgia" pitchFamily="34" charset="0"/>
                <a:ea typeface="Georgia" pitchFamily="34" charset="-122"/>
                <a:cs typeface="Georgia" pitchFamily="34" charset="-120"/>
              </a:rPr>
              <a:t>ClaimTrack</a:t>
            </a:r>
            <a:endParaRPr lang="en-US" sz="1400" dirty="0"/>
          </a:p>
        </p:txBody>
      </p:sp>
      <p:sp>
        <p:nvSpPr>
          <p:cNvPr id="19" name="Text 13"/>
          <p:cNvSpPr/>
          <p:nvPr/>
        </p:nvSpPr>
        <p:spPr>
          <a:xfrm>
            <a:off x="7187184" y="1901952"/>
            <a:ext cx="1600200" cy="411480"/>
          </a:xfrm>
          <a:prstGeom prst="rect">
            <a:avLst/>
          </a:prstGeom>
          <a:noFill/>
          <a:ln/>
        </p:spPr>
        <p:txBody>
          <a:bodyPr wrap="square" lIns="0" tIns="0" rIns="0" bIns="0" rtlCol="0" anchor="t"/>
          <a:lstStyle/>
          <a:p>
            <a:pPr indent="0" marL="0">
              <a:buNone/>
            </a:pPr>
            <a:r>
              <a:rPr lang="en-US" sz="1050" dirty="0">
                <a:solidFill>
                  <a:srgbClr val="5F6B80"/>
                </a:solidFill>
                <a:latin typeface="Calibri" pitchFamily="34" charset="0"/>
                <a:ea typeface="Calibri" pitchFamily="34" charset="-122"/>
                <a:cs typeface="Calibri" pitchFamily="34" charset="-120"/>
              </a:rPr>
              <a:t>WhatsApp / voice claim assistant</a:t>
            </a:r>
            <a:endParaRPr lang="en-US" sz="1050" dirty="0"/>
          </a:p>
        </p:txBody>
      </p:sp>
      <p:sp>
        <p:nvSpPr>
          <p:cNvPr id="20" name="Text 14"/>
          <p:cNvSpPr/>
          <p:nvPr/>
        </p:nvSpPr>
        <p:spPr>
          <a:xfrm>
            <a:off x="6364224" y="2514600"/>
            <a:ext cx="2359152" cy="3703320"/>
          </a:xfrm>
          <a:prstGeom prst="rect">
            <a:avLst/>
          </a:prstGeom>
          <a:noFill/>
          <a:ln/>
        </p:spPr>
        <p:txBody>
          <a:bodyPr wrap="square" lIns="0" tIns="0" rIns="0" bIns="0" rtlCol="0" anchor="t"/>
          <a:lstStyle/>
          <a:p>
            <a:pPr indent="0" marL="0">
              <a:buNone/>
            </a:pPr>
            <a:r>
              <a:rPr lang="en-US" sz="1050" b="1" dirty="0">
                <a:solidFill>
                  <a:srgbClr val="2E9E6B"/>
                </a:solidFill>
                <a:latin typeface="Calibri" pitchFamily="34" charset="0"/>
                <a:ea typeface="Calibri" pitchFamily="34" charset="-122"/>
                <a:cs typeface="Calibri" pitchFamily="34" charset="-120"/>
              </a:rPr>
              <a:t>HOW IT WORKS</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Farmers report loss and follow claim status through WhatsApp or a toll-free voice call, in their own language.</a:t>
            </a:r>
            <a:endParaRPr lang="en-US" sz="1200" dirty="0"/>
          </a:p>
          <a:p>
            <a:pPr indent="0" marL="0">
              <a:buNone/>
            </a:pPr>
            <a:r>
              <a:rPr lang="en-US" sz="700" dirty="0">
                <a:solidFill>
                  <a:srgbClr val="14213D"/>
                </a:solidFill>
                <a:latin typeface="Calibri" pitchFamily="34" charset="0"/>
                <a:ea typeface="Calibri" pitchFamily="34" charset="-122"/>
                <a:cs typeface="Calibri" pitchFamily="34" charset="-120"/>
              </a:rPr>
              <a:t> </a:t>
            </a:r>
            <a:endParaRPr lang="en-US" sz="1200" dirty="0"/>
          </a:p>
          <a:p>
            <a:pPr indent="0" marL="0">
              <a:buNone/>
            </a:pPr>
            <a:r>
              <a:rPr lang="en-US" sz="1050" b="1" dirty="0">
                <a:solidFill>
                  <a:srgbClr val="2E9E6B"/>
                </a:solidFill>
                <a:latin typeface="Calibri" pitchFamily="34" charset="0"/>
                <a:ea typeface="Calibri" pitchFamily="34" charset="-122"/>
                <a:cs typeface="Calibri" pitchFamily="34" charset="-120"/>
              </a:rPr>
              <a:t>BORROWED FROM</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Parcel and food-delivery tracking (live status).</a:t>
            </a:r>
            <a:endParaRPr lang="en-US" sz="1200" dirty="0"/>
          </a:p>
          <a:p>
            <a:pPr indent="0" marL="0">
              <a:buNone/>
            </a:pPr>
            <a:r>
              <a:rPr lang="en-US" sz="700" dirty="0">
                <a:solidFill>
                  <a:srgbClr val="14213D"/>
                </a:solidFill>
                <a:latin typeface="Calibri" pitchFamily="34" charset="0"/>
                <a:ea typeface="Calibri" pitchFamily="34" charset="-122"/>
                <a:cs typeface="Calibri" pitchFamily="34" charset="-120"/>
              </a:rPr>
              <a:t> </a:t>
            </a:r>
            <a:endParaRPr lang="en-US" sz="1200" dirty="0"/>
          </a:p>
          <a:p>
            <a:pPr indent="0" marL="0">
              <a:buNone/>
            </a:pPr>
            <a:r>
              <a:rPr lang="en-US" sz="1050" b="1" dirty="0">
                <a:solidFill>
                  <a:srgbClr val="2E9E6B"/>
                </a:solidFill>
                <a:latin typeface="Calibri" pitchFamily="34" charset="0"/>
                <a:ea typeface="Calibri" pitchFamily="34" charset="-122"/>
                <a:cs typeface="Calibri" pitchFamily="34" charset="-120"/>
              </a:rPr>
              <a:t>GAP IT CLOSES</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Farmers cannot see how a claim is decided.</a:t>
            </a:r>
            <a:endParaRPr lang="en-US" sz="1200" dirty="0"/>
          </a:p>
          <a:p>
            <a:pPr indent="0" marL="0">
              <a:buNone/>
            </a:pPr>
            <a:r>
              <a:rPr lang="en-US" sz="700" dirty="0">
                <a:solidFill>
                  <a:srgbClr val="14213D"/>
                </a:solidFill>
                <a:latin typeface="Calibri" pitchFamily="34" charset="0"/>
                <a:ea typeface="Calibri" pitchFamily="34" charset="-122"/>
                <a:cs typeface="Calibri" pitchFamily="34" charset="-120"/>
              </a:rPr>
              <a:t> </a:t>
            </a:r>
            <a:endParaRPr lang="en-US" sz="1200" dirty="0"/>
          </a:p>
          <a:p>
            <a:pPr indent="0" marL="0">
              <a:buNone/>
            </a:pPr>
            <a:r>
              <a:rPr lang="en-US" sz="1050" b="1" dirty="0">
                <a:solidFill>
                  <a:srgbClr val="C0561F"/>
                </a:solidFill>
                <a:latin typeface="Calibri" pitchFamily="34" charset="0"/>
                <a:ea typeface="Calibri" pitchFamily="34" charset="-122"/>
                <a:cs typeface="Calibri" pitchFamily="34" charset="-120"/>
              </a:rPr>
              <a:t>WATCH-OUT</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Creates no new evidence; portals and helplines already show some status.</a:t>
            </a:r>
            <a:endParaRPr lang="en-US" sz="1200" dirty="0"/>
          </a:p>
        </p:txBody>
      </p:sp>
      <p:sp>
        <p:nvSpPr>
          <p:cNvPr id="21" name="Shape 15"/>
          <p:cNvSpPr/>
          <p:nvPr/>
        </p:nvSpPr>
        <p:spPr>
          <a:xfrm>
            <a:off x="8997696" y="1371600"/>
            <a:ext cx="2697480" cy="4937760"/>
          </a:xfrm>
          <a:prstGeom prst="roundRect">
            <a:avLst>
              <a:gd name="adj" fmla="val 3390"/>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pic>
        <p:nvPicPr>
          <p:cNvPr id="22" name="Image 3" descr="/home/claude/img/icon_d.png">    </p:cNvPr>
          <p:cNvPicPr>
            <a:picLocks noChangeAspect="1"/>
          </p:cNvPicPr>
          <p:nvPr/>
        </p:nvPicPr>
        <p:blipFill>
          <a:blip r:embed="rId4"/>
          <a:stretch>
            <a:fillRect/>
          </a:stretch>
        </p:blipFill>
        <p:spPr>
          <a:xfrm>
            <a:off x="9162288" y="1536192"/>
            <a:ext cx="731520" cy="731520"/>
          </a:xfrm>
          <a:prstGeom prst="rect">
            <a:avLst/>
          </a:prstGeom>
        </p:spPr>
      </p:pic>
      <p:sp>
        <p:nvSpPr>
          <p:cNvPr id="23" name="Text 16"/>
          <p:cNvSpPr/>
          <p:nvPr/>
        </p:nvSpPr>
        <p:spPr>
          <a:xfrm>
            <a:off x="10003536" y="1554480"/>
            <a:ext cx="1600200" cy="365760"/>
          </a:xfrm>
          <a:prstGeom prst="rect">
            <a:avLst/>
          </a:prstGeom>
          <a:noFill/>
          <a:ln/>
        </p:spPr>
        <p:txBody>
          <a:bodyPr wrap="square" lIns="0" tIns="0" rIns="0" bIns="0" rtlCol="0" anchor="t"/>
          <a:lstStyle/>
          <a:p>
            <a:pPr indent="0" marL="0">
              <a:buNone/>
            </a:pPr>
            <a:r>
              <a:rPr lang="en-US" sz="1400" b="1" dirty="0">
                <a:solidFill>
                  <a:srgbClr val="7B61C8"/>
                </a:solidFill>
                <a:latin typeface="Georgia" pitchFamily="34" charset="0"/>
                <a:ea typeface="Georgia" pitchFamily="34" charset="-122"/>
                <a:cs typeface="Georgia" pitchFamily="34" charset="-120"/>
              </a:rPr>
              <a:t>Village Verifiers</a:t>
            </a:r>
            <a:endParaRPr lang="en-US" sz="1400" dirty="0"/>
          </a:p>
        </p:txBody>
      </p:sp>
      <p:sp>
        <p:nvSpPr>
          <p:cNvPr id="24" name="Text 17"/>
          <p:cNvSpPr/>
          <p:nvPr/>
        </p:nvSpPr>
        <p:spPr>
          <a:xfrm>
            <a:off x="10003536" y="1901952"/>
            <a:ext cx="1600200" cy="411480"/>
          </a:xfrm>
          <a:prstGeom prst="rect">
            <a:avLst/>
          </a:prstGeom>
          <a:noFill/>
          <a:ln/>
        </p:spPr>
        <p:txBody>
          <a:bodyPr wrap="square" lIns="0" tIns="0" rIns="0" bIns="0" rtlCol="0" anchor="t"/>
          <a:lstStyle/>
          <a:p>
            <a:pPr indent="0" marL="0">
              <a:buNone/>
            </a:pPr>
            <a:r>
              <a:rPr lang="en-US" sz="1050" dirty="0">
                <a:solidFill>
                  <a:srgbClr val="5F6B80"/>
                </a:solidFill>
                <a:latin typeface="Calibri" pitchFamily="34" charset="0"/>
                <a:ea typeface="Calibri" pitchFamily="34" charset="-122"/>
                <a:cs typeface="Calibri" pitchFamily="34" charset="-120"/>
              </a:rPr>
              <a:t>Trained local verifier network</a:t>
            </a:r>
            <a:endParaRPr lang="en-US" sz="1050" dirty="0"/>
          </a:p>
        </p:txBody>
      </p:sp>
      <p:sp>
        <p:nvSpPr>
          <p:cNvPr id="25" name="Text 18"/>
          <p:cNvSpPr/>
          <p:nvPr/>
        </p:nvSpPr>
        <p:spPr>
          <a:xfrm>
            <a:off x="9180576" y="2514600"/>
            <a:ext cx="2359152" cy="3703320"/>
          </a:xfrm>
          <a:prstGeom prst="rect">
            <a:avLst/>
          </a:prstGeom>
          <a:noFill/>
          <a:ln/>
        </p:spPr>
        <p:txBody>
          <a:bodyPr wrap="square" lIns="0" tIns="0" rIns="0" bIns="0" rtlCol="0" anchor="t"/>
          <a:lstStyle/>
          <a:p>
            <a:pPr indent="0" marL="0">
              <a:buNone/>
            </a:pPr>
            <a:r>
              <a:rPr lang="en-US" sz="1050" b="1" dirty="0">
                <a:solidFill>
                  <a:srgbClr val="2E9E6B"/>
                </a:solidFill>
                <a:latin typeface="Calibri" pitchFamily="34" charset="0"/>
                <a:ea typeface="Calibri" pitchFamily="34" charset="-122"/>
                <a:cs typeface="Calibri" pitchFamily="34" charset="-120"/>
              </a:rPr>
              <a:t>HOW IT WORKS</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Paid, trained local youth or SHG members verify damage with a checklist and photos for a cluster of villages.</a:t>
            </a:r>
            <a:endParaRPr lang="en-US" sz="1200" dirty="0"/>
          </a:p>
          <a:p>
            <a:pPr indent="0" marL="0">
              <a:buNone/>
            </a:pPr>
            <a:r>
              <a:rPr lang="en-US" sz="700" dirty="0">
                <a:solidFill>
                  <a:srgbClr val="14213D"/>
                </a:solidFill>
                <a:latin typeface="Calibri" pitchFamily="34" charset="0"/>
                <a:ea typeface="Calibri" pitchFamily="34" charset="-122"/>
                <a:cs typeface="Calibri" pitchFamily="34" charset="-120"/>
              </a:rPr>
              <a:t> </a:t>
            </a:r>
            <a:endParaRPr lang="en-US" sz="1200" dirty="0"/>
          </a:p>
          <a:p>
            <a:pPr indent="0" marL="0">
              <a:buNone/>
            </a:pPr>
            <a:r>
              <a:rPr lang="en-US" sz="1050" b="1" dirty="0">
                <a:solidFill>
                  <a:srgbClr val="2E9E6B"/>
                </a:solidFill>
                <a:latin typeface="Calibri" pitchFamily="34" charset="0"/>
                <a:ea typeface="Calibri" pitchFamily="34" charset="-122"/>
                <a:cs typeface="Calibri" pitchFamily="34" charset="-120"/>
              </a:rPr>
              <a:t>BORROWED FROM</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Community-driven models: health workers, banking correspondents.</a:t>
            </a:r>
            <a:endParaRPr lang="en-US" sz="1200" dirty="0"/>
          </a:p>
          <a:p>
            <a:pPr indent="0" marL="0">
              <a:buNone/>
            </a:pPr>
            <a:r>
              <a:rPr lang="en-US" sz="700" dirty="0">
                <a:solidFill>
                  <a:srgbClr val="14213D"/>
                </a:solidFill>
                <a:latin typeface="Calibri" pitchFamily="34" charset="0"/>
                <a:ea typeface="Calibri" pitchFamily="34" charset="-122"/>
                <a:cs typeface="Calibri" pitchFamily="34" charset="-120"/>
              </a:rPr>
              <a:t> </a:t>
            </a:r>
            <a:endParaRPr lang="en-US" sz="1200" dirty="0"/>
          </a:p>
          <a:p>
            <a:pPr indent="0" marL="0">
              <a:buNone/>
            </a:pPr>
            <a:r>
              <a:rPr lang="en-US" sz="1050" b="1" dirty="0">
                <a:solidFill>
                  <a:srgbClr val="2E9E6B"/>
                </a:solidFill>
                <a:latin typeface="Calibri" pitchFamily="34" charset="0"/>
                <a:ea typeface="Calibri" pitchFamily="34" charset="-122"/>
                <a:cs typeface="Calibri" pitchFamily="34" charset="-120"/>
              </a:rPr>
              <a:t>GAP IT CLOSES</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Too few surveyors for too many villages.</a:t>
            </a:r>
            <a:endParaRPr lang="en-US" sz="1200" dirty="0"/>
          </a:p>
          <a:p>
            <a:pPr indent="0" marL="0">
              <a:buNone/>
            </a:pPr>
            <a:r>
              <a:rPr lang="en-US" sz="700" dirty="0">
                <a:solidFill>
                  <a:srgbClr val="14213D"/>
                </a:solidFill>
                <a:latin typeface="Calibri" pitchFamily="34" charset="0"/>
                <a:ea typeface="Calibri" pitchFamily="34" charset="-122"/>
                <a:cs typeface="Calibri" pitchFamily="34" charset="-120"/>
              </a:rPr>
              <a:t> </a:t>
            </a:r>
            <a:endParaRPr lang="en-US" sz="1200" dirty="0"/>
          </a:p>
          <a:p>
            <a:pPr indent="0" marL="0">
              <a:buNone/>
            </a:pPr>
            <a:r>
              <a:rPr lang="en-US" sz="1050" b="1" dirty="0">
                <a:solidFill>
                  <a:srgbClr val="C0561F"/>
                </a:solidFill>
                <a:latin typeface="Calibri" pitchFamily="34" charset="0"/>
                <a:ea typeface="Calibri" pitchFamily="34" charset="-122"/>
                <a:cs typeface="Calibri" pitchFamily="34" charset="-120"/>
              </a:rPr>
              <a:t>WATCH-OUT</a:t>
            </a:r>
            <a:endParaRPr lang="en-US" sz="1200" dirty="0"/>
          </a:p>
          <a:p>
            <a:pPr indent="0" marL="0">
              <a:buNone/>
            </a:pPr>
            <a:r>
              <a:rPr lang="en-US" sz="1200" dirty="0">
                <a:solidFill>
                  <a:srgbClr val="14213D"/>
                </a:solidFill>
                <a:latin typeface="Calibri" pitchFamily="34" charset="0"/>
                <a:ea typeface="Calibri" pitchFamily="34" charset="-122"/>
                <a:cs typeface="Calibri" pitchFamily="34" charset="-120"/>
              </a:rPr>
              <a:t>Needs recruitment, training and trust; hard to prototype in a week.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320040"/>
            <a:ext cx="11064240" cy="868680"/>
          </a:xfrm>
          <a:prstGeom prst="rect">
            <a:avLst/>
          </a:prstGeom>
          <a:noFill/>
          <a:ln/>
        </p:spPr>
        <p:txBody>
          <a:bodyPr wrap="square" lIns="0" tIns="0" rIns="0" bIns="0" rtlCol="0" anchor="t"/>
          <a:lstStyle/>
          <a:p>
            <a:pPr indent="0" marL="0">
              <a:buNone/>
            </a:pPr>
            <a:r>
              <a:rPr lang="en-US" sz="2400" b="1" dirty="0">
                <a:solidFill>
                  <a:srgbClr val="14213D"/>
                </a:solidFill>
                <a:latin typeface="Georgia" pitchFamily="34" charset="0"/>
                <a:ea typeface="Georgia" pitchFamily="34" charset="-122"/>
                <a:cs typeface="Georgia" pitchFamily="34" charset="-120"/>
              </a:rPr>
              <a:t>FarmProof scores highest: it fixes the root cause and can be prototyped in one week</a:t>
            </a:r>
            <a:endParaRPr lang="en-US" sz="2400" dirty="0"/>
          </a:p>
        </p:txBody>
      </p:sp>
      <p:sp>
        <p:nvSpPr>
          <p:cNvPr id="3" name="Text 1"/>
          <p:cNvSpPr/>
          <p:nvPr/>
        </p:nvSpPr>
        <p:spPr>
          <a:xfrm>
            <a:off x="548640" y="6492240"/>
            <a:ext cx="7315200" cy="228600"/>
          </a:xfrm>
          <a:prstGeom prst="rect">
            <a:avLst/>
          </a:prstGeom>
          <a:noFill/>
          <a:ln/>
        </p:spPr>
        <p:txBody>
          <a:bodyPr wrap="square" lIns="0" tIns="0" rIns="0" bIns="0" rtlCol="0" anchor="ctr"/>
          <a:lstStyle/>
          <a:p>
            <a:pPr indent="0" marL="0">
              <a:buNone/>
            </a:pPr>
            <a:r>
              <a:rPr lang="en-US" sz="900" dirty="0">
                <a:solidFill>
                  <a:srgbClr val="5F6B80"/>
                </a:solidFill>
                <a:latin typeface="Calibri" pitchFamily="34" charset="0"/>
                <a:ea typeface="Calibri" pitchFamily="34" charset="-122"/>
                <a:cs typeface="Calibri" pitchFamily="34" charset="-120"/>
              </a:rPr>
              <a:t>IMPACT TANK '26  |  SOLUTION CONCEPT DECK  |  FarmProof  |  Team Nexus.DTU</a:t>
            </a:r>
            <a:endParaRPr lang="en-US" sz="900" dirty="0"/>
          </a:p>
        </p:txBody>
      </p:sp>
      <p:sp>
        <p:nvSpPr>
          <p:cNvPr id="4" name="Text 2"/>
          <p:cNvSpPr/>
          <p:nvPr/>
        </p:nvSpPr>
        <p:spPr>
          <a:xfrm>
            <a:off x="11155680" y="6492240"/>
            <a:ext cx="457200" cy="228600"/>
          </a:xfrm>
          <a:prstGeom prst="rect">
            <a:avLst/>
          </a:prstGeom>
          <a:noFill/>
          <a:ln/>
        </p:spPr>
        <p:txBody>
          <a:bodyPr wrap="square" lIns="0" tIns="0" rIns="0" bIns="0" rtlCol="0" anchor="ctr"/>
          <a:lstStyle/>
          <a:p>
            <a:pPr algn="r" indent="0" marL="0">
              <a:buNone/>
            </a:pPr>
            <a:r>
              <a:rPr lang="en-US" sz="900" dirty="0">
                <a:solidFill>
                  <a:srgbClr val="5F6B80"/>
                </a:solidFill>
                <a:latin typeface="Calibri" pitchFamily="34" charset="0"/>
                <a:ea typeface="Calibri" pitchFamily="34" charset="-122"/>
                <a:cs typeface="Calibri" pitchFamily="34" charset="-120"/>
              </a:rPr>
              <a:t>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03120"/>
                <a:gridCol w="2697480"/>
                <a:gridCol w="2697480"/>
                <a:gridCol w="2697480"/>
                <a:gridCol w="868680"/>
              </a:tblGrid>
              <a:tr h="41148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Impact</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Feasibility (1 week)</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Differentiation</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Total /15</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14213D"/>
                    </a:solidFill>
                  </a:tcPr>
                </a:tc>
              </a:tr>
              <a:tr h="914400">
                <a:tc>
                  <a:txBody>
                    <a:bodyPr/>
                    <a:lstStyle/>
                    <a:p>
                      <a:pPr indent="0" marL="0">
                        <a:buNone/>
                      </a:pPr>
                      <a:r>
                        <a:rPr lang="en-US" sz="1250" b="1" dirty="0">
                          <a:solidFill>
                            <a:srgbClr val="000000"/>
                          </a:solidFill>
                          <a:latin typeface="Calibri" pitchFamily="34" charset="0"/>
                          <a:ea typeface="Calibri" pitchFamily="34" charset="-122"/>
                          <a:cs typeface="Calibri" pitchFamily="34" charset="-120"/>
                        </a:rPr>
                        <a:t>A. FarmProof</a:t>
                      </a:r>
                      <a:endParaRPr lang="en-US" sz="1200" dirty="0">
                        <a:latin typeface="Calibri" charset="0"/>
                        <a:ea typeface="Calibri" charset="0"/>
                        <a:cs typeface="Calibri" charset="0"/>
                      </a:endParaRPr>
                    </a:p>
                    <a:p>
                      <a:pPr indent="0" marL="0">
                        <a:buNone/>
                      </a:pPr>
                      <a:r>
                        <a:rPr lang="en-US" sz="1000" dirty="0">
                          <a:solidFill>
                            <a:srgbClr val="5F6B80"/>
                          </a:solidFill>
                          <a:latin typeface="Calibri" pitchFamily="34" charset="0"/>
                          <a:ea typeface="Calibri" pitchFamily="34" charset="-122"/>
                          <a:cs typeface="Calibri" pitchFamily="34" charset="-120"/>
                        </a:rPr>
                        <a:t>farmer evidence kit</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E8F5EE"/>
                    </a:solidFill>
                  </a:tcPr>
                </a:tc>
                <a:tc>
                  <a:txBody>
                    <a:bodyPr/>
                    <a:lstStyle/>
                    <a:p>
                      <a:pPr indent="0" marL="0">
                        <a:buNone/>
                      </a:pPr>
                      <a:r>
                        <a:rPr lang="en-US" sz="1600" b="1" dirty="0">
                          <a:solidFill>
                            <a:srgbClr val="2E9E6B"/>
                          </a:solidFill>
                          <a:latin typeface="Calibri" pitchFamily="34" charset="0"/>
                          <a:ea typeface="Calibri" pitchFamily="34" charset="-122"/>
                          <a:cs typeface="Calibri" pitchFamily="34" charset="-120"/>
                        </a:rPr>
                        <a:t>4   </a:t>
                      </a:r>
                      <a:pPr indent="0" marL="0">
                        <a:buNone/>
                      </a:pPr>
                      <a:r>
                        <a:rPr lang="en-US" sz="1050" dirty="0">
                          <a:solidFill>
                            <a:srgbClr val="14213D"/>
                          </a:solidFill>
                          <a:latin typeface="Calibri" pitchFamily="34" charset="0"/>
                          <a:ea typeface="Calibri" pitchFamily="34" charset="-122"/>
                          <a:cs typeface="Calibri" pitchFamily="34" charset="-120"/>
                        </a:rPr>
                        <a:t>Proof for each claiming farm; surveyors verify instead of starting from zero.</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E8F5EE"/>
                    </a:solidFill>
                  </a:tcPr>
                </a:tc>
                <a:tc>
                  <a:txBody>
                    <a:bodyPr/>
                    <a:lstStyle/>
                    <a:p>
                      <a:pPr indent="0" marL="0">
                        <a:buNone/>
                      </a:pPr>
                      <a:r>
                        <a:rPr lang="en-US" sz="1600" b="1" dirty="0">
                          <a:solidFill>
                            <a:srgbClr val="2E9E6B"/>
                          </a:solidFill>
                          <a:latin typeface="Calibri" pitchFamily="34" charset="0"/>
                          <a:ea typeface="Calibri" pitchFamily="34" charset="-122"/>
                          <a:cs typeface="Calibri" pitchFamily="34" charset="-120"/>
                        </a:rPr>
                        <a:t>4   </a:t>
                      </a:r>
                      <a:pPr indent="0" marL="0">
                        <a:buNone/>
                      </a:pPr>
                      <a:r>
                        <a:rPr lang="en-US" sz="1050" dirty="0">
                          <a:solidFill>
                            <a:srgbClr val="14213D"/>
                          </a:solidFill>
                          <a:latin typeface="Calibri" pitchFamily="34" charset="0"/>
                          <a:ea typeface="Calibri" pitchFamily="34" charset="-122"/>
                          <a:cs typeface="Calibri" pitchFamily="34" charset="-120"/>
                        </a:rPr>
                        <a:t>Phone camera, GPS, free weather data and a vision-model API are off the shelf.</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E8F5EE"/>
                    </a:solidFill>
                  </a:tcPr>
                </a:tc>
                <a:tc>
                  <a:txBody>
                    <a:bodyPr/>
                    <a:lstStyle/>
                    <a:p>
                      <a:pPr indent="0" marL="0">
                        <a:buNone/>
                      </a:pPr>
                      <a:r>
                        <a:rPr lang="en-US" sz="1600" b="1" dirty="0">
                          <a:solidFill>
                            <a:srgbClr val="2E9E6B"/>
                          </a:solidFill>
                          <a:latin typeface="Calibri" pitchFamily="34" charset="0"/>
                          <a:ea typeface="Calibri" pitchFamily="34" charset="-122"/>
                          <a:cs typeface="Calibri" pitchFamily="34" charset="-120"/>
                        </a:rPr>
                        <a:t>4   </a:t>
                      </a:r>
                      <a:pPr indent="0" marL="0">
                        <a:buNone/>
                      </a:pPr>
                      <a:r>
                        <a:rPr lang="en-US" sz="1050" dirty="0">
                          <a:solidFill>
                            <a:srgbClr val="14213D"/>
                          </a:solidFill>
                          <a:latin typeface="Calibri" pitchFamily="34" charset="0"/>
                          <a:ea typeface="Calibri" pitchFamily="34" charset="-122"/>
                          <a:cs typeface="Calibri" pitchFamily="34" charset="-120"/>
                        </a:rPr>
                        <a:t>Triggered by a damage event, tied to one claim, tamper-checked. CROPIC is season-long monitoring.</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E8F5EE"/>
                    </a:solidFill>
                  </a:tcPr>
                </a:tc>
                <a:tc>
                  <a:txBody>
                    <a:bodyPr/>
                    <a:lstStyle/>
                    <a:p>
                      <a:pPr algn="ctr" indent="0" marL="0">
                        <a:buNone/>
                      </a:pPr>
                      <a:r>
                        <a:rPr lang="en-US" sz="2000" b="1" dirty="0">
                          <a:solidFill>
                            <a:srgbClr val="2E9E6B"/>
                          </a:solidFill>
                          <a:latin typeface="Calibri" pitchFamily="34" charset="0"/>
                          <a:ea typeface="Calibri" pitchFamily="34" charset="-122"/>
                          <a:cs typeface="Calibri" pitchFamily="34" charset="-120"/>
                        </a:rPr>
                        <a:t>12</a:t>
                      </a:r>
                      <a:endParaRPr lang="en-US" sz="20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E8F5EE"/>
                    </a:solidFill>
                  </a:tcPr>
                </a:tc>
              </a:tr>
              <a:tr h="822960">
                <a:tc>
                  <a:txBody>
                    <a:bodyPr/>
                    <a:lstStyle/>
                    <a:p>
                      <a:pPr indent="0" marL="0">
                        <a:buNone/>
                      </a:pPr>
                      <a:r>
                        <a:rPr lang="en-US" sz="1250" b="1" dirty="0">
                          <a:solidFill>
                            <a:srgbClr val="000000"/>
                          </a:solidFill>
                          <a:latin typeface="Calibri" pitchFamily="34" charset="0"/>
                          <a:ea typeface="Calibri" pitchFamily="34" charset="-122"/>
                          <a:cs typeface="Calibri" pitchFamily="34" charset="-120"/>
                        </a:rPr>
                        <a:t>B. AgroFusion map</a:t>
                      </a:r>
                      <a:endParaRPr lang="en-US" sz="1200" dirty="0">
                        <a:latin typeface="Calibri" charset="0"/>
                        <a:ea typeface="Calibri" charset="0"/>
                        <a:cs typeface="Calibri" charset="0"/>
                      </a:endParaRPr>
                    </a:p>
                    <a:p>
                      <a:pPr indent="0" marL="0">
                        <a:buNone/>
                      </a:pPr>
                      <a:r>
                        <a:rPr lang="en-US" sz="1000" dirty="0">
                          <a:solidFill>
                            <a:srgbClr val="5F6B80"/>
                          </a:solidFill>
                          <a:latin typeface="Calibri" pitchFamily="34" charset="0"/>
                          <a:ea typeface="Calibri" pitchFamily="34" charset="-122"/>
                          <a:cs typeface="Calibri" pitchFamily="34" charset="-120"/>
                        </a:rPr>
                        <a:t>satellite + weather</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600" b="1" dirty="0">
                          <a:solidFill>
                            <a:srgbClr val="2E9E6B"/>
                          </a:solidFill>
                          <a:latin typeface="Calibri" pitchFamily="34" charset="0"/>
                          <a:ea typeface="Calibri" pitchFamily="34" charset="-122"/>
                          <a:cs typeface="Calibri" pitchFamily="34" charset="-120"/>
                        </a:rPr>
                        <a:t>5   </a:t>
                      </a:r>
                      <a:pPr indent="0" marL="0">
                        <a:buNone/>
                      </a:pPr>
                      <a:r>
                        <a:rPr lang="en-US" sz="1050" dirty="0">
                          <a:solidFill>
                            <a:srgbClr val="14213D"/>
                          </a:solidFill>
                          <a:latin typeface="Calibri" pitchFamily="34" charset="0"/>
                          <a:ea typeface="Calibri" pitchFamily="34" charset="-122"/>
                          <a:cs typeface="Calibri" pitchFamily="34" charset="-120"/>
                        </a:rPr>
                        <a:t>Covers every plot without a field visit.</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600" b="1" dirty="0">
                          <a:solidFill>
                            <a:srgbClr val="E4572E"/>
                          </a:solidFill>
                          <a:latin typeface="Calibri" pitchFamily="34" charset="0"/>
                          <a:ea typeface="Calibri" pitchFamily="34" charset="-122"/>
                          <a:cs typeface="Calibri" pitchFamily="34" charset="-120"/>
                        </a:rPr>
                        <a:t>2   </a:t>
                      </a:r>
                      <a:pPr indent="0" marL="0">
                        <a:buNone/>
                      </a:pPr>
                      <a:r>
                        <a:rPr lang="en-US" sz="1050" dirty="0">
                          <a:solidFill>
                            <a:srgbClr val="14213D"/>
                          </a:solidFill>
                          <a:latin typeface="Calibri" pitchFamily="34" charset="0"/>
                          <a:ea typeface="Calibri" pitchFamily="34" charset="-122"/>
                          <a:cs typeface="Calibri" pitchFamily="34" charset="-120"/>
                        </a:rPr>
                        <a:t>Cloud cover, coarse pixels and land-record joins are too heavy for a week.</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600" b="1" dirty="0">
                          <a:solidFill>
                            <a:srgbClr val="B8741A"/>
                          </a:solidFill>
                          <a:latin typeface="Calibri" pitchFamily="34" charset="0"/>
                          <a:ea typeface="Calibri" pitchFamily="34" charset="-122"/>
                          <a:cs typeface="Calibri" pitchFamily="34" charset="-120"/>
                        </a:rPr>
                        <a:t>3   </a:t>
                      </a:r>
                      <a:pPr indent="0" marL="0">
                        <a:buNone/>
                      </a:pPr>
                      <a:r>
                        <a:rPr lang="en-US" sz="1050" dirty="0">
                          <a:solidFill>
                            <a:srgbClr val="14213D"/>
                          </a:solidFill>
                          <a:latin typeface="Calibri" pitchFamily="34" charset="0"/>
                          <a:ea typeface="Calibri" pitchFamily="34" charset="-122"/>
                          <a:cs typeface="Calibri" pitchFamily="34" charset="-120"/>
                        </a:rPr>
                        <a:t>Remote-sensing pilots already exist under PMFBY.</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4213D"/>
                          </a:solidFill>
                          <a:latin typeface="Calibri" pitchFamily="34" charset="0"/>
                          <a:ea typeface="Calibri" pitchFamily="34" charset="-122"/>
                          <a:cs typeface="Calibri" pitchFamily="34" charset="-120"/>
                        </a:rPr>
                        <a:t>10</a:t>
                      </a:r>
                      <a:endParaRPr lang="en-US" sz="20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r>
              <a:tr h="822960">
                <a:tc>
                  <a:txBody>
                    <a:bodyPr/>
                    <a:lstStyle/>
                    <a:p>
                      <a:pPr indent="0" marL="0">
                        <a:buNone/>
                      </a:pPr>
                      <a:r>
                        <a:rPr lang="en-US" sz="1250" b="1" dirty="0">
                          <a:solidFill>
                            <a:srgbClr val="000000"/>
                          </a:solidFill>
                          <a:latin typeface="Calibri" pitchFamily="34" charset="0"/>
                          <a:ea typeface="Calibri" pitchFamily="34" charset="-122"/>
                          <a:cs typeface="Calibri" pitchFamily="34" charset="-120"/>
                        </a:rPr>
                        <a:t>C. ClaimTrack</a:t>
                      </a:r>
                      <a:endParaRPr lang="en-US" sz="1200" dirty="0">
                        <a:latin typeface="Calibri" charset="0"/>
                        <a:ea typeface="Calibri" charset="0"/>
                        <a:cs typeface="Calibri" charset="0"/>
                      </a:endParaRPr>
                    </a:p>
                    <a:p>
                      <a:pPr indent="0" marL="0">
                        <a:buNone/>
                      </a:pPr>
                      <a:r>
                        <a:rPr lang="en-US" sz="1000" dirty="0">
                          <a:solidFill>
                            <a:srgbClr val="5F6B80"/>
                          </a:solidFill>
                          <a:latin typeface="Calibri" pitchFamily="34" charset="0"/>
                          <a:ea typeface="Calibri" pitchFamily="34" charset="-122"/>
                          <a:cs typeface="Calibri" pitchFamily="34" charset="-120"/>
                        </a:rPr>
                        <a:t>WhatsApp / voice</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600" b="1" dirty="0">
                          <a:solidFill>
                            <a:srgbClr val="B8741A"/>
                          </a:solidFill>
                          <a:latin typeface="Calibri" pitchFamily="34" charset="0"/>
                          <a:ea typeface="Calibri" pitchFamily="34" charset="-122"/>
                          <a:cs typeface="Calibri" pitchFamily="34" charset="-120"/>
                        </a:rPr>
                        <a:t>3   </a:t>
                      </a:r>
                      <a:pPr indent="0" marL="0">
                        <a:buNone/>
                      </a:pPr>
                      <a:r>
                        <a:rPr lang="en-US" sz="1050" dirty="0">
                          <a:solidFill>
                            <a:srgbClr val="14213D"/>
                          </a:solidFill>
                          <a:latin typeface="Calibri" pitchFamily="34" charset="0"/>
                          <a:ea typeface="Calibri" pitchFamily="34" charset="-122"/>
                          <a:cs typeface="Calibri" pitchFamily="34" charset="-120"/>
                        </a:rPr>
                        <a:t>Visible status helps trust, but the evidence gap stays.</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600" b="1" dirty="0">
                          <a:solidFill>
                            <a:srgbClr val="2E9E6B"/>
                          </a:solidFill>
                          <a:latin typeface="Calibri" pitchFamily="34" charset="0"/>
                          <a:ea typeface="Calibri" pitchFamily="34" charset="-122"/>
                          <a:cs typeface="Calibri" pitchFamily="34" charset="-120"/>
                        </a:rPr>
                        <a:t>5   </a:t>
                      </a:r>
                      <a:pPr indent="0" marL="0">
                        <a:buNone/>
                      </a:pPr>
                      <a:r>
                        <a:rPr lang="en-US" sz="1050" dirty="0">
                          <a:solidFill>
                            <a:srgbClr val="14213D"/>
                          </a:solidFill>
                          <a:latin typeface="Calibri" pitchFamily="34" charset="0"/>
                          <a:ea typeface="Calibri" pitchFamily="34" charset="-122"/>
                          <a:cs typeface="Calibri" pitchFamily="34" charset="-120"/>
                        </a:rPr>
                        <a:t>Chat bot and status page are quick to build.</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600" b="1" dirty="0">
                          <a:solidFill>
                            <a:srgbClr val="E4572E"/>
                          </a:solidFill>
                          <a:latin typeface="Calibri" pitchFamily="34" charset="0"/>
                          <a:ea typeface="Calibri" pitchFamily="34" charset="-122"/>
                          <a:cs typeface="Calibri" pitchFamily="34" charset="-120"/>
                        </a:rPr>
                        <a:t>2   </a:t>
                      </a:r>
                      <a:pPr indent="0" marL="0">
                        <a:buNone/>
                      </a:pPr>
                      <a:r>
                        <a:rPr lang="en-US" sz="1050" dirty="0">
                          <a:solidFill>
                            <a:srgbClr val="14213D"/>
                          </a:solidFill>
                          <a:latin typeface="Calibri" pitchFamily="34" charset="0"/>
                          <a:ea typeface="Calibri" pitchFamily="34" charset="-122"/>
                          <a:cs typeface="Calibri" pitchFamily="34" charset="-120"/>
                        </a:rPr>
                        <a:t>Portals and helplines already give status.</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4213D"/>
                          </a:solidFill>
                          <a:latin typeface="Calibri" pitchFamily="34" charset="0"/>
                          <a:ea typeface="Calibri" pitchFamily="34" charset="-122"/>
                          <a:cs typeface="Calibri" pitchFamily="34" charset="-120"/>
                        </a:rPr>
                        <a:t>10</a:t>
                      </a:r>
                      <a:endParaRPr lang="en-US" sz="20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r>
              <a:tr h="822960">
                <a:tc>
                  <a:txBody>
                    <a:bodyPr/>
                    <a:lstStyle/>
                    <a:p>
                      <a:pPr indent="0" marL="0">
                        <a:buNone/>
                      </a:pPr>
                      <a:r>
                        <a:rPr lang="en-US" sz="1250" b="1" dirty="0">
                          <a:solidFill>
                            <a:srgbClr val="000000"/>
                          </a:solidFill>
                          <a:latin typeface="Calibri" pitchFamily="34" charset="0"/>
                          <a:ea typeface="Calibri" pitchFamily="34" charset="-122"/>
                          <a:cs typeface="Calibri" pitchFamily="34" charset="-120"/>
                        </a:rPr>
                        <a:t>D. Village Verifier Network</a:t>
                      </a:r>
                      <a:endParaRPr lang="en-US" sz="1200" dirty="0">
                        <a:latin typeface="Calibri" charset="0"/>
                        <a:ea typeface="Calibri" charset="0"/>
                        <a:cs typeface="Calibri" charset="0"/>
                      </a:endParaRPr>
                    </a:p>
                    <a:p>
                      <a:pPr indent="0" marL="0">
                        <a:buNone/>
                      </a:pPr>
                      <a:r>
                        <a:rPr lang="en-US" sz="1000" dirty="0">
                          <a:solidFill>
                            <a:srgbClr val="5F6B80"/>
                          </a:solidFill>
                          <a:latin typeface="Calibri" pitchFamily="34" charset="0"/>
                          <a:ea typeface="Calibri" pitchFamily="34" charset="-122"/>
                          <a:cs typeface="Calibri" pitchFamily="34" charset="-120"/>
                        </a:rPr>
                        <a:t>trained local verifiers</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600" b="1" dirty="0">
                          <a:solidFill>
                            <a:srgbClr val="2E9E6B"/>
                          </a:solidFill>
                          <a:latin typeface="Calibri" pitchFamily="34" charset="0"/>
                          <a:ea typeface="Calibri" pitchFamily="34" charset="-122"/>
                          <a:cs typeface="Calibri" pitchFamily="34" charset="-120"/>
                        </a:rPr>
                        <a:t>4   </a:t>
                      </a:r>
                      <a:pPr indent="0" marL="0">
                        <a:buNone/>
                      </a:pPr>
                      <a:r>
                        <a:rPr lang="en-US" sz="1050" dirty="0">
                          <a:solidFill>
                            <a:srgbClr val="14213D"/>
                          </a:solidFill>
                          <a:latin typeface="Calibri" pitchFamily="34" charset="0"/>
                          <a:ea typeface="Calibri" pitchFamily="34" charset="-122"/>
                          <a:cs typeface="Calibri" pitchFamily="34" charset="-120"/>
                        </a:rPr>
                        <a:t>Trusted local eyes on each claim.</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600" b="1" dirty="0">
                          <a:solidFill>
                            <a:srgbClr val="E4572E"/>
                          </a:solidFill>
                          <a:latin typeface="Calibri" pitchFamily="34" charset="0"/>
                          <a:ea typeface="Calibri" pitchFamily="34" charset="-122"/>
                          <a:cs typeface="Calibri" pitchFamily="34" charset="-120"/>
                        </a:rPr>
                        <a:t>2   </a:t>
                      </a:r>
                      <a:pPr indent="0" marL="0">
                        <a:buNone/>
                      </a:pPr>
                      <a:r>
                        <a:rPr lang="en-US" sz="1050" dirty="0">
                          <a:solidFill>
                            <a:srgbClr val="14213D"/>
                          </a:solidFill>
                          <a:latin typeface="Calibri" pitchFamily="34" charset="0"/>
                          <a:ea typeface="Calibri" pitchFamily="34" charset="-122"/>
                          <a:cs typeface="Calibri" pitchFamily="34" charset="-120"/>
                        </a:rPr>
                        <a:t>Needs people, training and funding, not just software.</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600" b="1" dirty="0">
                          <a:solidFill>
                            <a:srgbClr val="B8741A"/>
                          </a:solidFill>
                          <a:latin typeface="Calibri" pitchFamily="34" charset="0"/>
                          <a:ea typeface="Calibri" pitchFamily="34" charset="-122"/>
                          <a:cs typeface="Calibri" pitchFamily="34" charset="-120"/>
                        </a:rPr>
                        <a:t>3   </a:t>
                      </a:r>
                      <a:pPr indent="0" marL="0">
                        <a:buNone/>
                      </a:pPr>
                      <a:r>
                        <a:rPr lang="en-US" sz="1050" dirty="0">
                          <a:solidFill>
                            <a:srgbClr val="14213D"/>
                          </a:solidFill>
                          <a:latin typeface="Calibri" pitchFamily="34" charset="0"/>
                          <a:ea typeface="Calibri" pitchFamily="34" charset="-122"/>
                          <a:cs typeface="Calibri" pitchFamily="34" charset="-120"/>
                        </a:rPr>
                        <a:t>Similar to existing surveyor and agent models.</a:t>
                      </a:r>
                      <a:endParaRPr lang="en-US" sz="12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4213D"/>
                          </a:solidFill>
                          <a:latin typeface="Calibri" pitchFamily="34" charset="0"/>
                          <a:ea typeface="Calibri" pitchFamily="34" charset="-122"/>
                          <a:cs typeface="Calibri" pitchFamily="34" charset="-120"/>
                        </a:rPr>
                        <a:t>9</a:t>
                      </a:r>
                      <a:endParaRPr lang="en-US" sz="20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5486400"/>
            <a:ext cx="11064240" cy="822960"/>
          </a:xfrm>
          <a:prstGeom prst="roundRect">
            <a:avLst>
              <a:gd name="adj" fmla="val 11111"/>
            </a:avLst>
          </a:prstGeom>
          <a:solidFill>
            <a:srgbClr val="E6F0FC"/>
          </a:solidFill>
          <a:ln w="12700">
            <a:solidFill>
              <a:srgbClr val="E6F0FC"/>
            </a:solidFill>
            <a:prstDash val="solid"/>
          </a:ln>
        </p:spPr>
      </p:sp>
      <p:sp>
        <p:nvSpPr>
          <p:cNvPr id="8" name="Text 4"/>
          <p:cNvSpPr/>
          <p:nvPr/>
        </p:nvSpPr>
        <p:spPr>
          <a:xfrm>
            <a:off x="731520" y="5577840"/>
            <a:ext cx="10698480" cy="685800"/>
          </a:xfrm>
          <a:prstGeom prst="rect">
            <a:avLst/>
          </a:prstGeom>
          <a:noFill/>
          <a:ln/>
        </p:spPr>
        <p:txBody>
          <a:bodyPr wrap="square" lIns="0" tIns="0" rIns="0" bIns="0" rtlCol="0" anchor="t"/>
          <a:lstStyle/>
          <a:p>
            <a:pPr indent="0" marL="0">
              <a:buNone/>
            </a:pPr>
            <a:r>
              <a:rPr lang="en-US" sz="1150" b="1" dirty="0">
                <a:solidFill>
                  <a:srgbClr val="14213D"/>
                </a:solidFill>
                <a:latin typeface="Calibri" pitchFamily="34" charset="0"/>
                <a:ea typeface="Calibri" pitchFamily="34" charset="-122"/>
                <a:cs typeface="Calibri" pitchFamily="34" charset="-120"/>
              </a:rPr>
              <a:t>How we scored: </a:t>
            </a:r>
            <a:pPr indent="0" marL="0">
              <a:buNone/>
            </a:pPr>
            <a:r>
              <a:rPr lang="en-US" sz="1150" dirty="0">
                <a:solidFill>
                  <a:srgbClr val="14213D"/>
                </a:solidFill>
                <a:latin typeface="Calibri" pitchFamily="34" charset="0"/>
                <a:ea typeface="Calibri" pitchFamily="34" charset="-122"/>
                <a:cs typeface="Calibri" pitchFamily="34" charset="-120"/>
              </a:rPr>
              <a:t>1 = low, 5 = high, equal weight. We compared against what already exists: crop-cutting experiments, CROPIC photo-and-AI pilots, satellite and drone estimates, and weather-index insurance. B has the biggest ceiling but fails the one-week test; C and D are useful add-ons, not fixes for the root cause.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320040"/>
            <a:ext cx="11064240" cy="868680"/>
          </a:xfrm>
          <a:prstGeom prst="rect">
            <a:avLst/>
          </a:prstGeom>
          <a:noFill/>
          <a:ln/>
        </p:spPr>
        <p:txBody>
          <a:bodyPr wrap="square" lIns="0" tIns="0" rIns="0" bIns="0" rtlCol="0" anchor="t"/>
          <a:lstStyle/>
          <a:p>
            <a:pPr indent="0" marL="0">
              <a:buNone/>
            </a:pPr>
            <a:r>
              <a:rPr lang="en-US" sz="2400" b="1" dirty="0">
                <a:solidFill>
                  <a:srgbClr val="14213D"/>
                </a:solidFill>
                <a:latin typeface="Georgia" pitchFamily="34" charset="0"/>
                <a:ea typeface="Georgia" pitchFamily="34" charset="-122"/>
                <a:cs typeface="Georgia" pitchFamily="34" charset="-120"/>
              </a:rPr>
              <a:t>We chose FarmProof: proof from the farm itself, checked against local weather data</a:t>
            </a:r>
            <a:endParaRPr lang="en-US" sz="2400" dirty="0"/>
          </a:p>
        </p:txBody>
      </p:sp>
      <p:sp>
        <p:nvSpPr>
          <p:cNvPr id="3" name="Text 1"/>
          <p:cNvSpPr/>
          <p:nvPr/>
        </p:nvSpPr>
        <p:spPr>
          <a:xfrm>
            <a:off x="548640" y="6492240"/>
            <a:ext cx="7315200" cy="228600"/>
          </a:xfrm>
          <a:prstGeom prst="rect">
            <a:avLst/>
          </a:prstGeom>
          <a:noFill/>
          <a:ln/>
        </p:spPr>
        <p:txBody>
          <a:bodyPr wrap="square" lIns="0" tIns="0" rIns="0" bIns="0" rtlCol="0" anchor="ctr"/>
          <a:lstStyle/>
          <a:p>
            <a:pPr indent="0" marL="0">
              <a:buNone/>
            </a:pPr>
            <a:r>
              <a:rPr lang="en-US" sz="900" dirty="0">
                <a:solidFill>
                  <a:srgbClr val="5F6B80"/>
                </a:solidFill>
                <a:latin typeface="Calibri" pitchFamily="34" charset="0"/>
                <a:ea typeface="Calibri" pitchFamily="34" charset="-122"/>
                <a:cs typeface="Calibri" pitchFamily="34" charset="-120"/>
              </a:rPr>
              <a:t>IMPACT TANK '26  |  SOLUTION CONCEPT DECK  |  FarmProof  |  Team Nexus.DTU</a:t>
            </a:r>
            <a:endParaRPr lang="en-US" sz="900" dirty="0"/>
          </a:p>
        </p:txBody>
      </p:sp>
      <p:sp>
        <p:nvSpPr>
          <p:cNvPr id="4" name="Text 2"/>
          <p:cNvSpPr/>
          <p:nvPr/>
        </p:nvSpPr>
        <p:spPr>
          <a:xfrm>
            <a:off x="11155680" y="6492240"/>
            <a:ext cx="457200" cy="228600"/>
          </a:xfrm>
          <a:prstGeom prst="rect">
            <a:avLst/>
          </a:prstGeom>
          <a:noFill/>
          <a:ln/>
        </p:spPr>
        <p:txBody>
          <a:bodyPr wrap="square" lIns="0" tIns="0" rIns="0" bIns="0" rtlCol="0" anchor="ctr"/>
          <a:lstStyle/>
          <a:p>
            <a:pPr algn="r" indent="0" marL="0">
              <a:buNone/>
            </a:pPr>
            <a:r>
              <a:rPr lang="en-US" sz="900" dirty="0">
                <a:solidFill>
                  <a:srgbClr val="5F6B80"/>
                </a:solidFill>
                <a:latin typeface="Calibri" pitchFamily="34" charset="0"/>
                <a:ea typeface="Calibri" pitchFamily="34" charset="-122"/>
                <a:cs typeface="Calibri" pitchFamily="34" charset="-120"/>
              </a:rPr>
              <a:t>5</a:t>
            </a:r>
            <a:endParaRPr lang="en-US" sz="900" dirty="0"/>
          </a:p>
        </p:txBody>
      </p:sp>
      <p:sp>
        <p:nvSpPr>
          <p:cNvPr id="6" name="Shape 3"/>
          <p:cNvSpPr/>
          <p:nvPr/>
        </p:nvSpPr>
        <p:spPr>
          <a:xfrm>
            <a:off x="548640" y="1371600"/>
            <a:ext cx="5760720" cy="1828800"/>
          </a:xfrm>
          <a:prstGeom prst="roundRect">
            <a:avLst>
              <a:gd name="adj" fmla="val 5000"/>
            </a:avLst>
          </a:prstGeom>
          <a:solidFill>
            <a:srgbClr val="E8F5EE"/>
          </a:solidFill>
          <a:ln w="12700">
            <a:solidFill>
              <a:srgbClr val="E8F5EE"/>
            </a:solidFill>
            <a:prstDash val="solid"/>
          </a:ln>
        </p:spPr>
      </p:sp>
      <p:sp>
        <p:nvSpPr>
          <p:cNvPr id="7" name="Text 4"/>
          <p:cNvSpPr/>
          <p:nvPr/>
        </p:nvSpPr>
        <p:spPr>
          <a:xfrm>
            <a:off x="731520" y="1481328"/>
            <a:ext cx="3657600" cy="228600"/>
          </a:xfrm>
          <a:prstGeom prst="rect">
            <a:avLst/>
          </a:prstGeom>
          <a:noFill/>
          <a:ln/>
        </p:spPr>
        <p:txBody>
          <a:bodyPr wrap="square" lIns="0" tIns="0" rIns="0" bIns="0" rtlCol="0" anchor="t"/>
          <a:lstStyle/>
          <a:p>
            <a:pPr indent="0" marL="0">
              <a:buNone/>
            </a:pPr>
            <a:r>
              <a:rPr lang="en-US" sz="1000" b="1" spc="150" kern="0" dirty="0">
                <a:solidFill>
                  <a:srgbClr val="2E9E6B"/>
                </a:solidFill>
                <a:latin typeface="Calibri" pitchFamily="34" charset="0"/>
                <a:ea typeface="Calibri" pitchFamily="34" charset="-122"/>
                <a:cs typeface="Calibri" pitchFamily="34" charset="-120"/>
              </a:rPr>
              <a:t>SOLUTION STATEMENT</a:t>
            </a:r>
            <a:endParaRPr lang="en-US" sz="1000" dirty="0"/>
          </a:p>
        </p:txBody>
      </p:sp>
      <p:sp>
        <p:nvSpPr>
          <p:cNvPr id="8" name="Text 5"/>
          <p:cNvSpPr/>
          <p:nvPr/>
        </p:nvSpPr>
        <p:spPr>
          <a:xfrm>
            <a:off x="731520" y="1755648"/>
            <a:ext cx="5394960" cy="1371600"/>
          </a:xfrm>
          <a:prstGeom prst="rect">
            <a:avLst/>
          </a:prstGeom>
          <a:noFill/>
          <a:ln/>
        </p:spPr>
        <p:txBody>
          <a:bodyPr wrap="square" lIns="0" tIns="0" rIns="0" bIns="0" rtlCol="0" anchor="t"/>
          <a:lstStyle/>
          <a:p>
            <a:pPr indent="0" marL="0">
              <a:buNone/>
            </a:pPr>
            <a:r>
              <a:rPr lang="en-US" sz="1350" dirty="0">
                <a:solidFill>
                  <a:srgbClr val="14213D"/>
                </a:solidFill>
                <a:latin typeface="Calibri" pitchFamily="34" charset="0"/>
                <a:ea typeface="Calibri" pitchFamily="34" charset="-122"/>
                <a:cs typeface="Calibri" pitchFamily="34" charset="-120"/>
              </a:rPr>
              <a:t>Our solution is </a:t>
            </a:r>
            <a:pPr indent="0" marL="0">
              <a:buNone/>
            </a:pPr>
            <a:r>
              <a:rPr lang="en-US" sz="1350" b="1" dirty="0">
                <a:solidFill>
                  <a:srgbClr val="14213D"/>
                </a:solidFill>
                <a:latin typeface="Calibri" pitchFamily="34" charset="0"/>
                <a:ea typeface="Calibri" pitchFamily="34" charset="-122"/>
                <a:cs typeface="Calibri" pitchFamily="34" charset="-120"/>
              </a:rPr>
              <a:t>FarmProof, a guided photo-evidence claim app</a:t>
            </a:r>
            <a:pPr indent="0" marL="0">
              <a:buNone/>
            </a:pPr>
            <a:r>
              <a:rPr lang="en-US" sz="1350" dirty="0">
                <a:solidFill>
                  <a:srgbClr val="14213D"/>
                </a:solidFill>
                <a:latin typeface="Calibri" pitchFamily="34" charset="0"/>
                <a:ea typeface="Calibri" pitchFamily="34" charset="-122"/>
                <a:cs typeface="Calibri" pitchFamily="34" charset="-120"/>
              </a:rPr>
              <a:t> for small farmers that </a:t>
            </a:r>
            <a:pPr indent="0" marL="0">
              <a:buNone/>
            </a:pPr>
            <a:r>
              <a:rPr lang="en-US" sz="1350" b="1" dirty="0">
                <a:solidFill>
                  <a:srgbClr val="14213D"/>
                </a:solidFill>
                <a:latin typeface="Calibri" pitchFamily="34" charset="0"/>
                <a:ea typeface="Calibri" pitchFamily="34" charset="-122"/>
                <a:cs typeface="Calibri" pitchFamily="34" charset="-120"/>
              </a:rPr>
              <a:t>gives insurers verifiable farm-level damage proof inside the 72-hour window</a:t>
            </a:r>
            <a:pPr indent="0" marL="0">
              <a:buNone/>
            </a:pPr>
            <a:r>
              <a:rPr lang="en-US" sz="1350" dirty="0">
                <a:solidFill>
                  <a:srgbClr val="14213D"/>
                </a:solidFill>
                <a:latin typeface="Calibri" pitchFamily="34" charset="0"/>
                <a:ea typeface="Calibri" pitchFamily="34" charset="-122"/>
                <a:cs typeface="Calibri" pitchFamily="34" charset="-120"/>
              </a:rPr>
              <a:t> by combining live geotagged photos, AI damage scoring and a local weather check, </a:t>
            </a:r>
            <a:pPr indent="0" marL="0">
              <a:buNone/>
            </a:pPr>
            <a:r>
              <a:rPr lang="en-US" sz="1350" b="1" dirty="0">
                <a:solidFill>
                  <a:srgbClr val="14213D"/>
                </a:solidFill>
                <a:latin typeface="Calibri" pitchFamily="34" charset="0"/>
                <a:ea typeface="Calibri" pitchFamily="34" charset="-122"/>
                <a:cs typeface="Calibri" pitchFamily="34" charset="-120"/>
              </a:rPr>
              <a:t>unlike sample-based crop-cutting surveys that rely on village averages.</a:t>
            </a:r>
            <a:endParaRPr lang="en-US" sz="1350" dirty="0"/>
          </a:p>
        </p:txBody>
      </p:sp>
      <p:sp>
        <p:nvSpPr>
          <p:cNvPr id="9" name="Text 6"/>
          <p:cNvSpPr/>
          <p:nvPr/>
        </p:nvSpPr>
        <p:spPr>
          <a:xfrm>
            <a:off x="548640" y="3429000"/>
            <a:ext cx="3657600" cy="228600"/>
          </a:xfrm>
          <a:prstGeom prst="rect">
            <a:avLst/>
          </a:prstGeom>
          <a:noFill/>
          <a:ln/>
        </p:spPr>
        <p:txBody>
          <a:bodyPr wrap="square" lIns="0" tIns="0" rIns="0" bIns="0" rtlCol="0" anchor="t"/>
          <a:lstStyle/>
          <a:p>
            <a:pPr indent="0" marL="0">
              <a:buNone/>
            </a:pPr>
            <a:r>
              <a:rPr lang="en-US" sz="1000" b="1" spc="150" kern="0" dirty="0">
                <a:solidFill>
                  <a:srgbClr val="2E9E6B"/>
                </a:solidFill>
                <a:latin typeface="Calibri" pitchFamily="34" charset="0"/>
                <a:ea typeface="Calibri" pitchFamily="34" charset="-122"/>
                <a:cs typeface="Calibri" pitchFamily="34" charset="-120"/>
              </a:rPr>
              <a:t>WHY IT BEAT THE OTHERS</a:t>
            </a:r>
            <a:endParaRPr lang="en-US" sz="1000" dirty="0"/>
          </a:p>
        </p:txBody>
      </p:sp>
      <p:sp>
        <p:nvSpPr>
          <p:cNvPr id="10" name="Shape 7"/>
          <p:cNvSpPr/>
          <p:nvPr/>
        </p:nvSpPr>
        <p:spPr>
          <a:xfrm>
            <a:off x="548640" y="3776472"/>
            <a:ext cx="365760" cy="365760"/>
          </a:xfrm>
          <a:prstGeom prst="ellipse">
            <a:avLst/>
          </a:prstGeom>
          <a:solidFill>
            <a:srgbClr val="2E9E6B"/>
          </a:solidFill>
          <a:ln w="12700">
            <a:solidFill>
              <a:srgbClr val="2E9E6B"/>
            </a:solidFill>
            <a:prstDash val="solid"/>
          </a:ln>
        </p:spPr>
      </p:sp>
      <p:sp>
        <p:nvSpPr>
          <p:cNvPr id="11" name="Text 8"/>
          <p:cNvSpPr/>
          <p:nvPr/>
        </p:nvSpPr>
        <p:spPr>
          <a:xfrm>
            <a:off x="548640" y="37764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9"/>
          <p:cNvSpPr/>
          <p:nvPr/>
        </p:nvSpPr>
        <p:spPr>
          <a:xfrm>
            <a:off x="1051560" y="3730752"/>
            <a:ext cx="5257800" cy="777240"/>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Fixes the root cause. </a:t>
            </a:r>
            <a:pPr indent="0" marL="0">
              <a:buNone/>
            </a:pPr>
            <a:r>
              <a:rPr lang="en-US" sz="1200" dirty="0">
                <a:solidFill>
                  <a:srgbClr val="14213D"/>
                </a:solidFill>
                <a:latin typeface="Calibri" pitchFamily="34" charset="0"/>
                <a:ea typeface="Calibri" pitchFamily="34" charset="-122"/>
                <a:cs typeface="Calibri" pitchFamily="34" charset="-120"/>
              </a:rPr>
              <a:t>The root cause is missing farm-level evidence. FarmProof creates exactly that, for every claim.</a:t>
            </a:r>
            <a:endParaRPr lang="en-US" sz="1200" dirty="0"/>
          </a:p>
        </p:txBody>
      </p:sp>
      <p:sp>
        <p:nvSpPr>
          <p:cNvPr id="13" name="Shape 10"/>
          <p:cNvSpPr/>
          <p:nvPr/>
        </p:nvSpPr>
        <p:spPr>
          <a:xfrm>
            <a:off x="548640" y="4645152"/>
            <a:ext cx="365760" cy="365760"/>
          </a:xfrm>
          <a:prstGeom prst="ellipse">
            <a:avLst/>
          </a:prstGeom>
          <a:solidFill>
            <a:srgbClr val="2E9E6B"/>
          </a:solidFill>
          <a:ln w="12700">
            <a:solidFill>
              <a:srgbClr val="2E9E6B"/>
            </a:solidFill>
            <a:prstDash val="solid"/>
          </a:ln>
        </p:spPr>
      </p:sp>
      <p:sp>
        <p:nvSpPr>
          <p:cNvPr id="14" name="Text 11"/>
          <p:cNvSpPr/>
          <p:nvPr/>
        </p:nvSpPr>
        <p:spPr>
          <a:xfrm>
            <a:off x="548640" y="464515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p:nvPr/>
        </p:nvSpPr>
        <p:spPr>
          <a:xfrm>
            <a:off x="1051560" y="4599432"/>
            <a:ext cx="5257800" cy="777240"/>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Buildable in one week. </a:t>
            </a:r>
            <a:pPr indent="0" marL="0">
              <a:buNone/>
            </a:pPr>
            <a:r>
              <a:rPr lang="en-US" sz="1200" dirty="0">
                <a:solidFill>
                  <a:srgbClr val="14213D"/>
                </a:solidFill>
                <a:latin typeface="Calibri" pitchFamily="34" charset="0"/>
                <a:ea typeface="Calibri" pitchFamily="34" charset="-122"/>
                <a:cs typeface="Calibri" pitchFamily="34" charset="-120"/>
              </a:rPr>
              <a:t>Phone camera, GPS, free weather data and a vision-model API. No new hardware and no data deals.</a:t>
            </a:r>
            <a:endParaRPr lang="en-US" sz="1200" dirty="0"/>
          </a:p>
        </p:txBody>
      </p:sp>
      <p:sp>
        <p:nvSpPr>
          <p:cNvPr id="16" name="Shape 13"/>
          <p:cNvSpPr/>
          <p:nvPr/>
        </p:nvSpPr>
        <p:spPr>
          <a:xfrm>
            <a:off x="548640" y="5513832"/>
            <a:ext cx="365760" cy="365760"/>
          </a:xfrm>
          <a:prstGeom prst="ellipse">
            <a:avLst/>
          </a:prstGeom>
          <a:solidFill>
            <a:srgbClr val="2E9E6B"/>
          </a:solidFill>
          <a:ln w="12700">
            <a:solidFill>
              <a:srgbClr val="2E9E6B"/>
            </a:solidFill>
            <a:prstDash val="solid"/>
          </a:ln>
        </p:spPr>
      </p:sp>
      <p:sp>
        <p:nvSpPr>
          <p:cNvPr id="17" name="Text 14"/>
          <p:cNvSpPr/>
          <p:nvPr/>
        </p:nvSpPr>
        <p:spPr>
          <a:xfrm>
            <a:off x="548640" y="551383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5"/>
          <p:cNvSpPr/>
          <p:nvPr/>
        </p:nvSpPr>
        <p:spPr>
          <a:xfrm>
            <a:off x="1051560" y="5468112"/>
            <a:ext cx="5257800" cy="777240"/>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Borrows the best of B and C. </a:t>
            </a:r>
            <a:pPr indent="0" marL="0">
              <a:buNone/>
            </a:pPr>
            <a:r>
              <a:rPr lang="en-US" sz="1200" dirty="0">
                <a:solidFill>
                  <a:srgbClr val="14213D"/>
                </a:solidFill>
                <a:latin typeface="Calibri" pitchFamily="34" charset="0"/>
                <a:ea typeface="Calibri" pitchFamily="34" charset="-122"/>
                <a:cs typeface="Calibri" pitchFamily="34" charset="-120"/>
              </a:rPr>
              <a:t>B's weather check and C's live status become small features, without their cost.</a:t>
            </a:r>
            <a:endParaRPr lang="en-US" sz="1200" dirty="0"/>
          </a:p>
        </p:txBody>
      </p:sp>
      <p:sp>
        <p:nvSpPr>
          <p:cNvPr id="19" name="Text 16"/>
          <p:cNvSpPr/>
          <p:nvPr/>
        </p:nvSpPr>
        <p:spPr>
          <a:xfrm>
            <a:off x="6583680" y="1371600"/>
            <a:ext cx="5029200" cy="228600"/>
          </a:xfrm>
          <a:prstGeom prst="rect">
            <a:avLst/>
          </a:prstGeom>
          <a:noFill/>
          <a:ln/>
        </p:spPr>
        <p:txBody>
          <a:bodyPr wrap="square" lIns="0" tIns="0" rIns="0" bIns="0" rtlCol="0" anchor="t"/>
          <a:lstStyle/>
          <a:p>
            <a:pPr indent="0" marL="0">
              <a:buNone/>
            </a:pPr>
            <a:r>
              <a:rPr lang="en-US" sz="1000" b="1" spc="150" kern="0" dirty="0">
                <a:solidFill>
                  <a:srgbClr val="2E9E6B"/>
                </a:solidFill>
                <a:latin typeface="Calibri" pitchFamily="34" charset="0"/>
                <a:ea typeface="Calibri" pitchFamily="34" charset="-122"/>
                <a:cs typeface="Calibri" pitchFamily="34" charset="-120"/>
              </a:rPr>
              <a:t>HOW WE DIFFER FROM WHAT EXISTS</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583680" y="1691640"/>
          <a:ext cx="5029200" cy="914400"/>
        </p:xfrm>
        <a:graphic>
          <a:graphicData uri="http://schemas.openxmlformats.org/drawingml/2006/table">
            <a:tbl>
              <a:tblPr/>
              <a:tblGrid>
                <a:gridCol w="1371600"/>
                <a:gridCol w="1691640"/>
                <a:gridCol w="196596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Existing approach</a:t>
                      </a:r>
                      <a:endParaRPr lang="en-US" sz="1100" dirty="0">
                        <a:latin typeface="Calibri" charset="0"/>
                        <a:ea typeface="Calibri" charset="0"/>
                        <a:cs typeface="Calibri" charset="0"/>
                      </a:endParaRPr>
                    </a:p>
                  </a:txBody>
                  <a:tcPr marL="91440" marR="91440" marT="45720" marB="45720">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91440" marR="91440" marT="45720" marB="45720">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FarmProof adds</a:t>
                      </a:r>
                      <a:endParaRPr lang="en-US" sz="1100" dirty="0">
                        <a:latin typeface="Calibri" charset="0"/>
                        <a:ea typeface="Calibri" charset="0"/>
                        <a:cs typeface="Calibri" charset="0"/>
                      </a:endParaRPr>
                    </a:p>
                  </a:txBody>
                  <a:tcPr marL="91440" marR="91440" marT="45720" marB="45720">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14213D"/>
                    </a:solidFill>
                  </a:tcPr>
                </a:tc>
              </a:tr>
              <a:tr h="73152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Crop-cutting experiments</a:t>
                      </a:r>
                      <a:endParaRPr lang="en-US" sz="11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Village sample plots, measured weeks later</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Proof for each claiming farm within 72 hours</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E8F5EE"/>
                    </a:solidFill>
                  </a:tcPr>
                </a:tc>
              </a:tr>
              <a:tr h="10058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CROPIC (PMFBY)</a:t>
                      </a:r>
                      <a:endParaRPr lang="en-US" sz="11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Geotagged crop-stage photos plus AI, for monitoring</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Triggered by a damage event, tied to one claim, with weather match and tamper checks</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E8F5EE"/>
                    </a:solidFill>
                  </a:tcPr>
                </a:tc>
              </a:tr>
              <a:tr h="73152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Satellite and drone pilots</a:t>
                      </a:r>
                      <a:endParaRPr lang="en-US" sz="11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Remote and coarse; cloud-limited</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Ground-level proof; satellite can be added later</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E8F5EE"/>
                    </a:solidFill>
                  </a:tcPr>
                </a:tc>
              </a:tr>
              <a:tr h="73152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Claim portals and helplines</a:t>
                      </a:r>
                      <a:endParaRPr lang="en-US" sz="11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Status on request</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Live status for the farmer, in local language</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E8F5EE"/>
                    </a:solidFill>
                  </a:tcPr>
                </a:tc>
              </a:tr>
            </a:tbl>
          </a:graphicData>
        </a:graphic>
      </p:graphicFrame>
      <p:sp>
        <p:nvSpPr>
          <p:cNvPr id="21" name="Shape 17"/>
          <p:cNvSpPr/>
          <p:nvPr/>
        </p:nvSpPr>
        <p:spPr>
          <a:xfrm>
            <a:off x="6583680" y="5440680"/>
            <a:ext cx="5029200" cy="868680"/>
          </a:xfrm>
          <a:prstGeom prst="roundRect">
            <a:avLst>
              <a:gd name="adj" fmla="val 10526"/>
            </a:avLst>
          </a:prstGeom>
          <a:solidFill>
            <a:srgbClr val="FEF3E0"/>
          </a:solidFill>
          <a:ln w="12700">
            <a:solidFill>
              <a:srgbClr val="FEF3E0"/>
            </a:solidFill>
            <a:prstDash val="solid"/>
          </a:ln>
        </p:spPr>
      </p:sp>
      <p:sp>
        <p:nvSpPr>
          <p:cNvPr id="22" name="Text 18"/>
          <p:cNvSpPr/>
          <p:nvPr/>
        </p:nvSpPr>
        <p:spPr>
          <a:xfrm>
            <a:off x="6766560" y="5532120"/>
            <a:ext cx="4663440" cy="731520"/>
          </a:xfrm>
          <a:prstGeom prst="rect">
            <a:avLst/>
          </a:prstGeom>
          <a:noFill/>
          <a:ln/>
        </p:spPr>
        <p:txBody>
          <a:bodyPr wrap="square" lIns="0" tIns="0" rIns="0" bIns="0" rtlCol="0" anchor="t"/>
          <a:lstStyle/>
          <a:p>
            <a:pPr indent="0" marL="0">
              <a:buNone/>
            </a:pPr>
            <a:r>
              <a:rPr lang="en-US" sz="1100" b="1" dirty="0">
                <a:solidFill>
                  <a:srgbClr val="14213D"/>
                </a:solidFill>
                <a:latin typeface="Calibri" pitchFamily="34" charset="0"/>
                <a:ea typeface="Calibri" pitchFamily="34" charset="-122"/>
                <a:cs typeface="Calibri" pitchFamily="34" charset="-120"/>
              </a:rPr>
              <a:t>Not a copy: </a:t>
            </a:r>
            <a:pPr indent="0" marL="0">
              <a:buNone/>
            </a:pPr>
            <a:r>
              <a:rPr lang="en-US" sz="1100" dirty="0">
                <a:solidFill>
                  <a:srgbClr val="14213D"/>
                </a:solidFill>
                <a:latin typeface="Calibri" pitchFamily="34" charset="0"/>
                <a:ea typeface="Calibri" pitchFamily="34" charset="-122"/>
                <a:cs typeface="Calibri" pitchFamily="34" charset="-120"/>
              </a:rPr>
              <a:t>CROPIC shows that photos plus AI are accepted for claims. We focus on the moment of loss and on trust for the farmer and the surveyor.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320040"/>
            <a:ext cx="11064240" cy="868680"/>
          </a:xfrm>
          <a:prstGeom prst="rect">
            <a:avLst/>
          </a:prstGeom>
          <a:noFill/>
          <a:ln/>
        </p:spPr>
        <p:txBody>
          <a:bodyPr wrap="square" lIns="0" tIns="0" rIns="0" bIns="0" rtlCol="0" anchor="t"/>
          <a:lstStyle/>
          <a:p>
            <a:pPr indent="0" marL="0">
              <a:buNone/>
            </a:pPr>
            <a:r>
              <a:rPr lang="en-US" sz="2400" b="1" dirty="0">
                <a:solidFill>
                  <a:srgbClr val="14213D"/>
                </a:solidFill>
                <a:latin typeface="Georgia" pitchFamily="34" charset="0"/>
                <a:ea typeface="Georgia" pitchFamily="34" charset="-122"/>
                <a:cs typeface="Georgia" pitchFamily="34" charset="-120"/>
              </a:rPr>
              <a:t>Six steps from hailstorm to decision, with the 72-hour clock built in</a:t>
            </a:r>
            <a:endParaRPr lang="en-US" sz="2400" dirty="0"/>
          </a:p>
        </p:txBody>
      </p:sp>
      <p:sp>
        <p:nvSpPr>
          <p:cNvPr id="3" name="Text 1"/>
          <p:cNvSpPr/>
          <p:nvPr/>
        </p:nvSpPr>
        <p:spPr>
          <a:xfrm>
            <a:off x="548640" y="6492240"/>
            <a:ext cx="7315200" cy="228600"/>
          </a:xfrm>
          <a:prstGeom prst="rect">
            <a:avLst/>
          </a:prstGeom>
          <a:noFill/>
          <a:ln/>
        </p:spPr>
        <p:txBody>
          <a:bodyPr wrap="square" lIns="0" tIns="0" rIns="0" bIns="0" rtlCol="0" anchor="ctr"/>
          <a:lstStyle/>
          <a:p>
            <a:pPr indent="0" marL="0">
              <a:buNone/>
            </a:pPr>
            <a:r>
              <a:rPr lang="en-US" sz="900" dirty="0">
                <a:solidFill>
                  <a:srgbClr val="5F6B80"/>
                </a:solidFill>
                <a:latin typeface="Calibri" pitchFamily="34" charset="0"/>
                <a:ea typeface="Calibri" pitchFamily="34" charset="-122"/>
                <a:cs typeface="Calibri" pitchFamily="34" charset="-120"/>
              </a:rPr>
              <a:t>IMPACT TANK '26  |  SOLUTION CONCEPT DECK  |  FarmProof  |  Team Nexus.DTU</a:t>
            </a:r>
            <a:endParaRPr lang="en-US" sz="900" dirty="0"/>
          </a:p>
        </p:txBody>
      </p:sp>
      <p:sp>
        <p:nvSpPr>
          <p:cNvPr id="4" name="Text 2"/>
          <p:cNvSpPr/>
          <p:nvPr/>
        </p:nvSpPr>
        <p:spPr>
          <a:xfrm>
            <a:off x="11155680" y="6492240"/>
            <a:ext cx="457200" cy="228600"/>
          </a:xfrm>
          <a:prstGeom prst="rect">
            <a:avLst/>
          </a:prstGeom>
          <a:noFill/>
          <a:ln/>
        </p:spPr>
        <p:txBody>
          <a:bodyPr wrap="square" lIns="0" tIns="0" rIns="0" bIns="0" rtlCol="0" anchor="ctr"/>
          <a:lstStyle/>
          <a:p>
            <a:pPr algn="r" indent="0" marL="0">
              <a:buNone/>
            </a:pPr>
            <a:r>
              <a:rPr lang="en-US" sz="900" dirty="0">
                <a:solidFill>
                  <a:srgbClr val="5F6B80"/>
                </a:solidFill>
                <a:latin typeface="Calibri" pitchFamily="34" charset="0"/>
                <a:ea typeface="Calibri" pitchFamily="34" charset="-122"/>
                <a:cs typeface="Calibri" pitchFamily="34" charset="-120"/>
              </a:rPr>
              <a:t>6</a:t>
            </a:r>
            <a:endParaRPr lang="en-US" sz="900" dirty="0"/>
          </a:p>
        </p:txBody>
      </p:sp>
      <p:sp>
        <p:nvSpPr>
          <p:cNvPr id="6" name="Shape 3"/>
          <p:cNvSpPr/>
          <p:nvPr/>
        </p:nvSpPr>
        <p:spPr>
          <a:xfrm>
            <a:off x="548640" y="1325880"/>
            <a:ext cx="11064240" cy="658368"/>
          </a:xfrm>
          <a:prstGeom prst="roundRect">
            <a:avLst>
              <a:gd name="adj" fmla="val 13889"/>
            </a:avLst>
          </a:prstGeom>
          <a:solidFill>
            <a:srgbClr val="FEF3E0"/>
          </a:solidFill>
          <a:ln w="12700">
            <a:solidFill>
              <a:srgbClr val="FEF3E0"/>
            </a:solidFill>
            <a:prstDash val="solid"/>
          </a:ln>
        </p:spPr>
      </p:sp>
      <p:sp>
        <p:nvSpPr>
          <p:cNvPr id="7" name="Text 4"/>
          <p:cNvSpPr/>
          <p:nvPr/>
        </p:nvSpPr>
        <p:spPr>
          <a:xfrm>
            <a:off x="731520" y="1325880"/>
            <a:ext cx="10698480" cy="658368"/>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Meet Ramulu (illustrative): </a:t>
            </a:r>
            <a:pPr indent="0" marL="0">
              <a:buNone/>
            </a:pPr>
            <a:r>
              <a:rPr lang="en-US" sz="1250" dirty="0">
                <a:solidFill>
                  <a:srgbClr val="14213D"/>
                </a:solidFill>
                <a:latin typeface="Calibri" pitchFamily="34" charset="0"/>
                <a:ea typeface="Calibri" pitchFamily="34" charset="-122"/>
                <a:cs typeface="Calibri" pitchFamily="34" charset="-120"/>
              </a:rPr>
              <a:t>1.2 ha paddy farmer near Warangal, basic Android phone, prefers Telugu. A hailstorm flattens half his crop. He has to prove it, fast.</a:t>
            </a:r>
            <a:endParaRPr lang="en-US" sz="1250" dirty="0"/>
          </a:p>
        </p:txBody>
      </p:sp>
      <p:sp>
        <p:nvSpPr>
          <p:cNvPr id="8" name="Shape 5"/>
          <p:cNvSpPr/>
          <p:nvPr/>
        </p:nvSpPr>
        <p:spPr>
          <a:xfrm>
            <a:off x="1874520" y="2148840"/>
            <a:ext cx="384048" cy="384048"/>
          </a:xfrm>
          <a:prstGeom prst="ellipse">
            <a:avLst/>
          </a:prstGeom>
          <a:solidFill>
            <a:srgbClr val="2E9E6B"/>
          </a:solidFill>
          <a:ln w="12700">
            <a:solidFill>
              <a:srgbClr val="2E9E6B"/>
            </a:solidFill>
            <a:prstDash val="solid"/>
          </a:ln>
        </p:spPr>
      </p:sp>
      <p:sp>
        <p:nvSpPr>
          <p:cNvPr id="9" name="Text 6"/>
          <p:cNvSpPr/>
          <p:nvPr/>
        </p:nvSpPr>
        <p:spPr>
          <a:xfrm>
            <a:off x="1874520" y="21488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2331720" y="2130552"/>
            <a:ext cx="1097280" cy="22860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Damage</a:t>
            </a:r>
            <a:endParaRPr lang="en-US" sz="1300" dirty="0"/>
          </a:p>
        </p:txBody>
      </p:sp>
      <p:sp>
        <p:nvSpPr>
          <p:cNvPr id="11" name="Text 8"/>
          <p:cNvSpPr/>
          <p:nvPr/>
        </p:nvSpPr>
        <p:spPr>
          <a:xfrm>
            <a:off x="2331720" y="2377440"/>
            <a:ext cx="1097280" cy="228600"/>
          </a:xfrm>
          <a:prstGeom prst="rect">
            <a:avLst/>
          </a:prstGeom>
          <a:noFill/>
          <a:ln/>
        </p:spPr>
        <p:txBody>
          <a:bodyPr wrap="square" lIns="0" tIns="0" rIns="0" bIns="0" rtlCol="0" anchor="t"/>
          <a:lstStyle/>
          <a:p>
            <a:pPr indent="0" marL="0">
              <a:buNone/>
            </a:pPr>
            <a:r>
              <a:rPr lang="en-US" sz="1050" dirty="0">
                <a:solidFill>
                  <a:srgbClr val="5F6B80"/>
                </a:solidFill>
                <a:latin typeface="Calibri" pitchFamily="34" charset="0"/>
                <a:ea typeface="Calibri" pitchFamily="34" charset="-122"/>
                <a:cs typeface="Calibri" pitchFamily="34" charset="-120"/>
              </a:rPr>
              <a:t>Hour 0</a:t>
            </a:r>
            <a:endParaRPr lang="en-US" sz="1050" dirty="0"/>
          </a:p>
        </p:txBody>
      </p:sp>
      <p:sp>
        <p:nvSpPr>
          <p:cNvPr id="12" name="Shape 9"/>
          <p:cNvSpPr/>
          <p:nvPr/>
        </p:nvSpPr>
        <p:spPr>
          <a:xfrm>
            <a:off x="3200400" y="2340864"/>
            <a:ext cx="274320" cy="0"/>
          </a:xfrm>
          <a:prstGeom prst="line">
            <a:avLst/>
          </a:prstGeom>
          <a:noFill/>
          <a:ln w="19050">
            <a:solidFill>
              <a:srgbClr val="2E9E6B"/>
            </a:solidFill>
            <a:prstDash val="solid"/>
            <a:tailEnd type="triangle"/>
          </a:ln>
        </p:spPr>
      </p:sp>
      <p:sp>
        <p:nvSpPr>
          <p:cNvPr id="13" name="Shape 10"/>
          <p:cNvSpPr/>
          <p:nvPr/>
        </p:nvSpPr>
        <p:spPr>
          <a:xfrm>
            <a:off x="3502152" y="2148840"/>
            <a:ext cx="384048" cy="384048"/>
          </a:xfrm>
          <a:prstGeom prst="ellipse">
            <a:avLst/>
          </a:prstGeom>
          <a:solidFill>
            <a:srgbClr val="2E9E6B"/>
          </a:solidFill>
          <a:ln w="12700">
            <a:solidFill>
              <a:srgbClr val="2E9E6B"/>
            </a:solidFill>
            <a:prstDash val="solid"/>
          </a:ln>
        </p:spPr>
      </p:sp>
      <p:sp>
        <p:nvSpPr>
          <p:cNvPr id="14" name="Text 11"/>
          <p:cNvSpPr/>
          <p:nvPr/>
        </p:nvSpPr>
        <p:spPr>
          <a:xfrm>
            <a:off x="3502152" y="21488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p:nvPr/>
        </p:nvSpPr>
        <p:spPr>
          <a:xfrm>
            <a:off x="3959352" y="2130552"/>
            <a:ext cx="1097280" cy="22860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Report</a:t>
            </a:r>
            <a:endParaRPr lang="en-US" sz="1300" dirty="0"/>
          </a:p>
        </p:txBody>
      </p:sp>
      <p:sp>
        <p:nvSpPr>
          <p:cNvPr id="16" name="Text 13"/>
          <p:cNvSpPr/>
          <p:nvPr/>
        </p:nvSpPr>
        <p:spPr>
          <a:xfrm>
            <a:off x="3959352" y="2377440"/>
            <a:ext cx="1097280" cy="228600"/>
          </a:xfrm>
          <a:prstGeom prst="rect">
            <a:avLst/>
          </a:prstGeom>
          <a:noFill/>
          <a:ln/>
        </p:spPr>
        <p:txBody>
          <a:bodyPr wrap="square" lIns="0" tIns="0" rIns="0" bIns="0" rtlCol="0" anchor="t"/>
          <a:lstStyle/>
          <a:p>
            <a:pPr indent="0" marL="0">
              <a:buNone/>
            </a:pPr>
            <a:r>
              <a:rPr lang="en-US" sz="1050" dirty="0">
                <a:solidFill>
                  <a:srgbClr val="5F6B80"/>
                </a:solidFill>
                <a:latin typeface="Calibri" pitchFamily="34" charset="0"/>
                <a:ea typeface="Calibri" pitchFamily="34" charset="-122"/>
                <a:cs typeface="Calibri" pitchFamily="34" charset="-120"/>
              </a:rPr>
              <a:t>Within 72 hrs</a:t>
            </a:r>
            <a:endParaRPr lang="en-US" sz="1050" dirty="0"/>
          </a:p>
        </p:txBody>
      </p:sp>
      <p:sp>
        <p:nvSpPr>
          <p:cNvPr id="17" name="Shape 14"/>
          <p:cNvSpPr/>
          <p:nvPr/>
        </p:nvSpPr>
        <p:spPr>
          <a:xfrm>
            <a:off x="4828032" y="2340864"/>
            <a:ext cx="274320" cy="0"/>
          </a:xfrm>
          <a:prstGeom prst="line">
            <a:avLst/>
          </a:prstGeom>
          <a:noFill/>
          <a:ln w="19050">
            <a:solidFill>
              <a:srgbClr val="2E9E6B"/>
            </a:solidFill>
            <a:prstDash val="solid"/>
            <a:tailEnd type="triangle"/>
          </a:ln>
        </p:spPr>
      </p:sp>
      <p:sp>
        <p:nvSpPr>
          <p:cNvPr id="18" name="Shape 15"/>
          <p:cNvSpPr/>
          <p:nvPr/>
        </p:nvSpPr>
        <p:spPr>
          <a:xfrm>
            <a:off x="5129784" y="2148840"/>
            <a:ext cx="384048" cy="384048"/>
          </a:xfrm>
          <a:prstGeom prst="ellipse">
            <a:avLst/>
          </a:prstGeom>
          <a:solidFill>
            <a:srgbClr val="2E9E6B"/>
          </a:solidFill>
          <a:ln w="12700">
            <a:solidFill>
              <a:srgbClr val="2E9E6B"/>
            </a:solidFill>
            <a:prstDash val="solid"/>
          </a:ln>
        </p:spPr>
      </p:sp>
      <p:sp>
        <p:nvSpPr>
          <p:cNvPr id="19" name="Text 16"/>
          <p:cNvSpPr/>
          <p:nvPr/>
        </p:nvSpPr>
        <p:spPr>
          <a:xfrm>
            <a:off x="5129784" y="21488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7"/>
          <p:cNvSpPr/>
          <p:nvPr/>
        </p:nvSpPr>
        <p:spPr>
          <a:xfrm>
            <a:off x="5586984" y="2130552"/>
            <a:ext cx="1097280" cy="22860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Capture</a:t>
            </a:r>
            <a:endParaRPr lang="en-US" sz="1300" dirty="0"/>
          </a:p>
        </p:txBody>
      </p:sp>
      <p:sp>
        <p:nvSpPr>
          <p:cNvPr id="21" name="Text 18"/>
          <p:cNvSpPr/>
          <p:nvPr/>
        </p:nvSpPr>
        <p:spPr>
          <a:xfrm>
            <a:off x="5586984" y="2377440"/>
            <a:ext cx="1097280" cy="228600"/>
          </a:xfrm>
          <a:prstGeom prst="rect">
            <a:avLst/>
          </a:prstGeom>
          <a:noFill/>
          <a:ln/>
        </p:spPr>
        <p:txBody>
          <a:bodyPr wrap="square" lIns="0" tIns="0" rIns="0" bIns="0" rtlCol="0" anchor="t"/>
          <a:lstStyle/>
          <a:p>
            <a:pPr indent="0" marL="0">
              <a:buNone/>
            </a:pPr>
            <a:r>
              <a:rPr lang="en-US" sz="1050" dirty="0">
                <a:solidFill>
                  <a:srgbClr val="5F6B80"/>
                </a:solidFill>
                <a:latin typeface="Calibri" pitchFamily="34" charset="0"/>
                <a:ea typeface="Calibri" pitchFamily="34" charset="-122"/>
                <a:cs typeface="Calibri" pitchFamily="34" charset="-120"/>
              </a:rPr>
              <a:t>Same visit</a:t>
            </a:r>
            <a:endParaRPr lang="en-US" sz="1050" dirty="0"/>
          </a:p>
        </p:txBody>
      </p:sp>
      <p:sp>
        <p:nvSpPr>
          <p:cNvPr id="22" name="Shape 19"/>
          <p:cNvSpPr/>
          <p:nvPr/>
        </p:nvSpPr>
        <p:spPr>
          <a:xfrm>
            <a:off x="6455664" y="2340864"/>
            <a:ext cx="274320" cy="0"/>
          </a:xfrm>
          <a:prstGeom prst="line">
            <a:avLst/>
          </a:prstGeom>
          <a:noFill/>
          <a:ln w="19050">
            <a:solidFill>
              <a:srgbClr val="2E9E6B"/>
            </a:solidFill>
            <a:prstDash val="solid"/>
            <a:tailEnd type="triangle"/>
          </a:ln>
        </p:spPr>
      </p:sp>
      <p:sp>
        <p:nvSpPr>
          <p:cNvPr id="23" name="Shape 20"/>
          <p:cNvSpPr/>
          <p:nvPr/>
        </p:nvSpPr>
        <p:spPr>
          <a:xfrm>
            <a:off x="6757416" y="2148840"/>
            <a:ext cx="384048" cy="384048"/>
          </a:xfrm>
          <a:prstGeom prst="ellipse">
            <a:avLst/>
          </a:prstGeom>
          <a:solidFill>
            <a:srgbClr val="2E9E6B"/>
          </a:solidFill>
          <a:ln w="12700">
            <a:solidFill>
              <a:srgbClr val="2E9E6B"/>
            </a:solidFill>
            <a:prstDash val="solid"/>
          </a:ln>
        </p:spPr>
      </p:sp>
      <p:sp>
        <p:nvSpPr>
          <p:cNvPr id="24" name="Text 21"/>
          <p:cNvSpPr/>
          <p:nvPr/>
        </p:nvSpPr>
        <p:spPr>
          <a:xfrm>
            <a:off x="6757416" y="21488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2"/>
          <p:cNvSpPr/>
          <p:nvPr/>
        </p:nvSpPr>
        <p:spPr>
          <a:xfrm>
            <a:off x="7214616" y="2130552"/>
            <a:ext cx="1097280" cy="22860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Check</a:t>
            </a:r>
            <a:endParaRPr lang="en-US" sz="1300" dirty="0"/>
          </a:p>
        </p:txBody>
      </p:sp>
      <p:sp>
        <p:nvSpPr>
          <p:cNvPr id="26" name="Text 23"/>
          <p:cNvSpPr/>
          <p:nvPr/>
        </p:nvSpPr>
        <p:spPr>
          <a:xfrm>
            <a:off x="7214616" y="2377440"/>
            <a:ext cx="1097280" cy="228600"/>
          </a:xfrm>
          <a:prstGeom prst="rect">
            <a:avLst/>
          </a:prstGeom>
          <a:noFill/>
          <a:ln/>
        </p:spPr>
        <p:txBody>
          <a:bodyPr wrap="square" lIns="0" tIns="0" rIns="0" bIns="0" rtlCol="0" anchor="t"/>
          <a:lstStyle/>
          <a:p>
            <a:pPr indent="0" marL="0">
              <a:buNone/>
            </a:pPr>
            <a:r>
              <a:rPr lang="en-US" sz="1050" dirty="0">
                <a:solidFill>
                  <a:srgbClr val="5F6B80"/>
                </a:solidFill>
                <a:latin typeface="Calibri" pitchFamily="34" charset="0"/>
                <a:ea typeface="Calibri" pitchFamily="34" charset="-122"/>
                <a:cs typeface="Calibri" pitchFamily="34" charset="-120"/>
              </a:rPr>
              <a:t>Minutes</a:t>
            </a:r>
            <a:endParaRPr lang="en-US" sz="1050" dirty="0"/>
          </a:p>
        </p:txBody>
      </p:sp>
      <p:sp>
        <p:nvSpPr>
          <p:cNvPr id="27" name="Shape 24"/>
          <p:cNvSpPr/>
          <p:nvPr/>
        </p:nvSpPr>
        <p:spPr>
          <a:xfrm>
            <a:off x="8083296" y="2340864"/>
            <a:ext cx="274320" cy="0"/>
          </a:xfrm>
          <a:prstGeom prst="line">
            <a:avLst/>
          </a:prstGeom>
          <a:noFill/>
          <a:ln w="19050">
            <a:solidFill>
              <a:srgbClr val="2E9E6B"/>
            </a:solidFill>
            <a:prstDash val="solid"/>
            <a:tailEnd type="triangle"/>
          </a:ln>
        </p:spPr>
      </p:sp>
      <p:sp>
        <p:nvSpPr>
          <p:cNvPr id="28" name="Shape 25"/>
          <p:cNvSpPr/>
          <p:nvPr/>
        </p:nvSpPr>
        <p:spPr>
          <a:xfrm>
            <a:off x="8385048" y="2148840"/>
            <a:ext cx="384048" cy="384048"/>
          </a:xfrm>
          <a:prstGeom prst="ellipse">
            <a:avLst/>
          </a:prstGeom>
          <a:solidFill>
            <a:srgbClr val="2E9E6B"/>
          </a:solidFill>
          <a:ln w="12700">
            <a:solidFill>
              <a:srgbClr val="2E9E6B"/>
            </a:solidFill>
            <a:prstDash val="solid"/>
          </a:ln>
        </p:spPr>
      </p:sp>
      <p:sp>
        <p:nvSpPr>
          <p:cNvPr id="29" name="Text 26"/>
          <p:cNvSpPr/>
          <p:nvPr/>
        </p:nvSpPr>
        <p:spPr>
          <a:xfrm>
            <a:off x="8385048" y="21488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7"/>
          <p:cNvSpPr/>
          <p:nvPr/>
        </p:nvSpPr>
        <p:spPr>
          <a:xfrm>
            <a:off x="8842248" y="2130552"/>
            <a:ext cx="1097280" cy="22860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Review</a:t>
            </a:r>
            <a:endParaRPr lang="en-US" sz="1300" dirty="0"/>
          </a:p>
        </p:txBody>
      </p:sp>
      <p:sp>
        <p:nvSpPr>
          <p:cNvPr id="31" name="Text 28"/>
          <p:cNvSpPr/>
          <p:nvPr/>
        </p:nvSpPr>
        <p:spPr>
          <a:xfrm>
            <a:off x="8842248" y="2377440"/>
            <a:ext cx="1097280" cy="228600"/>
          </a:xfrm>
          <a:prstGeom prst="rect">
            <a:avLst/>
          </a:prstGeom>
          <a:noFill/>
          <a:ln/>
        </p:spPr>
        <p:txBody>
          <a:bodyPr wrap="square" lIns="0" tIns="0" rIns="0" bIns="0" rtlCol="0" anchor="t"/>
          <a:lstStyle/>
          <a:p>
            <a:pPr indent="0" marL="0">
              <a:buNone/>
            </a:pPr>
            <a:r>
              <a:rPr lang="en-US" sz="1050" dirty="0">
                <a:solidFill>
                  <a:srgbClr val="5F6B80"/>
                </a:solidFill>
                <a:latin typeface="Calibri" pitchFamily="34" charset="0"/>
                <a:ea typeface="Calibri" pitchFamily="34" charset="-122"/>
                <a:cs typeface="Calibri" pitchFamily="34" charset="-120"/>
              </a:rPr>
              <a:t>Days 1 to 3</a:t>
            </a:r>
            <a:endParaRPr lang="en-US" sz="1050" dirty="0"/>
          </a:p>
        </p:txBody>
      </p:sp>
      <p:sp>
        <p:nvSpPr>
          <p:cNvPr id="32" name="Shape 29"/>
          <p:cNvSpPr/>
          <p:nvPr/>
        </p:nvSpPr>
        <p:spPr>
          <a:xfrm>
            <a:off x="9710928" y="2340864"/>
            <a:ext cx="274320" cy="0"/>
          </a:xfrm>
          <a:prstGeom prst="line">
            <a:avLst/>
          </a:prstGeom>
          <a:noFill/>
          <a:ln w="19050">
            <a:solidFill>
              <a:srgbClr val="2E9E6B"/>
            </a:solidFill>
            <a:prstDash val="solid"/>
            <a:tailEnd type="triangle"/>
          </a:ln>
        </p:spPr>
      </p:sp>
      <p:sp>
        <p:nvSpPr>
          <p:cNvPr id="33" name="Shape 30"/>
          <p:cNvSpPr/>
          <p:nvPr/>
        </p:nvSpPr>
        <p:spPr>
          <a:xfrm>
            <a:off x="10012680" y="2148840"/>
            <a:ext cx="384048" cy="384048"/>
          </a:xfrm>
          <a:prstGeom prst="ellipse">
            <a:avLst/>
          </a:prstGeom>
          <a:solidFill>
            <a:srgbClr val="2E9E6B"/>
          </a:solidFill>
          <a:ln w="12700">
            <a:solidFill>
              <a:srgbClr val="2E9E6B"/>
            </a:solidFill>
            <a:prstDash val="solid"/>
          </a:ln>
        </p:spPr>
      </p:sp>
      <p:sp>
        <p:nvSpPr>
          <p:cNvPr id="34" name="Text 31"/>
          <p:cNvSpPr/>
          <p:nvPr/>
        </p:nvSpPr>
        <p:spPr>
          <a:xfrm>
            <a:off x="10012680" y="21488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5" name="Text 32"/>
          <p:cNvSpPr/>
          <p:nvPr/>
        </p:nvSpPr>
        <p:spPr>
          <a:xfrm>
            <a:off x="10469880" y="2130552"/>
            <a:ext cx="1097280" cy="22860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Decision</a:t>
            </a:r>
            <a:endParaRPr lang="en-US" sz="1300" dirty="0"/>
          </a:p>
        </p:txBody>
      </p:sp>
      <p:sp>
        <p:nvSpPr>
          <p:cNvPr id="36" name="Text 33"/>
          <p:cNvSpPr/>
          <p:nvPr/>
        </p:nvSpPr>
        <p:spPr>
          <a:xfrm>
            <a:off x="10469880" y="2377440"/>
            <a:ext cx="1097280" cy="228600"/>
          </a:xfrm>
          <a:prstGeom prst="rect">
            <a:avLst/>
          </a:prstGeom>
          <a:noFill/>
          <a:ln/>
        </p:spPr>
        <p:txBody>
          <a:bodyPr wrap="square" lIns="0" tIns="0" rIns="0" bIns="0" rtlCol="0" anchor="t"/>
          <a:lstStyle/>
          <a:p>
            <a:pPr indent="0" marL="0">
              <a:buNone/>
            </a:pPr>
            <a:r>
              <a:rPr lang="en-US" sz="1050" dirty="0">
                <a:solidFill>
                  <a:srgbClr val="5F6B80"/>
                </a:solidFill>
                <a:latin typeface="Calibri" pitchFamily="34" charset="0"/>
                <a:ea typeface="Calibri" pitchFamily="34" charset="-122"/>
                <a:cs typeface="Calibri" pitchFamily="34" charset="-120"/>
              </a:rPr>
              <a:t>Insurer timeline</a:t>
            </a:r>
            <a:endParaRPr lang="en-US" sz="1050" dirty="0"/>
          </a:p>
        </p:txBody>
      </p:sp>
      <p:sp>
        <p:nvSpPr>
          <p:cNvPr id="37" name="Text 34"/>
          <p:cNvSpPr/>
          <p:nvPr/>
        </p:nvSpPr>
        <p:spPr>
          <a:xfrm>
            <a:off x="548640" y="2788920"/>
            <a:ext cx="1188720" cy="1051560"/>
          </a:xfrm>
          <a:prstGeom prst="rect">
            <a:avLst/>
          </a:prstGeom>
          <a:noFill/>
          <a:ln/>
        </p:spPr>
        <p:txBody>
          <a:bodyPr wrap="square" lIns="0" tIns="0" rIns="0" bIns="0" rtlCol="0" anchor="ctr"/>
          <a:lstStyle/>
          <a:p>
            <a:pPr indent="0" marL="0">
              <a:buNone/>
            </a:pPr>
            <a:r>
              <a:rPr lang="en-US" sz="1000" b="1" spc="100" kern="0" dirty="0">
                <a:solidFill>
                  <a:srgbClr val="2E9E6B"/>
                </a:solidFill>
                <a:latin typeface="Calibri" pitchFamily="34" charset="0"/>
                <a:ea typeface="Calibri" pitchFamily="34" charset="-122"/>
                <a:cs typeface="Calibri" pitchFamily="34" charset="-120"/>
              </a:rPr>
              <a:t>FARMER DOES</a:t>
            </a:r>
            <a:endParaRPr lang="en-US" sz="1000" dirty="0"/>
          </a:p>
        </p:txBody>
      </p:sp>
      <p:sp>
        <p:nvSpPr>
          <p:cNvPr id="38" name="Shape 35"/>
          <p:cNvSpPr/>
          <p:nvPr/>
        </p:nvSpPr>
        <p:spPr>
          <a:xfrm>
            <a:off x="1828800" y="2788920"/>
            <a:ext cx="1536192" cy="1051560"/>
          </a:xfrm>
          <a:prstGeom prst="roundRect">
            <a:avLst>
              <a:gd name="adj" fmla="val 8696"/>
            </a:avLst>
          </a:prstGeom>
          <a:solidFill>
            <a:srgbClr val="FFFFFF"/>
          </a:solidFill>
          <a:ln w="12700">
            <a:solidFill>
              <a:srgbClr val="FFFFFF"/>
            </a:solidFill>
            <a:prstDash val="solid"/>
          </a:ln>
        </p:spPr>
      </p:sp>
      <p:sp>
        <p:nvSpPr>
          <p:cNvPr id="39" name="Text 36"/>
          <p:cNvSpPr/>
          <p:nvPr/>
        </p:nvSpPr>
        <p:spPr>
          <a:xfrm>
            <a:off x="1920240" y="2834640"/>
            <a:ext cx="1353312" cy="96012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Hail flattens half his paddy plot.</a:t>
            </a:r>
            <a:endParaRPr lang="en-US" sz="1100" dirty="0"/>
          </a:p>
        </p:txBody>
      </p:sp>
      <p:sp>
        <p:nvSpPr>
          <p:cNvPr id="40" name="Shape 37"/>
          <p:cNvSpPr/>
          <p:nvPr/>
        </p:nvSpPr>
        <p:spPr>
          <a:xfrm>
            <a:off x="3456432" y="2788920"/>
            <a:ext cx="1536192" cy="1051560"/>
          </a:xfrm>
          <a:prstGeom prst="roundRect">
            <a:avLst>
              <a:gd name="adj" fmla="val 8696"/>
            </a:avLst>
          </a:prstGeom>
          <a:solidFill>
            <a:srgbClr val="FFFFFF"/>
          </a:solidFill>
          <a:ln w="12700">
            <a:solidFill>
              <a:srgbClr val="FFFFFF"/>
            </a:solidFill>
            <a:prstDash val="solid"/>
          </a:ln>
        </p:spPr>
      </p:sp>
      <p:sp>
        <p:nvSpPr>
          <p:cNvPr id="41" name="Text 38"/>
          <p:cNvSpPr/>
          <p:nvPr/>
        </p:nvSpPr>
        <p:spPr>
          <a:xfrm>
            <a:off x="3547872" y="2834640"/>
            <a:ext cx="1353312" cy="96012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Opens the app, picks the cause (hail) and crop, pins his plot on the map.</a:t>
            </a:r>
            <a:endParaRPr lang="en-US" sz="1100" dirty="0"/>
          </a:p>
        </p:txBody>
      </p:sp>
      <p:sp>
        <p:nvSpPr>
          <p:cNvPr id="42" name="Shape 39"/>
          <p:cNvSpPr/>
          <p:nvPr/>
        </p:nvSpPr>
        <p:spPr>
          <a:xfrm>
            <a:off x="5084064" y="2788920"/>
            <a:ext cx="1536192" cy="1051560"/>
          </a:xfrm>
          <a:prstGeom prst="roundRect">
            <a:avLst>
              <a:gd name="adj" fmla="val 8696"/>
            </a:avLst>
          </a:prstGeom>
          <a:solidFill>
            <a:srgbClr val="FFFFFF"/>
          </a:solidFill>
          <a:ln w="12700">
            <a:solidFill>
              <a:srgbClr val="FFFFFF"/>
            </a:solidFill>
            <a:prstDash val="solid"/>
          </a:ln>
        </p:spPr>
      </p:sp>
      <p:sp>
        <p:nvSpPr>
          <p:cNvPr id="43" name="Text 40"/>
          <p:cNvSpPr/>
          <p:nvPr/>
        </p:nvSpPr>
        <p:spPr>
          <a:xfrm>
            <a:off x="5175504" y="2834640"/>
            <a:ext cx="1353312" cy="96012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Follows prompts for 5 live photos: wide, close-up, plant count, boundary.</a:t>
            </a:r>
            <a:endParaRPr lang="en-US" sz="1100" dirty="0"/>
          </a:p>
        </p:txBody>
      </p:sp>
      <p:sp>
        <p:nvSpPr>
          <p:cNvPr id="44" name="Shape 41"/>
          <p:cNvSpPr/>
          <p:nvPr/>
        </p:nvSpPr>
        <p:spPr>
          <a:xfrm>
            <a:off x="6711696" y="2788920"/>
            <a:ext cx="1536192" cy="1051560"/>
          </a:xfrm>
          <a:prstGeom prst="roundRect">
            <a:avLst>
              <a:gd name="adj" fmla="val 8696"/>
            </a:avLst>
          </a:prstGeom>
          <a:solidFill>
            <a:srgbClr val="FFFFFF"/>
          </a:solidFill>
          <a:ln w="12700">
            <a:solidFill>
              <a:srgbClr val="FFFFFF"/>
            </a:solidFill>
            <a:prstDash val="solid"/>
          </a:ln>
        </p:spPr>
      </p:sp>
      <p:sp>
        <p:nvSpPr>
          <p:cNvPr id="45" name="Text 42"/>
          <p:cNvSpPr/>
          <p:nvPr/>
        </p:nvSpPr>
        <p:spPr>
          <a:xfrm>
            <a:off x="6803136" y="2834640"/>
            <a:ext cx="1353312" cy="96012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Taps Submit.</a:t>
            </a:r>
            <a:endParaRPr lang="en-US" sz="1100" dirty="0"/>
          </a:p>
        </p:txBody>
      </p:sp>
      <p:sp>
        <p:nvSpPr>
          <p:cNvPr id="46" name="Shape 43"/>
          <p:cNvSpPr/>
          <p:nvPr/>
        </p:nvSpPr>
        <p:spPr>
          <a:xfrm>
            <a:off x="8339328" y="2788920"/>
            <a:ext cx="1536192" cy="1051560"/>
          </a:xfrm>
          <a:prstGeom prst="roundRect">
            <a:avLst>
              <a:gd name="adj" fmla="val 8696"/>
            </a:avLst>
          </a:prstGeom>
          <a:solidFill>
            <a:srgbClr val="FFFFFF"/>
          </a:solidFill>
          <a:ln w="12700">
            <a:solidFill>
              <a:srgbClr val="FFFFFF"/>
            </a:solidFill>
            <a:prstDash val="solid"/>
          </a:ln>
        </p:spPr>
      </p:sp>
      <p:sp>
        <p:nvSpPr>
          <p:cNvPr id="47" name="Text 44"/>
          <p:cNvSpPr/>
          <p:nvPr/>
        </p:nvSpPr>
        <p:spPr>
          <a:xfrm>
            <a:off x="8430768" y="2834640"/>
            <a:ext cx="1353312" cy="96012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Gets an SMS: claim received.</a:t>
            </a:r>
            <a:endParaRPr lang="en-US" sz="1100" dirty="0"/>
          </a:p>
        </p:txBody>
      </p:sp>
      <p:sp>
        <p:nvSpPr>
          <p:cNvPr id="48" name="Shape 45"/>
          <p:cNvSpPr/>
          <p:nvPr/>
        </p:nvSpPr>
        <p:spPr>
          <a:xfrm>
            <a:off x="9966960" y="2788920"/>
            <a:ext cx="1536192" cy="1051560"/>
          </a:xfrm>
          <a:prstGeom prst="roundRect">
            <a:avLst>
              <a:gd name="adj" fmla="val 8696"/>
            </a:avLst>
          </a:prstGeom>
          <a:solidFill>
            <a:srgbClr val="FFFFFF"/>
          </a:solidFill>
          <a:ln w="12700">
            <a:solidFill>
              <a:srgbClr val="FFFFFF"/>
            </a:solidFill>
            <a:prstDash val="solid"/>
          </a:ln>
        </p:spPr>
      </p:sp>
      <p:sp>
        <p:nvSpPr>
          <p:cNvPr id="49" name="Text 46"/>
          <p:cNvSpPr/>
          <p:nvPr/>
        </p:nvSpPr>
        <p:spPr>
          <a:xfrm>
            <a:off x="10058400" y="2834640"/>
            <a:ext cx="1353312" cy="96012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Tracks status; gets decision and payout alert.</a:t>
            </a:r>
            <a:endParaRPr lang="en-US" sz="1100" dirty="0"/>
          </a:p>
        </p:txBody>
      </p:sp>
      <p:sp>
        <p:nvSpPr>
          <p:cNvPr id="50" name="Text 47"/>
          <p:cNvSpPr/>
          <p:nvPr/>
        </p:nvSpPr>
        <p:spPr>
          <a:xfrm>
            <a:off x="548640" y="3931920"/>
            <a:ext cx="1188720" cy="1097280"/>
          </a:xfrm>
          <a:prstGeom prst="rect">
            <a:avLst/>
          </a:prstGeom>
          <a:noFill/>
          <a:ln/>
        </p:spPr>
        <p:txBody>
          <a:bodyPr wrap="square" lIns="0" tIns="0" rIns="0" bIns="0" rtlCol="0" anchor="ctr"/>
          <a:lstStyle/>
          <a:p>
            <a:pPr indent="0" marL="0">
              <a:buNone/>
            </a:pPr>
            <a:r>
              <a:rPr lang="en-US" sz="1000" b="1" spc="100" kern="0" dirty="0">
                <a:solidFill>
                  <a:srgbClr val="2E9E6B"/>
                </a:solidFill>
                <a:latin typeface="Calibri" pitchFamily="34" charset="0"/>
                <a:ea typeface="Calibri" pitchFamily="34" charset="-122"/>
                <a:cs typeface="Calibri" pitchFamily="34" charset="-120"/>
              </a:rPr>
              <a:t>APP DOES</a:t>
            </a:r>
            <a:endParaRPr lang="en-US" sz="1000" dirty="0"/>
          </a:p>
        </p:txBody>
      </p:sp>
      <p:sp>
        <p:nvSpPr>
          <p:cNvPr id="51" name="Shape 48"/>
          <p:cNvSpPr/>
          <p:nvPr/>
        </p:nvSpPr>
        <p:spPr>
          <a:xfrm>
            <a:off x="1828800" y="3931920"/>
            <a:ext cx="1536192" cy="1097280"/>
          </a:xfrm>
          <a:prstGeom prst="roundRect">
            <a:avLst>
              <a:gd name="adj" fmla="val 8333"/>
            </a:avLst>
          </a:prstGeom>
          <a:solidFill>
            <a:srgbClr val="EEF2F8"/>
          </a:solidFill>
          <a:ln w="12700">
            <a:solidFill>
              <a:srgbClr val="EEF2F8"/>
            </a:solidFill>
            <a:prstDash val="solid"/>
          </a:ln>
        </p:spPr>
      </p:sp>
      <p:sp>
        <p:nvSpPr>
          <p:cNvPr id="52" name="Shape 49"/>
          <p:cNvSpPr/>
          <p:nvPr/>
        </p:nvSpPr>
        <p:spPr>
          <a:xfrm>
            <a:off x="3456432" y="3931920"/>
            <a:ext cx="1536192" cy="1097280"/>
          </a:xfrm>
          <a:prstGeom prst="roundRect">
            <a:avLst>
              <a:gd name="adj" fmla="val 8333"/>
            </a:avLst>
          </a:prstGeom>
          <a:solidFill>
            <a:srgbClr val="FFFFFF"/>
          </a:solidFill>
          <a:ln w="12700">
            <a:solidFill>
              <a:srgbClr val="FFFFFF"/>
            </a:solidFill>
            <a:prstDash val="solid"/>
          </a:ln>
        </p:spPr>
      </p:sp>
      <p:sp>
        <p:nvSpPr>
          <p:cNvPr id="53" name="Text 50"/>
          <p:cNvSpPr/>
          <p:nvPr/>
        </p:nvSpPr>
        <p:spPr>
          <a:xfrm>
            <a:off x="3547872" y="3977640"/>
            <a:ext cx="1353312" cy="100584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Starts the 72-hour clock. Saves offline if there is no signal.</a:t>
            </a:r>
            <a:endParaRPr lang="en-US" sz="1100" dirty="0"/>
          </a:p>
        </p:txBody>
      </p:sp>
      <p:sp>
        <p:nvSpPr>
          <p:cNvPr id="54" name="Shape 51"/>
          <p:cNvSpPr/>
          <p:nvPr/>
        </p:nvSpPr>
        <p:spPr>
          <a:xfrm>
            <a:off x="5084064" y="3931920"/>
            <a:ext cx="1536192" cy="1097280"/>
          </a:xfrm>
          <a:prstGeom prst="roundRect">
            <a:avLst>
              <a:gd name="adj" fmla="val 8333"/>
            </a:avLst>
          </a:prstGeom>
          <a:solidFill>
            <a:srgbClr val="FFFFFF"/>
          </a:solidFill>
          <a:ln w="12700">
            <a:solidFill>
              <a:srgbClr val="FFFFFF"/>
            </a:solidFill>
            <a:prstDash val="solid"/>
          </a:ln>
        </p:spPr>
      </p:sp>
      <p:sp>
        <p:nvSpPr>
          <p:cNvPr id="55" name="Text 52"/>
          <p:cNvSpPr/>
          <p:nvPr/>
        </p:nvSpPr>
        <p:spPr>
          <a:xfrm>
            <a:off x="5175504" y="3977640"/>
            <a:ext cx="1353312" cy="100584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Locks GPS and time on each photo. Blocks gallery uploads.</a:t>
            </a:r>
            <a:endParaRPr lang="en-US" sz="1100" dirty="0"/>
          </a:p>
        </p:txBody>
      </p:sp>
      <p:sp>
        <p:nvSpPr>
          <p:cNvPr id="56" name="Shape 53"/>
          <p:cNvSpPr/>
          <p:nvPr/>
        </p:nvSpPr>
        <p:spPr>
          <a:xfrm>
            <a:off x="6711696" y="3931920"/>
            <a:ext cx="1536192" cy="1097280"/>
          </a:xfrm>
          <a:prstGeom prst="roundRect">
            <a:avLst>
              <a:gd name="adj" fmla="val 8333"/>
            </a:avLst>
          </a:prstGeom>
          <a:solidFill>
            <a:srgbClr val="FFFFFF"/>
          </a:solidFill>
          <a:ln w="12700">
            <a:solidFill>
              <a:srgbClr val="FFFFFF"/>
            </a:solidFill>
            <a:prstDash val="solid"/>
          </a:ln>
        </p:spPr>
      </p:sp>
      <p:sp>
        <p:nvSpPr>
          <p:cNvPr id="57" name="Text 54"/>
          <p:cNvSpPr/>
          <p:nvPr/>
        </p:nvSpPr>
        <p:spPr>
          <a:xfrm>
            <a:off x="6803136" y="3977640"/>
            <a:ext cx="1353312" cy="100584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AI rates the damage band. Checks rain and hail record near the plot for that date.</a:t>
            </a:r>
            <a:endParaRPr lang="en-US" sz="1100" dirty="0"/>
          </a:p>
        </p:txBody>
      </p:sp>
      <p:sp>
        <p:nvSpPr>
          <p:cNvPr id="58" name="Shape 55"/>
          <p:cNvSpPr/>
          <p:nvPr/>
        </p:nvSpPr>
        <p:spPr>
          <a:xfrm>
            <a:off x="8339328" y="3931920"/>
            <a:ext cx="1536192" cy="1097280"/>
          </a:xfrm>
          <a:prstGeom prst="roundRect">
            <a:avLst>
              <a:gd name="adj" fmla="val 8333"/>
            </a:avLst>
          </a:prstGeom>
          <a:solidFill>
            <a:srgbClr val="FFFFFF"/>
          </a:solidFill>
          <a:ln w="12700">
            <a:solidFill>
              <a:srgbClr val="FFFFFF"/>
            </a:solidFill>
            <a:prstDash val="solid"/>
          </a:ln>
        </p:spPr>
      </p:sp>
      <p:sp>
        <p:nvSpPr>
          <p:cNvPr id="59" name="Text 56"/>
          <p:cNvSpPr/>
          <p:nvPr/>
        </p:nvSpPr>
        <p:spPr>
          <a:xfrm>
            <a:off x="8430768" y="3977640"/>
            <a:ext cx="1353312" cy="100584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Builds one evidence pack and tags it: verified, review or visit.</a:t>
            </a:r>
            <a:endParaRPr lang="en-US" sz="1100" dirty="0"/>
          </a:p>
        </p:txBody>
      </p:sp>
      <p:sp>
        <p:nvSpPr>
          <p:cNvPr id="60" name="Shape 57"/>
          <p:cNvSpPr/>
          <p:nvPr/>
        </p:nvSpPr>
        <p:spPr>
          <a:xfrm>
            <a:off x="9966960" y="3931920"/>
            <a:ext cx="1536192" cy="1097280"/>
          </a:xfrm>
          <a:prstGeom prst="roundRect">
            <a:avLst>
              <a:gd name="adj" fmla="val 8333"/>
            </a:avLst>
          </a:prstGeom>
          <a:solidFill>
            <a:srgbClr val="FFFFFF"/>
          </a:solidFill>
          <a:ln w="12700">
            <a:solidFill>
              <a:srgbClr val="FFFFFF"/>
            </a:solidFill>
            <a:prstDash val="solid"/>
          </a:ln>
        </p:spPr>
      </p:sp>
      <p:sp>
        <p:nvSpPr>
          <p:cNvPr id="61" name="Text 58"/>
          <p:cNvSpPr/>
          <p:nvPr/>
        </p:nvSpPr>
        <p:spPr>
          <a:xfrm>
            <a:off x="10058400" y="3977640"/>
            <a:ext cx="1353312" cy="100584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Updates the timeline in the farmer's language.</a:t>
            </a:r>
            <a:endParaRPr lang="en-US" sz="1100" dirty="0"/>
          </a:p>
        </p:txBody>
      </p:sp>
      <p:sp>
        <p:nvSpPr>
          <p:cNvPr id="62" name="Text 59"/>
          <p:cNvSpPr/>
          <p:nvPr/>
        </p:nvSpPr>
        <p:spPr>
          <a:xfrm>
            <a:off x="548640" y="5120640"/>
            <a:ext cx="1188720" cy="777240"/>
          </a:xfrm>
          <a:prstGeom prst="rect">
            <a:avLst/>
          </a:prstGeom>
          <a:noFill/>
          <a:ln/>
        </p:spPr>
        <p:txBody>
          <a:bodyPr wrap="square" lIns="0" tIns="0" rIns="0" bIns="0" rtlCol="0" anchor="ctr"/>
          <a:lstStyle/>
          <a:p>
            <a:pPr indent="0" marL="0">
              <a:buNone/>
            </a:pPr>
            <a:r>
              <a:rPr lang="en-US" sz="1000" b="1" spc="100" kern="0" dirty="0">
                <a:solidFill>
                  <a:srgbClr val="2E9E6B"/>
                </a:solidFill>
                <a:latin typeface="Calibri" pitchFamily="34" charset="0"/>
                <a:ea typeface="Calibri" pitchFamily="34" charset="-122"/>
                <a:cs typeface="Calibri" pitchFamily="34" charset="-120"/>
              </a:rPr>
              <a:t>OFFICER / INSURER</a:t>
            </a:r>
            <a:endParaRPr lang="en-US" sz="1000" dirty="0"/>
          </a:p>
        </p:txBody>
      </p:sp>
      <p:sp>
        <p:nvSpPr>
          <p:cNvPr id="63" name="Shape 60"/>
          <p:cNvSpPr/>
          <p:nvPr/>
        </p:nvSpPr>
        <p:spPr>
          <a:xfrm>
            <a:off x="1828800" y="5120640"/>
            <a:ext cx="1536192" cy="777240"/>
          </a:xfrm>
          <a:prstGeom prst="roundRect">
            <a:avLst>
              <a:gd name="adj" fmla="val 11765"/>
            </a:avLst>
          </a:prstGeom>
          <a:solidFill>
            <a:srgbClr val="EEF2F8"/>
          </a:solidFill>
          <a:ln w="12700">
            <a:solidFill>
              <a:srgbClr val="EEF2F8"/>
            </a:solidFill>
            <a:prstDash val="solid"/>
          </a:ln>
        </p:spPr>
      </p:sp>
      <p:sp>
        <p:nvSpPr>
          <p:cNvPr id="64" name="Shape 61"/>
          <p:cNvSpPr/>
          <p:nvPr/>
        </p:nvSpPr>
        <p:spPr>
          <a:xfrm>
            <a:off x="3456432" y="5120640"/>
            <a:ext cx="1536192" cy="777240"/>
          </a:xfrm>
          <a:prstGeom prst="roundRect">
            <a:avLst>
              <a:gd name="adj" fmla="val 11765"/>
            </a:avLst>
          </a:prstGeom>
          <a:solidFill>
            <a:srgbClr val="EEF2F8"/>
          </a:solidFill>
          <a:ln w="12700">
            <a:solidFill>
              <a:srgbClr val="EEF2F8"/>
            </a:solidFill>
            <a:prstDash val="solid"/>
          </a:ln>
        </p:spPr>
      </p:sp>
      <p:sp>
        <p:nvSpPr>
          <p:cNvPr id="65" name="Shape 62"/>
          <p:cNvSpPr/>
          <p:nvPr/>
        </p:nvSpPr>
        <p:spPr>
          <a:xfrm>
            <a:off x="5084064" y="5120640"/>
            <a:ext cx="1536192" cy="777240"/>
          </a:xfrm>
          <a:prstGeom prst="roundRect">
            <a:avLst>
              <a:gd name="adj" fmla="val 11765"/>
            </a:avLst>
          </a:prstGeom>
          <a:solidFill>
            <a:srgbClr val="EEF2F8"/>
          </a:solidFill>
          <a:ln w="12700">
            <a:solidFill>
              <a:srgbClr val="EEF2F8"/>
            </a:solidFill>
            <a:prstDash val="solid"/>
          </a:ln>
        </p:spPr>
      </p:sp>
      <p:sp>
        <p:nvSpPr>
          <p:cNvPr id="66" name="Shape 63"/>
          <p:cNvSpPr/>
          <p:nvPr/>
        </p:nvSpPr>
        <p:spPr>
          <a:xfrm>
            <a:off x="6711696" y="5120640"/>
            <a:ext cx="1536192" cy="777240"/>
          </a:xfrm>
          <a:prstGeom prst="roundRect">
            <a:avLst>
              <a:gd name="adj" fmla="val 11765"/>
            </a:avLst>
          </a:prstGeom>
          <a:solidFill>
            <a:srgbClr val="EEF2F8"/>
          </a:solidFill>
          <a:ln w="12700">
            <a:solidFill>
              <a:srgbClr val="EEF2F8"/>
            </a:solidFill>
            <a:prstDash val="solid"/>
          </a:ln>
        </p:spPr>
      </p:sp>
      <p:sp>
        <p:nvSpPr>
          <p:cNvPr id="67" name="Shape 64"/>
          <p:cNvSpPr/>
          <p:nvPr/>
        </p:nvSpPr>
        <p:spPr>
          <a:xfrm>
            <a:off x="8339328" y="5120640"/>
            <a:ext cx="1536192" cy="777240"/>
          </a:xfrm>
          <a:prstGeom prst="roundRect">
            <a:avLst>
              <a:gd name="adj" fmla="val 11765"/>
            </a:avLst>
          </a:prstGeom>
          <a:solidFill>
            <a:srgbClr val="FFFFFF"/>
          </a:solidFill>
          <a:ln w="12700">
            <a:solidFill>
              <a:srgbClr val="FFFFFF"/>
            </a:solidFill>
            <a:prstDash val="solid"/>
          </a:ln>
        </p:spPr>
      </p:sp>
      <p:sp>
        <p:nvSpPr>
          <p:cNvPr id="68" name="Text 65"/>
          <p:cNvSpPr/>
          <p:nvPr/>
        </p:nvSpPr>
        <p:spPr>
          <a:xfrm>
            <a:off x="8430768" y="5166360"/>
            <a:ext cx="1353312" cy="68580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Sees a ranked list. Visits only the flagged claims.</a:t>
            </a:r>
            <a:endParaRPr lang="en-US" sz="1100" dirty="0"/>
          </a:p>
        </p:txBody>
      </p:sp>
      <p:sp>
        <p:nvSpPr>
          <p:cNvPr id="69" name="Shape 66"/>
          <p:cNvSpPr/>
          <p:nvPr/>
        </p:nvSpPr>
        <p:spPr>
          <a:xfrm>
            <a:off x="9966960" y="5120640"/>
            <a:ext cx="1536192" cy="777240"/>
          </a:xfrm>
          <a:prstGeom prst="roundRect">
            <a:avLst>
              <a:gd name="adj" fmla="val 11765"/>
            </a:avLst>
          </a:prstGeom>
          <a:solidFill>
            <a:srgbClr val="FFFFFF"/>
          </a:solidFill>
          <a:ln w="12700">
            <a:solidFill>
              <a:srgbClr val="FFFFFF"/>
            </a:solidFill>
            <a:prstDash val="solid"/>
          </a:ln>
        </p:spPr>
      </p:sp>
      <p:sp>
        <p:nvSpPr>
          <p:cNvPr id="70" name="Text 67"/>
          <p:cNvSpPr/>
          <p:nvPr/>
        </p:nvSpPr>
        <p:spPr>
          <a:xfrm>
            <a:off x="10058400" y="5166360"/>
            <a:ext cx="1353312" cy="68580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Insurer settles using the evidence pack.</a:t>
            </a:r>
            <a:endParaRPr lang="en-US" sz="1100" dirty="0"/>
          </a:p>
        </p:txBody>
      </p:sp>
      <p:sp>
        <p:nvSpPr>
          <p:cNvPr id="71" name="Shape 68"/>
          <p:cNvSpPr/>
          <p:nvPr/>
        </p:nvSpPr>
        <p:spPr>
          <a:xfrm>
            <a:off x="548640" y="6035040"/>
            <a:ext cx="11064240" cy="365760"/>
          </a:xfrm>
          <a:prstGeom prst="roundRect">
            <a:avLst>
              <a:gd name="adj" fmla="val 25000"/>
            </a:avLst>
          </a:prstGeom>
          <a:solidFill>
            <a:srgbClr val="E8F5EE"/>
          </a:solidFill>
          <a:ln w="12700">
            <a:solidFill>
              <a:srgbClr val="E8F5EE"/>
            </a:solidFill>
            <a:prstDash val="solid"/>
          </a:ln>
        </p:spPr>
      </p:sp>
      <p:sp>
        <p:nvSpPr>
          <p:cNvPr id="72" name="Text 69"/>
          <p:cNvSpPr/>
          <p:nvPr/>
        </p:nvSpPr>
        <p:spPr>
          <a:xfrm>
            <a:off x="731520" y="6035040"/>
            <a:ext cx="10698480" cy="365760"/>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Moment of value: </a:t>
            </a:r>
            <a:pPr indent="0" marL="0">
              <a:buNone/>
            </a:pPr>
            <a:r>
              <a:rPr lang="en-US" sz="1150" dirty="0">
                <a:solidFill>
                  <a:srgbClr val="14213D"/>
                </a:solidFill>
                <a:latin typeface="Calibri" pitchFamily="34" charset="0"/>
                <a:ea typeface="Calibri" pitchFamily="34" charset="-122"/>
                <a:cs typeface="Calibri" pitchFamily="34" charset="-120"/>
              </a:rPr>
              <a:t>proof exists the same week as the damage, so surveyors verify instead of starting from zero.</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320040"/>
            <a:ext cx="11064240" cy="868680"/>
          </a:xfrm>
          <a:prstGeom prst="rect">
            <a:avLst/>
          </a:prstGeom>
          <a:noFill/>
          <a:ln/>
        </p:spPr>
        <p:txBody>
          <a:bodyPr wrap="square" lIns="0" tIns="0" rIns="0" bIns="0" rtlCol="0" anchor="t"/>
          <a:lstStyle/>
          <a:p>
            <a:pPr indent="0" marL="0">
              <a:buNone/>
            </a:pPr>
            <a:r>
              <a:rPr lang="en-US" sz="2400" b="1" dirty="0">
                <a:solidFill>
                  <a:srgbClr val="14213D"/>
                </a:solidFill>
                <a:latin typeface="Georgia" pitchFamily="34" charset="0"/>
                <a:ea typeface="Georgia" pitchFamily="34" charset="-122"/>
                <a:cs typeface="Georgia" pitchFamily="34" charset="-120"/>
              </a:rPr>
              <a:t>Six core features turn an ordinary phone into a trusted evidence kit</a:t>
            </a:r>
            <a:endParaRPr lang="en-US" sz="2400" dirty="0"/>
          </a:p>
        </p:txBody>
      </p:sp>
      <p:sp>
        <p:nvSpPr>
          <p:cNvPr id="3" name="Text 1"/>
          <p:cNvSpPr/>
          <p:nvPr/>
        </p:nvSpPr>
        <p:spPr>
          <a:xfrm>
            <a:off x="548640" y="6492240"/>
            <a:ext cx="7315200" cy="228600"/>
          </a:xfrm>
          <a:prstGeom prst="rect">
            <a:avLst/>
          </a:prstGeom>
          <a:noFill/>
          <a:ln/>
        </p:spPr>
        <p:txBody>
          <a:bodyPr wrap="square" lIns="0" tIns="0" rIns="0" bIns="0" rtlCol="0" anchor="ctr"/>
          <a:lstStyle/>
          <a:p>
            <a:pPr indent="0" marL="0">
              <a:buNone/>
            </a:pPr>
            <a:r>
              <a:rPr lang="en-US" sz="900" dirty="0">
                <a:solidFill>
                  <a:srgbClr val="5F6B80"/>
                </a:solidFill>
                <a:latin typeface="Calibri" pitchFamily="34" charset="0"/>
                <a:ea typeface="Calibri" pitchFamily="34" charset="-122"/>
                <a:cs typeface="Calibri" pitchFamily="34" charset="-120"/>
              </a:rPr>
              <a:t>IMPACT TANK '26  |  SOLUTION CONCEPT DECK  |  FarmProof  |  Team Nexus.DTU</a:t>
            </a:r>
            <a:endParaRPr lang="en-US" sz="900" dirty="0"/>
          </a:p>
        </p:txBody>
      </p:sp>
      <p:sp>
        <p:nvSpPr>
          <p:cNvPr id="4" name="Text 2"/>
          <p:cNvSpPr/>
          <p:nvPr/>
        </p:nvSpPr>
        <p:spPr>
          <a:xfrm>
            <a:off x="11155680" y="6492240"/>
            <a:ext cx="457200" cy="228600"/>
          </a:xfrm>
          <a:prstGeom prst="rect">
            <a:avLst/>
          </a:prstGeom>
          <a:noFill/>
          <a:ln/>
        </p:spPr>
        <p:txBody>
          <a:bodyPr wrap="square" lIns="0" tIns="0" rIns="0" bIns="0" rtlCol="0" anchor="ctr"/>
          <a:lstStyle/>
          <a:p>
            <a:pPr algn="r" indent="0" marL="0">
              <a:buNone/>
            </a:pPr>
            <a:r>
              <a:rPr lang="en-US" sz="900" dirty="0">
                <a:solidFill>
                  <a:srgbClr val="5F6B80"/>
                </a:solidFill>
                <a:latin typeface="Calibri" pitchFamily="34" charset="0"/>
                <a:ea typeface="Calibri" pitchFamily="34" charset="-122"/>
                <a:cs typeface="Calibri" pitchFamily="34" charset="-120"/>
              </a:rPr>
              <a:t>7</a:t>
            </a:r>
            <a:endParaRPr lang="en-US" sz="900" dirty="0"/>
          </a:p>
        </p:txBody>
      </p:sp>
      <p:pic>
        <p:nvPicPr>
          <p:cNvPr id="6" name="Image 0" descr="/home/claude/img/phone_start.png">    </p:cNvPr>
          <p:cNvPicPr>
            <a:picLocks noChangeAspect="1"/>
          </p:cNvPicPr>
          <p:nvPr/>
        </p:nvPicPr>
        <p:blipFill>
          <a:blip r:embed="rId1"/>
          <a:stretch>
            <a:fillRect/>
          </a:stretch>
        </p:blipFill>
        <p:spPr>
          <a:xfrm>
            <a:off x="457200" y="1600200"/>
            <a:ext cx="1783080" cy="3648456"/>
          </a:xfrm>
          <a:prstGeom prst="rect">
            <a:avLst/>
          </a:prstGeom>
        </p:spPr>
      </p:pic>
      <p:pic>
        <p:nvPicPr>
          <p:cNvPr id="7" name="Image 1" descr="/home/claude/img/phone_capture.png">    </p:cNvPr>
          <p:cNvPicPr>
            <a:picLocks noChangeAspect="1"/>
          </p:cNvPicPr>
          <p:nvPr/>
        </p:nvPicPr>
        <p:blipFill>
          <a:blip r:embed="rId2"/>
          <a:stretch>
            <a:fillRect/>
          </a:stretch>
        </p:blipFill>
        <p:spPr>
          <a:xfrm>
            <a:off x="1691640" y="1417320"/>
            <a:ext cx="1920240" cy="3931920"/>
          </a:xfrm>
          <a:prstGeom prst="rect">
            <a:avLst/>
          </a:prstGeom>
        </p:spPr>
      </p:pic>
      <p:pic>
        <p:nvPicPr>
          <p:cNvPr id="8" name="Image 2" descr="/home/claude/img/phone_status.png">    </p:cNvPr>
          <p:cNvPicPr>
            <a:picLocks noChangeAspect="1"/>
          </p:cNvPicPr>
          <p:nvPr/>
        </p:nvPicPr>
        <p:blipFill>
          <a:blip r:embed="rId3"/>
          <a:stretch>
            <a:fillRect/>
          </a:stretch>
        </p:blipFill>
        <p:spPr>
          <a:xfrm>
            <a:off x="3108960" y="1600200"/>
            <a:ext cx="1783080" cy="3648456"/>
          </a:xfrm>
          <a:prstGeom prst="rect">
            <a:avLst/>
          </a:prstGeom>
        </p:spPr>
      </p:pic>
      <p:sp>
        <p:nvSpPr>
          <p:cNvPr id="9" name="Text 3"/>
          <p:cNvSpPr/>
          <p:nvPr/>
        </p:nvSpPr>
        <p:spPr>
          <a:xfrm>
            <a:off x="457200" y="5486400"/>
            <a:ext cx="4480560" cy="274320"/>
          </a:xfrm>
          <a:prstGeom prst="rect">
            <a:avLst/>
          </a:prstGeom>
          <a:noFill/>
          <a:ln/>
        </p:spPr>
        <p:txBody>
          <a:bodyPr wrap="square" lIns="0" tIns="0" rIns="0" bIns="0" rtlCol="0" anchor="t"/>
          <a:lstStyle/>
          <a:p>
            <a:pPr algn="ctr" indent="0" marL="0">
              <a:buNone/>
            </a:pPr>
            <a:r>
              <a:rPr lang="en-US" sz="1000" i="1" dirty="0">
                <a:solidFill>
                  <a:srgbClr val="5F6B80"/>
                </a:solidFill>
                <a:latin typeface="Calibri" pitchFamily="34" charset="0"/>
                <a:ea typeface="Calibri" pitchFamily="34" charset="-122"/>
                <a:cs typeface="Calibri" pitchFamily="34" charset="-120"/>
              </a:rPr>
              <a:t>Concept screens: report, capture, track (sample data)</a:t>
            </a:r>
            <a:endParaRPr lang="en-US" sz="1000" dirty="0"/>
          </a:p>
        </p:txBody>
      </p:sp>
      <p:sp>
        <p:nvSpPr>
          <p:cNvPr id="10" name="Text 4"/>
          <p:cNvSpPr/>
          <p:nvPr/>
        </p:nvSpPr>
        <p:spPr>
          <a:xfrm>
            <a:off x="5257800" y="1371600"/>
            <a:ext cx="3200400" cy="228600"/>
          </a:xfrm>
          <a:prstGeom prst="rect">
            <a:avLst/>
          </a:prstGeom>
          <a:noFill/>
          <a:ln/>
        </p:spPr>
        <p:txBody>
          <a:bodyPr wrap="square" lIns="0" tIns="0" rIns="0" bIns="0" rtlCol="0" anchor="t"/>
          <a:lstStyle/>
          <a:p>
            <a:pPr indent="0" marL="0">
              <a:buNone/>
            </a:pPr>
            <a:r>
              <a:rPr lang="en-US" sz="1000" b="1" spc="150" kern="0" dirty="0">
                <a:solidFill>
                  <a:srgbClr val="2E9E6B"/>
                </a:solidFill>
                <a:latin typeface="Calibri" pitchFamily="34" charset="0"/>
                <a:ea typeface="Calibri" pitchFamily="34" charset="-122"/>
                <a:cs typeface="Calibri" pitchFamily="34" charset="-120"/>
              </a:rPr>
              <a:t>ESSENTIAL FEATURES</a:t>
            </a:r>
            <a:endParaRPr lang="en-US" sz="1000" dirty="0"/>
          </a:p>
        </p:txBody>
      </p:sp>
      <p:sp>
        <p:nvSpPr>
          <p:cNvPr id="11" name="Shape 5"/>
          <p:cNvSpPr/>
          <p:nvPr/>
        </p:nvSpPr>
        <p:spPr>
          <a:xfrm>
            <a:off x="5257800" y="1700784"/>
            <a:ext cx="329184" cy="329184"/>
          </a:xfrm>
          <a:prstGeom prst="ellipse">
            <a:avLst/>
          </a:prstGeom>
          <a:solidFill>
            <a:srgbClr val="2E9E6B"/>
          </a:solidFill>
          <a:ln w="12700">
            <a:solidFill>
              <a:srgbClr val="2E9E6B"/>
            </a:solidFill>
            <a:prstDash val="solid"/>
          </a:ln>
        </p:spPr>
      </p:sp>
      <p:sp>
        <p:nvSpPr>
          <p:cNvPr id="12" name="Text 6"/>
          <p:cNvSpPr/>
          <p:nvPr/>
        </p:nvSpPr>
        <p:spPr>
          <a:xfrm>
            <a:off x="5257800" y="17007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7"/>
          <p:cNvSpPr/>
          <p:nvPr/>
        </p:nvSpPr>
        <p:spPr>
          <a:xfrm>
            <a:off x="5715000" y="1664208"/>
            <a:ext cx="3017520" cy="713232"/>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Guided live capture</a:t>
            </a:r>
            <a:endParaRPr lang="en-US" sz="1200" dirty="0"/>
          </a:p>
          <a:p>
            <a:pPr indent="0" marL="0">
              <a:buNone/>
            </a:pPr>
            <a:r>
              <a:rPr lang="en-US" sz="1050" dirty="0">
                <a:solidFill>
                  <a:srgbClr val="5F6B80"/>
                </a:solidFill>
                <a:latin typeface="Calibri" pitchFamily="34" charset="0"/>
                <a:ea typeface="Calibri" pitchFamily="34" charset="-122"/>
                <a:cs typeface="Calibri" pitchFamily="34" charset="-120"/>
              </a:rPr>
              <a:t>Prompts for 5 photos; camera only, no gallery uploads.</a:t>
            </a:r>
            <a:endParaRPr lang="en-US" sz="1200" dirty="0"/>
          </a:p>
        </p:txBody>
      </p:sp>
      <p:sp>
        <p:nvSpPr>
          <p:cNvPr id="14" name="Shape 8"/>
          <p:cNvSpPr/>
          <p:nvPr/>
        </p:nvSpPr>
        <p:spPr>
          <a:xfrm>
            <a:off x="5257800" y="2468880"/>
            <a:ext cx="329184" cy="329184"/>
          </a:xfrm>
          <a:prstGeom prst="ellipse">
            <a:avLst/>
          </a:prstGeom>
          <a:solidFill>
            <a:srgbClr val="2E9E6B"/>
          </a:solidFill>
          <a:ln w="12700">
            <a:solidFill>
              <a:srgbClr val="2E9E6B"/>
            </a:solidFill>
            <a:prstDash val="solid"/>
          </a:ln>
        </p:spPr>
      </p:sp>
      <p:sp>
        <p:nvSpPr>
          <p:cNvPr id="15" name="Text 9"/>
          <p:cNvSpPr/>
          <p:nvPr/>
        </p:nvSpPr>
        <p:spPr>
          <a:xfrm>
            <a:off x="5257800" y="24688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0"/>
          <p:cNvSpPr/>
          <p:nvPr/>
        </p:nvSpPr>
        <p:spPr>
          <a:xfrm>
            <a:off x="5715000" y="2432304"/>
            <a:ext cx="3017520" cy="713232"/>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Plot pin, GPS and time</a:t>
            </a:r>
            <a:endParaRPr lang="en-US" sz="1200" dirty="0"/>
          </a:p>
          <a:p>
            <a:pPr indent="0" marL="0">
              <a:buNone/>
            </a:pPr>
            <a:r>
              <a:rPr lang="en-US" sz="1050" dirty="0">
                <a:solidFill>
                  <a:srgbClr val="5F6B80"/>
                </a:solidFill>
                <a:latin typeface="Calibri" pitchFamily="34" charset="0"/>
                <a:ea typeface="Calibri" pitchFamily="34" charset="-122"/>
                <a:cs typeface="Calibri" pitchFamily="34" charset="-120"/>
              </a:rPr>
              <a:t>Ties proof to one farm, not a village average.</a:t>
            </a:r>
            <a:endParaRPr lang="en-US" sz="1200" dirty="0"/>
          </a:p>
        </p:txBody>
      </p:sp>
      <p:sp>
        <p:nvSpPr>
          <p:cNvPr id="17" name="Shape 11"/>
          <p:cNvSpPr/>
          <p:nvPr/>
        </p:nvSpPr>
        <p:spPr>
          <a:xfrm>
            <a:off x="5257800" y="3236976"/>
            <a:ext cx="329184" cy="329184"/>
          </a:xfrm>
          <a:prstGeom prst="ellipse">
            <a:avLst/>
          </a:prstGeom>
          <a:solidFill>
            <a:srgbClr val="2E9E6B"/>
          </a:solidFill>
          <a:ln w="12700">
            <a:solidFill>
              <a:srgbClr val="2E9E6B"/>
            </a:solidFill>
            <a:prstDash val="solid"/>
          </a:ln>
        </p:spPr>
      </p:sp>
      <p:sp>
        <p:nvSpPr>
          <p:cNvPr id="18" name="Text 12"/>
          <p:cNvSpPr/>
          <p:nvPr/>
        </p:nvSpPr>
        <p:spPr>
          <a:xfrm>
            <a:off x="5257800" y="323697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3"/>
          <p:cNvSpPr/>
          <p:nvPr/>
        </p:nvSpPr>
        <p:spPr>
          <a:xfrm>
            <a:off x="5715000" y="3200400"/>
            <a:ext cx="3017520" cy="713232"/>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AI damage estimate</a:t>
            </a:r>
            <a:endParaRPr lang="en-US" sz="1200" dirty="0"/>
          </a:p>
          <a:p>
            <a:pPr indent="0" marL="0">
              <a:buNone/>
            </a:pPr>
            <a:r>
              <a:rPr lang="en-US" sz="1050" dirty="0">
                <a:solidFill>
                  <a:srgbClr val="5F6B80"/>
                </a:solidFill>
                <a:latin typeface="Calibri" pitchFamily="34" charset="0"/>
                <a:ea typeface="Calibri" pitchFamily="34" charset="-122"/>
                <a:cs typeface="Calibri" pitchFamily="34" charset="-120"/>
              </a:rPr>
              <a:t>Severity band with confidence; an officer can always override.</a:t>
            </a:r>
            <a:endParaRPr lang="en-US" sz="1200" dirty="0"/>
          </a:p>
        </p:txBody>
      </p:sp>
      <p:sp>
        <p:nvSpPr>
          <p:cNvPr id="20" name="Shape 14"/>
          <p:cNvSpPr/>
          <p:nvPr/>
        </p:nvSpPr>
        <p:spPr>
          <a:xfrm>
            <a:off x="5257800" y="4005072"/>
            <a:ext cx="329184" cy="329184"/>
          </a:xfrm>
          <a:prstGeom prst="ellipse">
            <a:avLst/>
          </a:prstGeom>
          <a:solidFill>
            <a:srgbClr val="2E9E6B"/>
          </a:solidFill>
          <a:ln w="12700">
            <a:solidFill>
              <a:srgbClr val="2E9E6B"/>
            </a:solidFill>
            <a:prstDash val="solid"/>
          </a:ln>
        </p:spPr>
      </p:sp>
      <p:sp>
        <p:nvSpPr>
          <p:cNvPr id="21" name="Text 15"/>
          <p:cNvSpPr/>
          <p:nvPr/>
        </p:nvSpPr>
        <p:spPr>
          <a:xfrm>
            <a:off x="5257800" y="400507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6"/>
          <p:cNvSpPr/>
          <p:nvPr/>
        </p:nvSpPr>
        <p:spPr>
          <a:xfrm>
            <a:off x="5715000" y="3968496"/>
            <a:ext cx="3017520" cy="713232"/>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Weather cross-check</a:t>
            </a:r>
            <a:endParaRPr lang="en-US" sz="1200" dirty="0"/>
          </a:p>
          <a:p>
            <a:pPr indent="0" marL="0">
              <a:buNone/>
            </a:pPr>
            <a:r>
              <a:rPr lang="en-US" sz="1050" dirty="0">
                <a:solidFill>
                  <a:srgbClr val="5F6B80"/>
                </a:solidFill>
                <a:latin typeface="Calibri" pitchFamily="34" charset="0"/>
                <a:ea typeface="Calibri" pitchFamily="34" charset="-122"/>
                <a:cs typeface="Calibri" pitchFamily="34" charset="-120"/>
              </a:rPr>
              <a:t>Matches the claim date and place to local rain or hail records.</a:t>
            </a:r>
            <a:endParaRPr lang="en-US" sz="1200" dirty="0"/>
          </a:p>
        </p:txBody>
      </p:sp>
      <p:sp>
        <p:nvSpPr>
          <p:cNvPr id="23" name="Shape 17"/>
          <p:cNvSpPr/>
          <p:nvPr/>
        </p:nvSpPr>
        <p:spPr>
          <a:xfrm>
            <a:off x="5257800" y="4773168"/>
            <a:ext cx="329184" cy="329184"/>
          </a:xfrm>
          <a:prstGeom prst="ellipse">
            <a:avLst/>
          </a:prstGeom>
          <a:solidFill>
            <a:srgbClr val="2E9E6B"/>
          </a:solidFill>
          <a:ln w="12700">
            <a:solidFill>
              <a:srgbClr val="2E9E6B"/>
            </a:solidFill>
            <a:prstDash val="solid"/>
          </a:ln>
        </p:spPr>
      </p:sp>
      <p:sp>
        <p:nvSpPr>
          <p:cNvPr id="24" name="Text 18"/>
          <p:cNvSpPr/>
          <p:nvPr/>
        </p:nvSpPr>
        <p:spPr>
          <a:xfrm>
            <a:off x="5257800" y="47731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19"/>
          <p:cNvSpPr/>
          <p:nvPr/>
        </p:nvSpPr>
        <p:spPr>
          <a:xfrm>
            <a:off x="5715000" y="4736592"/>
            <a:ext cx="3017520" cy="713232"/>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Offline and local language</a:t>
            </a:r>
            <a:endParaRPr lang="en-US" sz="1200" dirty="0"/>
          </a:p>
          <a:p>
            <a:pPr indent="0" marL="0">
              <a:buNone/>
            </a:pPr>
            <a:r>
              <a:rPr lang="en-US" sz="1050" dirty="0">
                <a:solidFill>
                  <a:srgbClr val="5F6B80"/>
                </a:solidFill>
                <a:latin typeface="Calibri" pitchFamily="34" charset="0"/>
                <a:ea typeface="Calibri" pitchFamily="34" charset="-122"/>
                <a:cs typeface="Calibri" pitchFamily="34" charset="-120"/>
              </a:rPr>
              <a:t>Saves when signal drops; Telugu and English labels.</a:t>
            </a:r>
            <a:endParaRPr lang="en-US" sz="1200" dirty="0"/>
          </a:p>
        </p:txBody>
      </p:sp>
      <p:sp>
        <p:nvSpPr>
          <p:cNvPr id="26" name="Shape 20"/>
          <p:cNvSpPr/>
          <p:nvPr/>
        </p:nvSpPr>
        <p:spPr>
          <a:xfrm>
            <a:off x="5257800" y="5541264"/>
            <a:ext cx="329184" cy="329184"/>
          </a:xfrm>
          <a:prstGeom prst="ellipse">
            <a:avLst/>
          </a:prstGeom>
          <a:solidFill>
            <a:srgbClr val="2E9E6B"/>
          </a:solidFill>
          <a:ln w="12700">
            <a:solidFill>
              <a:srgbClr val="2E9E6B"/>
            </a:solidFill>
            <a:prstDash val="solid"/>
          </a:ln>
        </p:spPr>
      </p:sp>
      <p:sp>
        <p:nvSpPr>
          <p:cNvPr id="27" name="Text 21"/>
          <p:cNvSpPr/>
          <p:nvPr/>
        </p:nvSpPr>
        <p:spPr>
          <a:xfrm>
            <a:off x="5257800" y="55412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2"/>
          <p:cNvSpPr/>
          <p:nvPr/>
        </p:nvSpPr>
        <p:spPr>
          <a:xfrm>
            <a:off x="5715000" y="5504688"/>
            <a:ext cx="3017520" cy="713232"/>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Claim tracker + officer triage</a:t>
            </a:r>
            <a:endParaRPr lang="en-US" sz="1200" dirty="0"/>
          </a:p>
          <a:p>
            <a:pPr indent="0" marL="0">
              <a:buNone/>
            </a:pPr>
            <a:r>
              <a:rPr lang="en-US" sz="1050" dirty="0">
                <a:solidFill>
                  <a:srgbClr val="5F6B80"/>
                </a:solidFill>
                <a:latin typeface="Calibri" pitchFamily="34" charset="0"/>
                <a:ea typeface="Calibri" pitchFamily="34" charset="-122"/>
                <a:cs typeface="Calibri" pitchFamily="34" charset="-120"/>
              </a:rPr>
              <a:t>Farmer sees status; officer sees a ranked list.</a:t>
            </a:r>
            <a:endParaRPr lang="en-US" sz="1200" dirty="0"/>
          </a:p>
        </p:txBody>
      </p:sp>
      <p:sp>
        <p:nvSpPr>
          <p:cNvPr id="29" name="Shape 23"/>
          <p:cNvSpPr/>
          <p:nvPr/>
        </p:nvSpPr>
        <p:spPr>
          <a:xfrm>
            <a:off x="9006840" y="1371600"/>
            <a:ext cx="2606040" cy="2011680"/>
          </a:xfrm>
          <a:prstGeom prst="roundRect">
            <a:avLst>
              <a:gd name="adj" fmla="val 4545"/>
            </a:avLst>
          </a:prstGeom>
          <a:solidFill>
            <a:srgbClr val="2E9E6B"/>
          </a:solidFill>
          <a:ln w="12700">
            <a:solidFill>
              <a:srgbClr val="2E9E6B"/>
            </a:solidFill>
            <a:prstDash val="solid"/>
          </a:ln>
        </p:spPr>
      </p:sp>
      <p:sp>
        <p:nvSpPr>
          <p:cNvPr id="30" name="Text 24"/>
          <p:cNvSpPr/>
          <p:nvPr/>
        </p:nvSpPr>
        <p:spPr>
          <a:xfrm>
            <a:off x="9144000" y="1463040"/>
            <a:ext cx="2286000" cy="228600"/>
          </a:xfrm>
          <a:prstGeom prst="rect">
            <a:avLst/>
          </a:prstGeom>
          <a:noFill/>
          <a:ln/>
        </p:spPr>
        <p:txBody>
          <a:bodyPr wrap="square" lIns="0" tIns="0" rIns="0" bIns="0" rtlCol="0" anchor="t"/>
          <a:lstStyle/>
          <a:p>
            <a:pPr indent="0" marL="0">
              <a:buNone/>
            </a:pPr>
            <a:r>
              <a:rPr lang="en-US" sz="1000" b="1" spc="150" kern="0" dirty="0">
                <a:solidFill>
                  <a:srgbClr val="FFFFFF"/>
                </a:solidFill>
                <a:latin typeface="Calibri" pitchFamily="34" charset="0"/>
                <a:ea typeface="Calibri" pitchFamily="34" charset="-122"/>
                <a:cs typeface="Calibri" pitchFamily="34" charset="-120"/>
              </a:rPr>
              <a:t>VALUE PROPOSITION</a:t>
            </a:r>
            <a:endParaRPr lang="en-US" sz="1000" dirty="0"/>
          </a:p>
        </p:txBody>
      </p:sp>
      <p:sp>
        <p:nvSpPr>
          <p:cNvPr id="31" name="Text 25"/>
          <p:cNvSpPr/>
          <p:nvPr/>
        </p:nvSpPr>
        <p:spPr>
          <a:xfrm>
            <a:off x="9144000" y="1737360"/>
            <a:ext cx="2331720" cy="160020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A verifiable, time-stamped record of a farmer's own loss, captured in the 72-hour window, so insurers can trust it and surveyors visit only the unclear cases.</a:t>
            </a:r>
            <a:endParaRPr lang="en-US" sz="1150" dirty="0"/>
          </a:p>
        </p:txBody>
      </p:sp>
      <p:sp>
        <p:nvSpPr>
          <p:cNvPr id="32" name="Shape 26"/>
          <p:cNvSpPr/>
          <p:nvPr/>
        </p:nvSpPr>
        <p:spPr>
          <a:xfrm>
            <a:off x="9006840" y="3520440"/>
            <a:ext cx="2606040" cy="859536"/>
          </a:xfrm>
          <a:prstGeom prst="roundRect">
            <a:avLst>
              <a:gd name="adj" fmla="val 10638"/>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sp>
        <p:nvSpPr>
          <p:cNvPr id="33" name="Text 27"/>
          <p:cNvSpPr/>
          <p:nvPr/>
        </p:nvSpPr>
        <p:spPr>
          <a:xfrm>
            <a:off x="9144000" y="3584448"/>
            <a:ext cx="2286000" cy="228600"/>
          </a:xfrm>
          <a:prstGeom prst="rect">
            <a:avLst/>
          </a:prstGeom>
          <a:noFill/>
          <a:ln/>
        </p:spPr>
        <p:txBody>
          <a:bodyPr wrap="square" lIns="0" tIns="0" rIns="0" bIns="0" rtlCol="0" anchor="t"/>
          <a:lstStyle/>
          <a:p>
            <a:pPr indent="0" marL="0">
              <a:buNone/>
            </a:pPr>
            <a:r>
              <a:rPr lang="en-US" sz="1000" b="1" spc="150" kern="0" dirty="0">
                <a:solidFill>
                  <a:srgbClr val="2E9E6B"/>
                </a:solidFill>
                <a:latin typeface="Calibri" pitchFamily="34" charset="0"/>
                <a:ea typeface="Calibri" pitchFamily="34" charset="-122"/>
                <a:cs typeface="Calibri" pitchFamily="34" charset="-120"/>
              </a:rPr>
              <a:t>FARMER</a:t>
            </a:r>
            <a:endParaRPr lang="en-US" sz="1000" dirty="0"/>
          </a:p>
        </p:txBody>
      </p:sp>
      <p:sp>
        <p:nvSpPr>
          <p:cNvPr id="34" name="Text 28"/>
          <p:cNvSpPr/>
          <p:nvPr/>
        </p:nvSpPr>
        <p:spPr>
          <a:xfrm>
            <a:off x="9144000" y="3813048"/>
            <a:ext cx="2377440" cy="548640"/>
          </a:xfrm>
          <a:prstGeom prst="rect">
            <a:avLst/>
          </a:prstGeom>
          <a:noFill/>
          <a:ln/>
        </p:spPr>
        <p:txBody>
          <a:bodyPr wrap="square" lIns="0" tIns="0" rIns="0" bIns="0" rtlCol="0" anchor="t"/>
          <a:lstStyle/>
          <a:p>
            <a:pPr indent="0" marL="0">
              <a:buNone/>
            </a:pPr>
            <a:r>
              <a:rPr lang="en-US" sz="1050" dirty="0">
                <a:solidFill>
                  <a:srgbClr val="5F6B80"/>
                </a:solidFill>
                <a:latin typeface="Calibri" pitchFamily="34" charset="0"/>
                <a:ea typeface="Calibri" pitchFamily="34" charset="-122"/>
                <a:cs typeface="Calibri" pitchFamily="34" charset="-120"/>
              </a:rPr>
              <a:t>Pain: slow, disputed payouts.</a:t>
            </a:r>
            <a:endParaRPr lang="en-US" sz="1050" dirty="0"/>
          </a:p>
          <a:p>
            <a:pPr indent="0" marL="0">
              <a:buNone/>
            </a:pPr>
            <a:r>
              <a:rPr lang="en-US" sz="1050" b="1" dirty="0">
                <a:solidFill>
                  <a:srgbClr val="14213D"/>
                </a:solidFill>
                <a:latin typeface="Calibri" pitchFamily="34" charset="0"/>
                <a:ea typeface="Calibri" pitchFamily="34" charset="-122"/>
                <a:cs typeface="Calibri" pitchFamily="34" charset="-120"/>
              </a:rPr>
              <a:t>Gain: own proof and live status.</a:t>
            </a:r>
            <a:endParaRPr lang="en-US" sz="1050" dirty="0"/>
          </a:p>
        </p:txBody>
      </p:sp>
      <p:sp>
        <p:nvSpPr>
          <p:cNvPr id="35" name="Shape 29"/>
          <p:cNvSpPr/>
          <p:nvPr/>
        </p:nvSpPr>
        <p:spPr>
          <a:xfrm>
            <a:off x="9006840" y="4453128"/>
            <a:ext cx="2606040" cy="859536"/>
          </a:xfrm>
          <a:prstGeom prst="roundRect">
            <a:avLst>
              <a:gd name="adj" fmla="val 10638"/>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sp>
        <p:nvSpPr>
          <p:cNvPr id="36" name="Text 30"/>
          <p:cNvSpPr/>
          <p:nvPr/>
        </p:nvSpPr>
        <p:spPr>
          <a:xfrm>
            <a:off x="9144000" y="4517136"/>
            <a:ext cx="2286000" cy="228600"/>
          </a:xfrm>
          <a:prstGeom prst="rect">
            <a:avLst/>
          </a:prstGeom>
          <a:noFill/>
          <a:ln/>
        </p:spPr>
        <p:txBody>
          <a:bodyPr wrap="square" lIns="0" tIns="0" rIns="0" bIns="0" rtlCol="0" anchor="t"/>
          <a:lstStyle/>
          <a:p>
            <a:pPr indent="0" marL="0">
              <a:buNone/>
            </a:pPr>
            <a:r>
              <a:rPr lang="en-US" sz="1000" b="1" spc="150" kern="0" dirty="0">
                <a:solidFill>
                  <a:srgbClr val="2E9E6B"/>
                </a:solidFill>
                <a:latin typeface="Calibri" pitchFamily="34" charset="0"/>
                <a:ea typeface="Calibri" pitchFamily="34" charset="-122"/>
                <a:cs typeface="Calibri" pitchFamily="34" charset="-120"/>
              </a:rPr>
              <a:t>INSURER</a:t>
            </a:r>
            <a:endParaRPr lang="en-US" sz="1000" dirty="0"/>
          </a:p>
        </p:txBody>
      </p:sp>
      <p:sp>
        <p:nvSpPr>
          <p:cNvPr id="37" name="Text 31"/>
          <p:cNvSpPr/>
          <p:nvPr/>
        </p:nvSpPr>
        <p:spPr>
          <a:xfrm>
            <a:off x="9144000" y="4745736"/>
            <a:ext cx="2377440" cy="548640"/>
          </a:xfrm>
          <a:prstGeom prst="rect">
            <a:avLst/>
          </a:prstGeom>
          <a:noFill/>
          <a:ln/>
        </p:spPr>
        <p:txBody>
          <a:bodyPr wrap="square" lIns="0" tIns="0" rIns="0" bIns="0" rtlCol="0" anchor="t"/>
          <a:lstStyle/>
          <a:p>
            <a:pPr indent="0" marL="0">
              <a:buNone/>
            </a:pPr>
            <a:r>
              <a:rPr lang="en-US" sz="1050" dirty="0">
                <a:solidFill>
                  <a:srgbClr val="5F6B80"/>
                </a:solidFill>
                <a:latin typeface="Calibri" pitchFamily="34" charset="0"/>
                <a:ea typeface="Calibri" pitchFamily="34" charset="-122"/>
                <a:cs typeface="Calibri" pitchFamily="34" charset="-120"/>
              </a:rPr>
              <a:t>Pain: cannot verify farm loss cheaply.</a:t>
            </a:r>
            <a:endParaRPr lang="en-US" sz="1050" dirty="0"/>
          </a:p>
          <a:p>
            <a:pPr indent="0" marL="0">
              <a:buNone/>
            </a:pPr>
            <a:r>
              <a:rPr lang="en-US" sz="1050" b="1" dirty="0">
                <a:solidFill>
                  <a:srgbClr val="14213D"/>
                </a:solidFill>
                <a:latin typeface="Calibri" pitchFamily="34" charset="0"/>
                <a:ea typeface="Calibri" pitchFamily="34" charset="-122"/>
                <a:cs typeface="Calibri" pitchFamily="34" charset="-120"/>
              </a:rPr>
              <a:t>Gain: credible, geotagged evidence.</a:t>
            </a:r>
            <a:endParaRPr lang="en-US" sz="1050" dirty="0"/>
          </a:p>
        </p:txBody>
      </p:sp>
      <p:sp>
        <p:nvSpPr>
          <p:cNvPr id="38" name="Shape 32"/>
          <p:cNvSpPr/>
          <p:nvPr/>
        </p:nvSpPr>
        <p:spPr>
          <a:xfrm>
            <a:off x="9006840" y="5385816"/>
            <a:ext cx="2606040" cy="859536"/>
          </a:xfrm>
          <a:prstGeom prst="roundRect">
            <a:avLst>
              <a:gd name="adj" fmla="val 10638"/>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sp>
        <p:nvSpPr>
          <p:cNvPr id="39" name="Text 33"/>
          <p:cNvSpPr/>
          <p:nvPr/>
        </p:nvSpPr>
        <p:spPr>
          <a:xfrm>
            <a:off x="9144000" y="5449824"/>
            <a:ext cx="2286000" cy="228600"/>
          </a:xfrm>
          <a:prstGeom prst="rect">
            <a:avLst/>
          </a:prstGeom>
          <a:noFill/>
          <a:ln/>
        </p:spPr>
        <p:txBody>
          <a:bodyPr wrap="square" lIns="0" tIns="0" rIns="0" bIns="0" rtlCol="0" anchor="t"/>
          <a:lstStyle/>
          <a:p>
            <a:pPr indent="0" marL="0">
              <a:buNone/>
            </a:pPr>
            <a:r>
              <a:rPr lang="en-US" sz="1000" b="1" spc="150" kern="0" dirty="0">
                <a:solidFill>
                  <a:srgbClr val="2E9E6B"/>
                </a:solidFill>
                <a:latin typeface="Calibri" pitchFamily="34" charset="0"/>
                <a:ea typeface="Calibri" pitchFamily="34" charset="-122"/>
                <a:cs typeface="Calibri" pitchFamily="34" charset="-120"/>
              </a:rPr>
              <a:t>SURVEYOR</a:t>
            </a:r>
            <a:endParaRPr lang="en-US" sz="1000" dirty="0"/>
          </a:p>
        </p:txBody>
      </p:sp>
      <p:sp>
        <p:nvSpPr>
          <p:cNvPr id="40" name="Text 34"/>
          <p:cNvSpPr/>
          <p:nvPr/>
        </p:nvSpPr>
        <p:spPr>
          <a:xfrm>
            <a:off x="9144000" y="5678424"/>
            <a:ext cx="2377440" cy="548640"/>
          </a:xfrm>
          <a:prstGeom prst="rect">
            <a:avLst/>
          </a:prstGeom>
          <a:noFill/>
          <a:ln/>
        </p:spPr>
        <p:txBody>
          <a:bodyPr wrap="square" lIns="0" tIns="0" rIns="0" bIns="0" rtlCol="0" anchor="t"/>
          <a:lstStyle/>
          <a:p>
            <a:pPr indent="0" marL="0">
              <a:buNone/>
            </a:pPr>
            <a:r>
              <a:rPr lang="en-US" sz="1050" dirty="0">
                <a:solidFill>
                  <a:srgbClr val="5F6B80"/>
                </a:solidFill>
                <a:latin typeface="Calibri" pitchFamily="34" charset="0"/>
                <a:ea typeface="Calibri" pitchFamily="34" charset="-122"/>
                <a:cs typeface="Calibri" pitchFamily="34" charset="-120"/>
              </a:rPr>
              <a:t>Pain: too many villages, few staff.</a:t>
            </a:r>
            <a:endParaRPr lang="en-US" sz="1050" dirty="0"/>
          </a:p>
          <a:p>
            <a:pPr indent="0" marL="0">
              <a:buNone/>
            </a:pPr>
            <a:r>
              <a:rPr lang="en-US" sz="1050" b="1" dirty="0">
                <a:solidFill>
                  <a:srgbClr val="14213D"/>
                </a:solidFill>
                <a:latin typeface="Calibri" pitchFamily="34" charset="0"/>
                <a:ea typeface="Calibri" pitchFamily="34" charset="-122"/>
                <a:cs typeface="Calibri" pitchFamily="34" charset="-120"/>
              </a:rPr>
              <a:t>Gain: a ranked list; visit the doubtful.</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320040"/>
            <a:ext cx="11064240" cy="868680"/>
          </a:xfrm>
          <a:prstGeom prst="rect">
            <a:avLst/>
          </a:prstGeom>
          <a:noFill/>
          <a:ln/>
        </p:spPr>
        <p:txBody>
          <a:bodyPr wrap="square" lIns="0" tIns="0" rIns="0" bIns="0" rtlCol="0" anchor="t"/>
          <a:lstStyle/>
          <a:p>
            <a:pPr indent="0" marL="0">
              <a:buNone/>
            </a:pPr>
            <a:r>
              <a:rPr lang="en-US" sz="2400" b="1" dirty="0">
                <a:solidFill>
                  <a:srgbClr val="14213D"/>
                </a:solidFill>
                <a:latin typeface="Georgia" pitchFamily="34" charset="0"/>
                <a:ea typeface="Georgia" pitchFamily="34" charset="-122"/>
                <a:cs typeface="Georgia" pitchFamily="34" charset="-120"/>
              </a:rPr>
              <a:t>How the app works: four screens cover the whole claim path</a:t>
            </a:r>
            <a:endParaRPr lang="en-US" sz="2400" dirty="0"/>
          </a:p>
        </p:txBody>
      </p:sp>
      <p:sp>
        <p:nvSpPr>
          <p:cNvPr id="3" name="Text 1"/>
          <p:cNvSpPr/>
          <p:nvPr/>
        </p:nvSpPr>
        <p:spPr>
          <a:xfrm>
            <a:off x="548640" y="6492240"/>
            <a:ext cx="7315200" cy="228600"/>
          </a:xfrm>
          <a:prstGeom prst="rect">
            <a:avLst/>
          </a:prstGeom>
          <a:noFill/>
          <a:ln/>
        </p:spPr>
        <p:txBody>
          <a:bodyPr wrap="square" lIns="0" tIns="0" rIns="0" bIns="0" rtlCol="0" anchor="ctr"/>
          <a:lstStyle/>
          <a:p>
            <a:pPr indent="0" marL="0">
              <a:buNone/>
            </a:pPr>
            <a:r>
              <a:rPr lang="en-US" sz="900" dirty="0">
                <a:solidFill>
                  <a:srgbClr val="5F6B80"/>
                </a:solidFill>
                <a:latin typeface="Calibri" pitchFamily="34" charset="0"/>
                <a:ea typeface="Calibri" pitchFamily="34" charset="-122"/>
                <a:cs typeface="Calibri" pitchFamily="34" charset="-120"/>
              </a:rPr>
              <a:t>IMPACT TANK '26  |  SOLUTION CONCEPT DECK  |  FarmProof  |  Team Nexus.DTU</a:t>
            </a:r>
            <a:endParaRPr lang="en-US" sz="900" dirty="0"/>
          </a:p>
        </p:txBody>
      </p:sp>
      <p:sp>
        <p:nvSpPr>
          <p:cNvPr id="4" name="Text 2"/>
          <p:cNvSpPr/>
          <p:nvPr/>
        </p:nvSpPr>
        <p:spPr>
          <a:xfrm>
            <a:off x="11155680" y="6492240"/>
            <a:ext cx="457200" cy="228600"/>
          </a:xfrm>
          <a:prstGeom prst="rect">
            <a:avLst/>
          </a:prstGeom>
          <a:noFill/>
          <a:ln/>
        </p:spPr>
        <p:txBody>
          <a:bodyPr wrap="square" lIns="0" tIns="0" rIns="0" bIns="0" rtlCol="0" anchor="ctr"/>
          <a:lstStyle/>
          <a:p>
            <a:pPr algn="r" indent="0" marL="0">
              <a:buNone/>
            </a:pPr>
            <a:r>
              <a:rPr lang="en-US" sz="900" dirty="0">
                <a:solidFill>
                  <a:srgbClr val="5F6B80"/>
                </a:solidFill>
                <a:latin typeface="Calibri" pitchFamily="34" charset="0"/>
                <a:ea typeface="Calibri" pitchFamily="34" charset="-122"/>
                <a:cs typeface="Calibri" pitchFamily="34" charset="-120"/>
              </a:rPr>
              <a:t>8</a:t>
            </a:r>
            <a:endParaRPr lang="en-US" sz="900" dirty="0"/>
          </a:p>
        </p:txBody>
      </p:sp>
      <p:pic>
        <p:nvPicPr>
          <p:cNvPr id="6" name="Image 0" descr="/home/claude/img/phone_start.png">    </p:cNvPr>
          <p:cNvPicPr>
            <a:picLocks noChangeAspect="1"/>
          </p:cNvPicPr>
          <p:nvPr/>
        </p:nvPicPr>
        <p:blipFill>
          <a:blip r:embed="rId1"/>
          <a:stretch>
            <a:fillRect/>
          </a:stretch>
        </p:blipFill>
        <p:spPr>
          <a:xfrm>
            <a:off x="548640" y="1371600"/>
            <a:ext cx="1783080" cy="3648456"/>
          </a:xfrm>
          <a:prstGeom prst="rect">
            <a:avLst/>
          </a:prstGeom>
        </p:spPr>
      </p:pic>
      <p:sp>
        <p:nvSpPr>
          <p:cNvPr id="7" name="Text 3"/>
          <p:cNvSpPr/>
          <p:nvPr/>
        </p:nvSpPr>
        <p:spPr>
          <a:xfrm>
            <a:off x="548640" y="5120640"/>
            <a:ext cx="1783080" cy="274320"/>
          </a:xfrm>
          <a:prstGeom prst="rect">
            <a:avLst/>
          </a:prstGeom>
          <a:noFill/>
          <a:ln/>
        </p:spPr>
        <p:txBody>
          <a:bodyPr wrap="square" lIns="0" tIns="0" rIns="0" bIns="0" rtlCol="0" anchor="t"/>
          <a:lstStyle/>
          <a:p>
            <a:pPr indent="0" marL="0">
              <a:buNone/>
            </a:pPr>
            <a:r>
              <a:rPr lang="en-US" sz="1300" b="1" dirty="0">
                <a:solidFill>
                  <a:srgbClr val="2E9E6B"/>
                </a:solidFill>
                <a:latin typeface="Calibri" pitchFamily="34" charset="0"/>
                <a:ea typeface="Calibri" pitchFamily="34" charset="-122"/>
                <a:cs typeface="Calibri" pitchFamily="34" charset="-120"/>
              </a:rPr>
              <a:t>1  Report</a:t>
            </a:r>
            <a:endParaRPr lang="en-US" sz="1300" dirty="0"/>
          </a:p>
        </p:txBody>
      </p:sp>
      <p:sp>
        <p:nvSpPr>
          <p:cNvPr id="8" name="Text 4"/>
          <p:cNvSpPr/>
          <p:nvPr/>
        </p:nvSpPr>
        <p:spPr>
          <a:xfrm>
            <a:off x="548640" y="5394960"/>
            <a:ext cx="1783080" cy="91440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Farmer picks the cause and crop, pins the plot. The 72-hour timer starts.</a:t>
            </a:r>
            <a:endParaRPr lang="en-US" sz="1050" dirty="0"/>
          </a:p>
        </p:txBody>
      </p:sp>
      <p:pic>
        <p:nvPicPr>
          <p:cNvPr id="9" name="Image 1" descr="/home/claude/img/phone_capture.png">    </p:cNvPr>
          <p:cNvPicPr>
            <a:picLocks noChangeAspect="1"/>
          </p:cNvPicPr>
          <p:nvPr/>
        </p:nvPicPr>
        <p:blipFill>
          <a:blip r:embed="rId2"/>
          <a:stretch>
            <a:fillRect/>
          </a:stretch>
        </p:blipFill>
        <p:spPr>
          <a:xfrm>
            <a:off x="2514600" y="1371600"/>
            <a:ext cx="1783080" cy="3648456"/>
          </a:xfrm>
          <a:prstGeom prst="rect">
            <a:avLst/>
          </a:prstGeom>
        </p:spPr>
      </p:pic>
      <p:sp>
        <p:nvSpPr>
          <p:cNvPr id="10" name="Text 5"/>
          <p:cNvSpPr/>
          <p:nvPr/>
        </p:nvSpPr>
        <p:spPr>
          <a:xfrm>
            <a:off x="2514600" y="5120640"/>
            <a:ext cx="1783080" cy="274320"/>
          </a:xfrm>
          <a:prstGeom prst="rect">
            <a:avLst/>
          </a:prstGeom>
          <a:noFill/>
          <a:ln/>
        </p:spPr>
        <p:txBody>
          <a:bodyPr wrap="square" lIns="0" tIns="0" rIns="0" bIns="0" rtlCol="0" anchor="t"/>
          <a:lstStyle/>
          <a:p>
            <a:pPr indent="0" marL="0">
              <a:buNone/>
            </a:pPr>
            <a:r>
              <a:rPr lang="en-US" sz="1300" b="1" dirty="0">
                <a:solidFill>
                  <a:srgbClr val="2E9E6B"/>
                </a:solidFill>
                <a:latin typeface="Calibri" pitchFamily="34" charset="0"/>
                <a:ea typeface="Calibri" pitchFamily="34" charset="-122"/>
                <a:cs typeface="Calibri" pitchFamily="34" charset="-120"/>
              </a:rPr>
              <a:t>2  Capture</a:t>
            </a:r>
            <a:endParaRPr lang="en-US" sz="1300" dirty="0"/>
          </a:p>
        </p:txBody>
      </p:sp>
      <p:sp>
        <p:nvSpPr>
          <p:cNvPr id="11" name="Text 6"/>
          <p:cNvSpPr/>
          <p:nvPr/>
        </p:nvSpPr>
        <p:spPr>
          <a:xfrm>
            <a:off x="2514600" y="5394960"/>
            <a:ext cx="1783080" cy="91440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Five guided live photos. GPS and time are locked; gallery uploads are blocked.</a:t>
            </a:r>
            <a:endParaRPr lang="en-US" sz="1050" dirty="0"/>
          </a:p>
        </p:txBody>
      </p:sp>
      <p:pic>
        <p:nvPicPr>
          <p:cNvPr id="12" name="Image 2" descr="/home/claude/img/phone_status.png">    </p:cNvPr>
          <p:cNvPicPr>
            <a:picLocks noChangeAspect="1"/>
          </p:cNvPicPr>
          <p:nvPr/>
        </p:nvPicPr>
        <p:blipFill>
          <a:blip r:embed="rId3"/>
          <a:stretch>
            <a:fillRect/>
          </a:stretch>
        </p:blipFill>
        <p:spPr>
          <a:xfrm>
            <a:off x="4480560" y="1371600"/>
            <a:ext cx="1783080" cy="3648456"/>
          </a:xfrm>
          <a:prstGeom prst="rect">
            <a:avLst/>
          </a:prstGeom>
        </p:spPr>
      </p:pic>
      <p:sp>
        <p:nvSpPr>
          <p:cNvPr id="13" name="Text 7"/>
          <p:cNvSpPr/>
          <p:nvPr/>
        </p:nvSpPr>
        <p:spPr>
          <a:xfrm>
            <a:off x="4480560" y="5120640"/>
            <a:ext cx="1783080" cy="274320"/>
          </a:xfrm>
          <a:prstGeom prst="rect">
            <a:avLst/>
          </a:prstGeom>
          <a:noFill/>
          <a:ln/>
        </p:spPr>
        <p:txBody>
          <a:bodyPr wrap="square" lIns="0" tIns="0" rIns="0" bIns="0" rtlCol="0" anchor="t"/>
          <a:lstStyle/>
          <a:p>
            <a:pPr indent="0" marL="0">
              <a:buNone/>
            </a:pPr>
            <a:r>
              <a:rPr lang="en-US" sz="1300" b="1" dirty="0">
                <a:solidFill>
                  <a:srgbClr val="2E9E6B"/>
                </a:solidFill>
                <a:latin typeface="Calibri" pitchFamily="34" charset="0"/>
                <a:ea typeface="Calibri" pitchFamily="34" charset="-122"/>
                <a:cs typeface="Calibri" pitchFamily="34" charset="-120"/>
              </a:rPr>
              <a:t>3  Track</a:t>
            </a:r>
            <a:endParaRPr lang="en-US" sz="1300" dirty="0"/>
          </a:p>
        </p:txBody>
      </p:sp>
      <p:sp>
        <p:nvSpPr>
          <p:cNvPr id="14" name="Text 8"/>
          <p:cNvSpPr/>
          <p:nvPr/>
        </p:nvSpPr>
        <p:spPr>
          <a:xfrm>
            <a:off x="4480560" y="5394960"/>
            <a:ext cx="1783080" cy="91440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Live timeline from submission to decision, with a helpline shortcut.</a:t>
            </a:r>
            <a:endParaRPr lang="en-US" sz="1050" dirty="0"/>
          </a:p>
        </p:txBody>
      </p:sp>
      <p:pic>
        <p:nvPicPr>
          <p:cNvPr id="15" name="Image 3" descr="/home/claude/img/dashboard.png">    </p:cNvPr>
          <p:cNvPicPr>
            <a:picLocks noChangeAspect="1"/>
          </p:cNvPicPr>
          <p:nvPr/>
        </p:nvPicPr>
        <p:blipFill>
          <a:blip r:embed="rId4"/>
          <a:stretch>
            <a:fillRect/>
          </a:stretch>
        </p:blipFill>
        <p:spPr>
          <a:xfrm>
            <a:off x="6583680" y="1371600"/>
            <a:ext cx="5029200" cy="3017520"/>
          </a:xfrm>
          <a:prstGeom prst="rect">
            <a:avLst/>
          </a:prstGeom>
        </p:spPr>
      </p:pic>
      <p:sp>
        <p:nvSpPr>
          <p:cNvPr id="16" name="Text 9"/>
          <p:cNvSpPr/>
          <p:nvPr/>
        </p:nvSpPr>
        <p:spPr>
          <a:xfrm>
            <a:off x="6583680" y="4526280"/>
            <a:ext cx="5029200" cy="274320"/>
          </a:xfrm>
          <a:prstGeom prst="rect">
            <a:avLst/>
          </a:prstGeom>
          <a:noFill/>
          <a:ln/>
        </p:spPr>
        <p:txBody>
          <a:bodyPr wrap="square" lIns="0" tIns="0" rIns="0" bIns="0" rtlCol="0" anchor="t"/>
          <a:lstStyle/>
          <a:p>
            <a:pPr indent="0" marL="0">
              <a:buNone/>
            </a:pPr>
            <a:r>
              <a:rPr lang="en-US" sz="1300" b="1" dirty="0">
                <a:solidFill>
                  <a:srgbClr val="2E9E6B"/>
                </a:solidFill>
                <a:latin typeface="Calibri" pitchFamily="34" charset="0"/>
                <a:ea typeface="Calibri" pitchFamily="34" charset="-122"/>
                <a:cs typeface="Calibri" pitchFamily="34" charset="-120"/>
              </a:rPr>
              <a:t>4  Officer view</a:t>
            </a:r>
            <a:endParaRPr lang="en-US" sz="1300" dirty="0"/>
          </a:p>
        </p:txBody>
      </p:sp>
      <p:sp>
        <p:nvSpPr>
          <p:cNvPr id="17" name="Text 10"/>
          <p:cNvSpPr/>
          <p:nvPr/>
        </p:nvSpPr>
        <p:spPr>
          <a:xfrm>
            <a:off x="6583680" y="4800600"/>
            <a:ext cx="5029200" cy="548640"/>
          </a:xfrm>
          <a:prstGeom prst="rect">
            <a:avLst/>
          </a:prstGeom>
          <a:noFill/>
          <a:ln/>
        </p:spPr>
        <p:txBody>
          <a:bodyPr wrap="square" lIns="0" tIns="0" rIns="0" bIns="0" rtlCol="0" anchor="t"/>
          <a:lstStyle/>
          <a:p>
            <a:pPr indent="0" marL="0">
              <a:buNone/>
            </a:pPr>
            <a:r>
              <a:rPr lang="en-US" sz="1050" dirty="0">
                <a:solidFill>
                  <a:srgbClr val="14213D"/>
                </a:solidFill>
                <a:latin typeface="Calibri" pitchFamily="34" charset="0"/>
                <a:ea typeface="Calibri" pitchFamily="34" charset="-122"/>
                <a:cs typeface="Calibri" pitchFamily="34" charset="-120"/>
              </a:rPr>
              <a:t>Ranked claims with the evidence pack, AI damage band, weather record and a suggested action. The officer can always override.</a:t>
            </a:r>
            <a:endParaRPr lang="en-US" sz="1050" dirty="0"/>
          </a:p>
        </p:txBody>
      </p:sp>
      <p:sp>
        <p:nvSpPr>
          <p:cNvPr id="18" name="Shape 11"/>
          <p:cNvSpPr/>
          <p:nvPr/>
        </p:nvSpPr>
        <p:spPr>
          <a:xfrm>
            <a:off x="6583680" y="5440680"/>
            <a:ext cx="5029200" cy="868680"/>
          </a:xfrm>
          <a:prstGeom prst="roundRect">
            <a:avLst>
              <a:gd name="adj" fmla="val 10526"/>
            </a:avLst>
          </a:prstGeom>
          <a:solidFill>
            <a:srgbClr val="FEF3E0"/>
          </a:solidFill>
          <a:ln w="12700">
            <a:solidFill>
              <a:srgbClr val="FEF3E0"/>
            </a:solidFill>
            <a:prstDash val="solid"/>
          </a:ln>
        </p:spPr>
      </p:sp>
      <p:sp>
        <p:nvSpPr>
          <p:cNvPr id="19" name="Text 12"/>
          <p:cNvSpPr/>
          <p:nvPr/>
        </p:nvSpPr>
        <p:spPr>
          <a:xfrm>
            <a:off x="6720840" y="5440680"/>
            <a:ext cx="4754880" cy="868680"/>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Built for low digital access: </a:t>
            </a:r>
            <a:pPr indent="0" marL="0">
              <a:buNone/>
            </a:pPr>
            <a:r>
              <a:rPr lang="en-US" sz="1050" dirty="0">
                <a:solidFill>
                  <a:srgbClr val="14213D"/>
                </a:solidFill>
                <a:latin typeface="Calibri" pitchFamily="34" charset="0"/>
                <a:ea typeface="Calibri" pitchFamily="34" charset="-122"/>
                <a:cs typeface="Calibri" pitchFamily="34" charset="-120"/>
              </a:rPr>
              <a:t>offline saving, Telugu and English labels, photo prompts instead of typing, and an option for a village helper to capture on the farmer's behalf.</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320040"/>
            <a:ext cx="11064240" cy="868680"/>
          </a:xfrm>
          <a:prstGeom prst="rect">
            <a:avLst/>
          </a:prstGeom>
          <a:noFill/>
          <a:ln/>
        </p:spPr>
        <p:txBody>
          <a:bodyPr wrap="square" lIns="0" tIns="0" rIns="0" bIns="0" rtlCol="0" anchor="t"/>
          <a:lstStyle/>
          <a:p>
            <a:pPr indent="0" marL="0">
              <a:buNone/>
            </a:pPr>
            <a:r>
              <a:rPr lang="en-US" sz="2400" b="1" dirty="0">
                <a:solidFill>
                  <a:srgbClr val="14213D"/>
                </a:solidFill>
                <a:latin typeface="Georgia" pitchFamily="34" charset="0"/>
                <a:ea typeface="Georgia" pitchFamily="34" charset="-122"/>
                <a:cs typeface="Georgia" pitchFamily="34" charset="-120"/>
              </a:rPr>
              <a:t>If it works, claims move from village averages to proof for each farm</a:t>
            </a:r>
            <a:endParaRPr lang="en-US" sz="2400" dirty="0"/>
          </a:p>
        </p:txBody>
      </p:sp>
      <p:sp>
        <p:nvSpPr>
          <p:cNvPr id="3" name="Text 1"/>
          <p:cNvSpPr/>
          <p:nvPr/>
        </p:nvSpPr>
        <p:spPr>
          <a:xfrm>
            <a:off x="548640" y="6492240"/>
            <a:ext cx="7315200" cy="228600"/>
          </a:xfrm>
          <a:prstGeom prst="rect">
            <a:avLst/>
          </a:prstGeom>
          <a:noFill/>
          <a:ln/>
        </p:spPr>
        <p:txBody>
          <a:bodyPr wrap="square" lIns="0" tIns="0" rIns="0" bIns="0" rtlCol="0" anchor="ctr"/>
          <a:lstStyle/>
          <a:p>
            <a:pPr indent="0" marL="0">
              <a:buNone/>
            </a:pPr>
            <a:r>
              <a:rPr lang="en-US" sz="900" dirty="0">
                <a:solidFill>
                  <a:srgbClr val="5F6B80"/>
                </a:solidFill>
                <a:latin typeface="Calibri" pitchFamily="34" charset="0"/>
                <a:ea typeface="Calibri" pitchFamily="34" charset="-122"/>
                <a:cs typeface="Calibri" pitchFamily="34" charset="-120"/>
              </a:rPr>
              <a:t>IMPACT TANK '26  |  SOLUTION CONCEPT DECK  |  FarmProof  |  Team Nexus.DTU</a:t>
            </a:r>
            <a:endParaRPr lang="en-US" sz="900" dirty="0"/>
          </a:p>
        </p:txBody>
      </p:sp>
      <p:sp>
        <p:nvSpPr>
          <p:cNvPr id="4" name="Text 2"/>
          <p:cNvSpPr/>
          <p:nvPr/>
        </p:nvSpPr>
        <p:spPr>
          <a:xfrm>
            <a:off x="11155680" y="6492240"/>
            <a:ext cx="457200" cy="228600"/>
          </a:xfrm>
          <a:prstGeom prst="rect">
            <a:avLst/>
          </a:prstGeom>
          <a:noFill/>
          <a:ln/>
        </p:spPr>
        <p:txBody>
          <a:bodyPr wrap="square" lIns="0" tIns="0" rIns="0" bIns="0" rtlCol="0" anchor="ctr"/>
          <a:lstStyle/>
          <a:p>
            <a:pPr algn="r" indent="0" marL="0">
              <a:buNone/>
            </a:pPr>
            <a:r>
              <a:rPr lang="en-US" sz="900" dirty="0">
                <a:solidFill>
                  <a:srgbClr val="5F6B80"/>
                </a:solidFill>
                <a:latin typeface="Calibri" pitchFamily="34" charset="0"/>
                <a:ea typeface="Calibri" pitchFamily="34" charset="-122"/>
                <a:cs typeface="Calibri" pitchFamily="34" charset="-120"/>
              </a:rPr>
              <a:t>9</a:t>
            </a:r>
            <a:endParaRPr lang="en-US" sz="900" dirty="0"/>
          </a:p>
        </p:txBody>
      </p:sp>
      <p:sp>
        <p:nvSpPr>
          <p:cNvPr id="6" name="Text 3"/>
          <p:cNvSpPr/>
          <p:nvPr/>
        </p:nvSpPr>
        <p:spPr>
          <a:xfrm>
            <a:off x="548640" y="1371600"/>
            <a:ext cx="4572000" cy="228600"/>
          </a:xfrm>
          <a:prstGeom prst="rect">
            <a:avLst/>
          </a:prstGeom>
          <a:noFill/>
          <a:ln/>
        </p:spPr>
        <p:txBody>
          <a:bodyPr wrap="square" lIns="0" tIns="0" rIns="0" bIns="0" rtlCol="0" anchor="t"/>
          <a:lstStyle/>
          <a:p>
            <a:pPr indent="0" marL="0">
              <a:buNone/>
            </a:pPr>
            <a:r>
              <a:rPr lang="en-US" sz="1000" b="1" spc="150" kern="0" dirty="0">
                <a:solidFill>
                  <a:srgbClr val="2E9E6B"/>
                </a:solidFill>
                <a:latin typeface="Calibri" pitchFamily="34" charset="0"/>
                <a:ea typeface="Calibri" pitchFamily="34" charset="-122"/>
                <a:cs typeface="Calibri" pitchFamily="34" charset="-120"/>
              </a:rPr>
              <a:t>TODAY VS WITH FARMPROOF</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64208"/>
          <a:ext cx="6583680" cy="914400"/>
        </p:xfrm>
        <a:graphic>
          <a:graphicData uri="http://schemas.openxmlformats.org/drawingml/2006/table">
            <a:tbl>
              <a:tblPr/>
              <a:tblGrid>
                <a:gridCol w="1737360"/>
                <a:gridCol w="2194560"/>
                <a:gridCol w="265176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Area</a:t>
                      </a:r>
                      <a:endParaRPr lang="en-US" sz="1150" dirty="0">
                        <a:latin typeface="Calibri" charset="0"/>
                        <a:ea typeface="Calibri" charset="0"/>
                        <a:cs typeface="Calibri" charset="0"/>
                      </a:endParaRPr>
                    </a:p>
                  </a:txBody>
                  <a:tcPr marL="91440" marR="91440" marT="45720" marB="45720">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Today</a:t>
                      </a:r>
                      <a:endParaRPr lang="en-US" sz="1150" dirty="0">
                        <a:latin typeface="Calibri" charset="0"/>
                        <a:ea typeface="Calibri" charset="0"/>
                        <a:cs typeface="Calibri" charset="0"/>
                      </a:endParaRPr>
                    </a:p>
                  </a:txBody>
                  <a:tcPr marL="91440" marR="91440" marT="45720" marB="45720">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1421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With FarmProof</a:t>
                      </a:r>
                      <a:endParaRPr lang="en-US" sz="1150" dirty="0">
                        <a:latin typeface="Calibri" charset="0"/>
                        <a:ea typeface="Calibri" charset="0"/>
                        <a:cs typeface="Calibri" charset="0"/>
                      </a:endParaRPr>
                    </a:p>
                  </a:txBody>
                  <a:tcPr marL="91440" marR="91440" marT="45720" marB="45720">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14213D"/>
                    </a:solidFill>
                  </a:tcPr>
                </a:tc>
              </a:tr>
              <a:tr h="566928">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Level of evidence</a:t>
                      </a:r>
                      <a:endParaRPr lang="en-US" sz="11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Village sample plots</a:t>
                      </a:r>
                      <a:endParaRPr lang="en-US" sz="11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CEAE5"/>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Photos, GPS and time for each claiming farm</a:t>
                      </a:r>
                      <a:endParaRPr lang="en-US" sz="11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E8F5EE"/>
                    </a:solidFill>
                  </a:tcPr>
                </a:tc>
              </a:tr>
              <a:tr h="566928">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Time to first evidence</a:t>
                      </a:r>
                      <a:endParaRPr lang="en-US" sz="11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After a survey is scheduled</a:t>
                      </a:r>
                      <a:endParaRPr lang="en-US" sz="11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CEAE5"/>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Inside the 72-hour window</a:t>
                      </a:r>
                      <a:endParaRPr lang="en-US" sz="11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E8F5EE"/>
                    </a:solidFill>
                  </a:tcPr>
                </a:tc>
              </a:tr>
              <a:tr h="566928">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Surveyor visits</a:t>
                      </a:r>
                      <a:endParaRPr lang="en-US" sz="11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Most claims need one</a:t>
                      </a:r>
                      <a:endParaRPr lang="en-US" sz="11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CEAE5"/>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Flagged claims visited first</a:t>
                      </a:r>
                      <a:endParaRPr lang="en-US" sz="11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E8F5EE"/>
                    </a:solidFill>
                  </a:tcPr>
                </a:tc>
              </a:tr>
              <a:tr h="566928">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Farmer visibility</a:t>
                      </a:r>
                      <a:endParaRPr lang="en-US" sz="11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Little or none</a:t>
                      </a:r>
                      <a:endParaRPr lang="en-US" sz="11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CEAE5"/>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Live status in local language</a:t>
                      </a:r>
                      <a:endParaRPr lang="en-US" sz="11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E8F5EE"/>
                    </a:solidFill>
                  </a:tcPr>
                </a:tc>
              </a:tr>
              <a:tr h="566928">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Basis of disputes</a:t>
                      </a:r>
                      <a:endParaRPr lang="en-US" sz="11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Averages vs one farm's loss</a:t>
                      </a:r>
                      <a:endParaRPr lang="en-US" sz="11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CEAE5"/>
                    </a:solidFill>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Photo plus weather record</a:t>
                      </a:r>
                      <a:endParaRPr lang="en-US" sz="110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E8F5EE"/>
                    </a:solidFill>
                  </a:tcPr>
                </a:tc>
              </a:tr>
            </a:tbl>
          </a:graphicData>
        </a:graphic>
      </p:graphicFrame>
      <p:sp>
        <p:nvSpPr>
          <p:cNvPr id="8" name="Text 4"/>
          <p:cNvSpPr/>
          <p:nvPr/>
        </p:nvSpPr>
        <p:spPr>
          <a:xfrm>
            <a:off x="548640" y="5166360"/>
            <a:ext cx="4572000" cy="228600"/>
          </a:xfrm>
          <a:prstGeom prst="rect">
            <a:avLst/>
          </a:prstGeom>
          <a:noFill/>
          <a:ln/>
        </p:spPr>
        <p:txBody>
          <a:bodyPr wrap="square" lIns="0" tIns="0" rIns="0" bIns="0" rtlCol="0" anchor="t"/>
          <a:lstStyle/>
          <a:p>
            <a:pPr indent="0" marL="0">
              <a:buNone/>
            </a:pPr>
            <a:r>
              <a:rPr lang="en-US" sz="1000" b="1" spc="150" kern="0" dirty="0">
                <a:solidFill>
                  <a:srgbClr val="2E9E6B"/>
                </a:solidFill>
                <a:latin typeface="Calibri" pitchFamily="34" charset="0"/>
                <a:ea typeface="Calibri" pitchFamily="34" charset="-122"/>
                <a:cs typeface="Calibri" pitchFamily="34" charset="-120"/>
              </a:rPr>
              <a:t>WHO BENEFITS</a:t>
            </a:r>
            <a:endParaRPr lang="en-US" sz="1000" dirty="0"/>
          </a:p>
        </p:txBody>
      </p:sp>
      <p:sp>
        <p:nvSpPr>
          <p:cNvPr id="9" name="Shape 5"/>
          <p:cNvSpPr/>
          <p:nvPr/>
        </p:nvSpPr>
        <p:spPr>
          <a:xfrm>
            <a:off x="548640" y="5440680"/>
            <a:ext cx="1572768" cy="868680"/>
          </a:xfrm>
          <a:prstGeom prst="roundRect">
            <a:avLst>
              <a:gd name="adj" fmla="val 10526"/>
            </a:avLst>
          </a:prstGeom>
          <a:solidFill>
            <a:srgbClr val="FFFFFF"/>
          </a:solidFill>
          <a:ln w="12700">
            <a:solidFill>
              <a:srgbClr val="FFFFFF"/>
            </a:solidFill>
            <a:prstDash val="solid"/>
          </a:ln>
        </p:spPr>
      </p:sp>
      <p:sp>
        <p:nvSpPr>
          <p:cNvPr id="10" name="Text 6"/>
          <p:cNvSpPr/>
          <p:nvPr/>
        </p:nvSpPr>
        <p:spPr>
          <a:xfrm>
            <a:off x="640080" y="5486400"/>
            <a:ext cx="1417320" cy="777240"/>
          </a:xfrm>
          <a:prstGeom prst="rect">
            <a:avLst/>
          </a:prstGeom>
          <a:noFill/>
          <a:ln/>
        </p:spPr>
        <p:txBody>
          <a:bodyPr wrap="square" lIns="0" tIns="0" rIns="0" bIns="0" rtlCol="0" anchor="t"/>
          <a:lstStyle/>
          <a:p>
            <a:pPr indent="0" marL="0">
              <a:buNone/>
            </a:pPr>
            <a:r>
              <a:rPr lang="en-US" sz="1100" b="1" dirty="0">
                <a:solidFill>
                  <a:srgbClr val="2E9E6B"/>
                </a:solidFill>
                <a:latin typeface="Calibri" pitchFamily="34" charset="0"/>
                <a:ea typeface="Calibri" pitchFamily="34" charset="-122"/>
                <a:cs typeface="Calibri" pitchFamily="34" charset="-120"/>
              </a:rPr>
              <a:t>Farmers</a:t>
            </a:r>
            <a:endParaRPr lang="en-US" sz="1100" dirty="0"/>
          </a:p>
          <a:p>
            <a:pPr indent="0" marL="0">
              <a:buNone/>
            </a:pPr>
            <a:r>
              <a:rPr lang="en-US" sz="950" dirty="0">
                <a:solidFill>
                  <a:srgbClr val="5F6B80"/>
                </a:solidFill>
                <a:latin typeface="Calibri" pitchFamily="34" charset="0"/>
                <a:ea typeface="Calibri" pitchFamily="34" charset="-122"/>
                <a:cs typeface="Calibri" pitchFamily="34" charset="-120"/>
              </a:rPr>
              <a:t>faster, fairer payouts; less informal debt</a:t>
            </a:r>
            <a:endParaRPr lang="en-US" sz="1100" dirty="0"/>
          </a:p>
        </p:txBody>
      </p:sp>
      <p:sp>
        <p:nvSpPr>
          <p:cNvPr id="11" name="Shape 7"/>
          <p:cNvSpPr/>
          <p:nvPr/>
        </p:nvSpPr>
        <p:spPr>
          <a:xfrm>
            <a:off x="2212848" y="5440680"/>
            <a:ext cx="1572768" cy="868680"/>
          </a:xfrm>
          <a:prstGeom prst="roundRect">
            <a:avLst>
              <a:gd name="adj" fmla="val 10526"/>
            </a:avLst>
          </a:prstGeom>
          <a:solidFill>
            <a:srgbClr val="FFFFFF"/>
          </a:solidFill>
          <a:ln w="12700">
            <a:solidFill>
              <a:srgbClr val="FFFFFF"/>
            </a:solidFill>
            <a:prstDash val="solid"/>
          </a:ln>
        </p:spPr>
      </p:sp>
      <p:sp>
        <p:nvSpPr>
          <p:cNvPr id="12" name="Text 8"/>
          <p:cNvSpPr/>
          <p:nvPr/>
        </p:nvSpPr>
        <p:spPr>
          <a:xfrm>
            <a:off x="2304288" y="5486400"/>
            <a:ext cx="1417320" cy="777240"/>
          </a:xfrm>
          <a:prstGeom prst="rect">
            <a:avLst/>
          </a:prstGeom>
          <a:noFill/>
          <a:ln/>
        </p:spPr>
        <p:txBody>
          <a:bodyPr wrap="square" lIns="0" tIns="0" rIns="0" bIns="0" rtlCol="0" anchor="t"/>
          <a:lstStyle/>
          <a:p>
            <a:pPr indent="0" marL="0">
              <a:buNone/>
            </a:pPr>
            <a:r>
              <a:rPr lang="en-US" sz="1100" b="1" dirty="0">
                <a:solidFill>
                  <a:srgbClr val="2E9E6B"/>
                </a:solidFill>
                <a:latin typeface="Calibri" pitchFamily="34" charset="0"/>
                <a:ea typeface="Calibri" pitchFamily="34" charset="-122"/>
                <a:cs typeface="Calibri" pitchFamily="34" charset="-120"/>
              </a:rPr>
              <a:t>Insurers</a:t>
            </a:r>
            <a:endParaRPr lang="en-US" sz="1100" dirty="0"/>
          </a:p>
          <a:p>
            <a:pPr indent="0" marL="0">
              <a:buNone/>
            </a:pPr>
            <a:r>
              <a:rPr lang="en-US" sz="950" dirty="0">
                <a:solidFill>
                  <a:srgbClr val="5F6B80"/>
                </a:solidFill>
                <a:latin typeface="Calibri" pitchFamily="34" charset="0"/>
                <a:ea typeface="Calibri" pitchFamily="34" charset="-122"/>
                <a:cs typeface="Calibri" pitchFamily="34" charset="-120"/>
              </a:rPr>
              <a:t>credible loss proof</a:t>
            </a:r>
            <a:endParaRPr lang="en-US" sz="1100" dirty="0"/>
          </a:p>
        </p:txBody>
      </p:sp>
      <p:sp>
        <p:nvSpPr>
          <p:cNvPr id="13" name="Shape 9"/>
          <p:cNvSpPr/>
          <p:nvPr/>
        </p:nvSpPr>
        <p:spPr>
          <a:xfrm>
            <a:off x="3877056" y="5440680"/>
            <a:ext cx="1572768" cy="868680"/>
          </a:xfrm>
          <a:prstGeom prst="roundRect">
            <a:avLst>
              <a:gd name="adj" fmla="val 10526"/>
            </a:avLst>
          </a:prstGeom>
          <a:solidFill>
            <a:srgbClr val="FFFFFF"/>
          </a:solidFill>
          <a:ln w="12700">
            <a:solidFill>
              <a:srgbClr val="FFFFFF"/>
            </a:solidFill>
            <a:prstDash val="solid"/>
          </a:ln>
        </p:spPr>
      </p:sp>
      <p:sp>
        <p:nvSpPr>
          <p:cNvPr id="14" name="Text 10"/>
          <p:cNvSpPr/>
          <p:nvPr/>
        </p:nvSpPr>
        <p:spPr>
          <a:xfrm>
            <a:off x="3968496" y="5486400"/>
            <a:ext cx="1417320" cy="777240"/>
          </a:xfrm>
          <a:prstGeom prst="rect">
            <a:avLst/>
          </a:prstGeom>
          <a:noFill/>
          <a:ln/>
        </p:spPr>
        <p:txBody>
          <a:bodyPr wrap="square" lIns="0" tIns="0" rIns="0" bIns="0" rtlCol="0" anchor="t"/>
          <a:lstStyle/>
          <a:p>
            <a:pPr indent="0" marL="0">
              <a:buNone/>
            </a:pPr>
            <a:r>
              <a:rPr lang="en-US" sz="1100" b="1" dirty="0">
                <a:solidFill>
                  <a:srgbClr val="2E9E6B"/>
                </a:solidFill>
                <a:latin typeface="Calibri" pitchFamily="34" charset="0"/>
                <a:ea typeface="Calibri" pitchFamily="34" charset="-122"/>
                <a:cs typeface="Calibri" pitchFamily="34" charset="-120"/>
              </a:rPr>
              <a:t>Banks &amp; co-ops</a:t>
            </a:r>
            <a:endParaRPr lang="en-US" sz="1100" dirty="0"/>
          </a:p>
          <a:p>
            <a:pPr indent="0" marL="0">
              <a:buNone/>
            </a:pPr>
            <a:r>
              <a:rPr lang="en-US" sz="950" dirty="0">
                <a:solidFill>
                  <a:srgbClr val="5F6B80"/>
                </a:solidFill>
                <a:latin typeface="Calibri" pitchFamily="34" charset="0"/>
                <a:ea typeface="Calibri" pitchFamily="34" charset="-122"/>
                <a:cs typeface="Calibri" pitchFamily="34" charset="-120"/>
              </a:rPr>
              <a:t>loan recovery timing</a:t>
            </a:r>
            <a:endParaRPr lang="en-US" sz="1100" dirty="0"/>
          </a:p>
        </p:txBody>
      </p:sp>
      <p:sp>
        <p:nvSpPr>
          <p:cNvPr id="15" name="Shape 11"/>
          <p:cNvSpPr/>
          <p:nvPr/>
        </p:nvSpPr>
        <p:spPr>
          <a:xfrm>
            <a:off x="5541264" y="5440680"/>
            <a:ext cx="1572768" cy="868680"/>
          </a:xfrm>
          <a:prstGeom prst="roundRect">
            <a:avLst>
              <a:gd name="adj" fmla="val 10526"/>
            </a:avLst>
          </a:prstGeom>
          <a:solidFill>
            <a:srgbClr val="FFFFFF"/>
          </a:solidFill>
          <a:ln w="12700">
            <a:solidFill>
              <a:srgbClr val="FFFFFF"/>
            </a:solidFill>
            <a:prstDash val="solid"/>
          </a:ln>
        </p:spPr>
      </p:sp>
      <p:sp>
        <p:nvSpPr>
          <p:cNvPr id="16" name="Text 12"/>
          <p:cNvSpPr/>
          <p:nvPr/>
        </p:nvSpPr>
        <p:spPr>
          <a:xfrm>
            <a:off x="5632704" y="5486400"/>
            <a:ext cx="1417320" cy="777240"/>
          </a:xfrm>
          <a:prstGeom prst="rect">
            <a:avLst/>
          </a:prstGeom>
          <a:noFill/>
          <a:ln/>
        </p:spPr>
        <p:txBody>
          <a:bodyPr wrap="square" lIns="0" tIns="0" rIns="0" bIns="0" rtlCol="0" anchor="t"/>
          <a:lstStyle/>
          <a:p>
            <a:pPr indent="0" marL="0">
              <a:buNone/>
            </a:pPr>
            <a:r>
              <a:rPr lang="en-US" sz="1100" b="1" dirty="0">
                <a:solidFill>
                  <a:srgbClr val="2E9E6B"/>
                </a:solidFill>
                <a:latin typeface="Calibri" pitchFamily="34" charset="0"/>
                <a:ea typeface="Calibri" pitchFamily="34" charset="-122"/>
                <a:cs typeface="Calibri" pitchFamily="34" charset="-120"/>
              </a:rPr>
              <a:t>Officials</a:t>
            </a:r>
            <a:endParaRPr lang="en-US" sz="1100" dirty="0"/>
          </a:p>
          <a:p>
            <a:pPr indent="0" marL="0">
              <a:buNone/>
            </a:pPr>
            <a:r>
              <a:rPr lang="en-US" sz="950" dirty="0">
                <a:solidFill>
                  <a:srgbClr val="5F6B80"/>
                </a:solidFill>
                <a:latin typeface="Calibri" pitchFamily="34" charset="0"/>
                <a:ea typeface="Calibri" pitchFamily="34" charset="-122"/>
                <a:cs typeface="Calibri" pitchFamily="34" charset="-120"/>
              </a:rPr>
              <a:t>transparent, auditable claims</a:t>
            </a:r>
            <a:endParaRPr lang="en-US" sz="1100" dirty="0"/>
          </a:p>
        </p:txBody>
      </p:sp>
      <p:sp>
        <p:nvSpPr>
          <p:cNvPr id="17" name="Text 13"/>
          <p:cNvSpPr/>
          <p:nvPr/>
        </p:nvSpPr>
        <p:spPr>
          <a:xfrm>
            <a:off x="7452360" y="1371600"/>
            <a:ext cx="4206240" cy="228600"/>
          </a:xfrm>
          <a:prstGeom prst="rect">
            <a:avLst/>
          </a:prstGeom>
          <a:noFill/>
          <a:ln/>
        </p:spPr>
        <p:txBody>
          <a:bodyPr wrap="square" lIns="0" tIns="0" rIns="0" bIns="0" rtlCol="0" anchor="t"/>
          <a:lstStyle/>
          <a:p>
            <a:pPr indent="0" marL="0">
              <a:buNone/>
            </a:pPr>
            <a:r>
              <a:rPr lang="en-US" sz="1000" b="1" spc="150" kern="0" dirty="0">
                <a:solidFill>
                  <a:srgbClr val="2E9E6B"/>
                </a:solidFill>
                <a:latin typeface="Calibri" pitchFamily="34" charset="0"/>
                <a:ea typeface="Calibri" pitchFamily="34" charset="-122"/>
                <a:cs typeface="Calibri" pitchFamily="34" charset="-120"/>
              </a:rPr>
              <a:t>HOW WE WILL MEASURE IT (PROTOTYPE TARGETS)</a:t>
            </a:r>
            <a:endParaRPr lang="en-US" sz="1000" dirty="0"/>
          </a:p>
        </p:txBody>
      </p:sp>
      <p:sp>
        <p:nvSpPr>
          <p:cNvPr id="18" name="Shape 14"/>
          <p:cNvSpPr/>
          <p:nvPr/>
        </p:nvSpPr>
        <p:spPr>
          <a:xfrm>
            <a:off x="7452360" y="1664208"/>
            <a:ext cx="4160520" cy="713232"/>
          </a:xfrm>
          <a:prstGeom prst="roundRect">
            <a:avLst>
              <a:gd name="adj" fmla="val 12821"/>
            </a:avLst>
          </a:prstGeom>
          <a:solidFill>
            <a:srgbClr val="FFFFFF"/>
          </a:solidFill>
          <a:ln w="12700">
            <a:solidFill>
              <a:srgbClr val="FFFFFF"/>
            </a:solidFill>
            <a:prstDash val="solid"/>
          </a:ln>
        </p:spPr>
      </p:sp>
      <p:sp>
        <p:nvSpPr>
          <p:cNvPr id="19" name="Shape 15"/>
          <p:cNvSpPr/>
          <p:nvPr/>
        </p:nvSpPr>
        <p:spPr>
          <a:xfrm>
            <a:off x="7452360" y="1664208"/>
            <a:ext cx="73152" cy="713232"/>
          </a:xfrm>
          <a:prstGeom prst="rect">
            <a:avLst/>
          </a:prstGeom>
          <a:solidFill>
            <a:srgbClr val="2E9E6B"/>
          </a:solidFill>
          <a:ln w="12700">
            <a:solidFill>
              <a:srgbClr val="2E9E6B"/>
            </a:solidFill>
            <a:prstDash val="solid"/>
          </a:ln>
        </p:spPr>
      </p:sp>
      <p:sp>
        <p:nvSpPr>
          <p:cNvPr id="20" name="Text 16"/>
          <p:cNvSpPr/>
          <p:nvPr/>
        </p:nvSpPr>
        <p:spPr>
          <a:xfrm>
            <a:off x="7680960" y="1719072"/>
            <a:ext cx="3840480" cy="640080"/>
          </a:xfrm>
          <a:prstGeom prst="rect">
            <a:avLst/>
          </a:prstGeom>
          <a:noFill/>
          <a:ln/>
        </p:spPr>
        <p:txBody>
          <a:bodyPr wrap="square" lIns="0" tIns="0" rIns="0" bIns="0" rtlCol="0" anchor="t"/>
          <a:lstStyle/>
          <a:p>
            <a:pPr indent="0" marL="0">
              <a:buNone/>
            </a:pPr>
            <a:r>
              <a:rPr lang="en-US" sz="1150" b="1" dirty="0">
                <a:solidFill>
                  <a:srgbClr val="14213D"/>
                </a:solidFill>
                <a:latin typeface="Calibri" pitchFamily="34" charset="0"/>
                <a:ea typeface="Calibri" pitchFamily="34" charset="-122"/>
                <a:cs typeface="Calibri" pitchFamily="34" charset="-120"/>
              </a:rPr>
              <a:t>Time to evidence</a:t>
            </a:r>
            <a:endParaRPr lang="en-US" sz="1150" dirty="0"/>
          </a:p>
          <a:p>
            <a:pPr indent="0" marL="0">
              <a:buNone/>
            </a:pPr>
            <a:r>
              <a:rPr lang="en-US" sz="1000" dirty="0">
                <a:solidFill>
                  <a:srgbClr val="5F6B80"/>
                </a:solidFill>
                <a:latin typeface="Calibri" pitchFamily="34" charset="0"/>
                <a:ea typeface="Calibri" pitchFamily="34" charset="-122"/>
                <a:cs typeface="Calibri" pitchFamily="34" charset="-120"/>
              </a:rPr>
              <a:t>Complete pack inside the 72-hour window for every test claim</a:t>
            </a:r>
            <a:endParaRPr lang="en-US" sz="1150" dirty="0"/>
          </a:p>
        </p:txBody>
      </p:sp>
      <p:sp>
        <p:nvSpPr>
          <p:cNvPr id="21" name="Shape 17"/>
          <p:cNvSpPr/>
          <p:nvPr/>
        </p:nvSpPr>
        <p:spPr>
          <a:xfrm>
            <a:off x="7452360" y="2450592"/>
            <a:ext cx="4160520" cy="713232"/>
          </a:xfrm>
          <a:prstGeom prst="roundRect">
            <a:avLst>
              <a:gd name="adj" fmla="val 12821"/>
            </a:avLst>
          </a:prstGeom>
          <a:solidFill>
            <a:srgbClr val="FFFFFF"/>
          </a:solidFill>
          <a:ln w="12700">
            <a:solidFill>
              <a:srgbClr val="FFFFFF"/>
            </a:solidFill>
            <a:prstDash val="solid"/>
          </a:ln>
        </p:spPr>
      </p:sp>
      <p:sp>
        <p:nvSpPr>
          <p:cNvPr id="22" name="Shape 18"/>
          <p:cNvSpPr/>
          <p:nvPr/>
        </p:nvSpPr>
        <p:spPr>
          <a:xfrm>
            <a:off x="7452360" y="2450592"/>
            <a:ext cx="73152" cy="713232"/>
          </a:xfrm>
          <a:prstGeom prst="rect">
            <a:avLst/>
          </a:prstGeom>
          <a:solidFill>
            <a:srgbClr val="2E9E6B"/>
          </a:solidFill>
          <a:ln w="12700">
            <a:solidFill>
              <a:srgbClr val="2E9E6B"/>
            </a:solidFill>
            <a:prstDash val="solid"/>
          </a:ln>
        </p:spPr>
      </p:sp>
      <p:sp>
        <p:nvSpPr>
          <p:cNvPr id="23" name="Text 19"/>
          <p:cNvSpPr/>
          <p:nvPr/>
        </p:nvSpPr>
        <p:spPr>
          <a:xfrm>
            <a:off x="7680960" y="2505456"/>
            <a:ext cx="3840480" cy="640080"/>
          </a:xfrm>
          <a:prstGeom prst="rect">
            <a:avLst/>
          </a:prstGeom>
          <a:noFill/>
          <a:ln/>
        </p:spPr>
        <p:txBody>
          <a:bodyPr wrap="square" lIns="0" tIns="0" rIns="0" bIns="0" rtlCol="0" anchor="t"/>
          <a:lstStyle/>
          <a:p>
            <a:pPr indent="0" marL="0">
              <a:buNone/>
            </a:pPr>
            <a:r>
              <a:rPr lang="en-US" sz="1150" b="1" dirty="0">
                <a:solidFill>
                  <a:srgbClr val="14213D"/>
                </a:solidFill>
                <a:latin typeface="Calibri" pitchFamily="34" charset="0"/>
                <a:ea typeface="Calibri" pitchFamily="34" charset="-122"/>
                <a:cs typeface="Calibri" pitchFamily="34" charset="-120"/>
              </a:rPr>
              <a:t>Pack completeness</a:t>
            </a:r>
            <a:endParaRPr lang="en-US" sz="1150" dirty="0"/>
          </a:p>
          <a:p>
            <a:pPr indent="0" marL="0">
              <a:buNone/>
            </a:pPr>
            <a:r>
              <a:rPr lang="en-US" sz="1000" dirty="0">
                <a:solidFill>
                  <a:srgbClr val="5F6B80"/>
                </a:solidFill>
                <a:latin typeface="Calibri" pitchFamily="34" charset="0"/>
                <a:ea typeface="Calibri" pitchFamily="34" charset="-122"/>
                <a:cs typeface="Calibri" pitchFamily="34" charset="-120"/>
              </a:rPr>
              <a:t>At least 90% of test claims with 5 photos, GPS, time and plot pin</a:t>
            </a:r>
            <a:endParaRPr lang="en-US" sz="1150" dirty="0"/>
          </a:p>
        </p:txBody>
      </p:sp>
      <p:sp>
        <p:nvSpPr>
          <p:cNvPr id="24" name="Shape 20"/>
          <p:cNvSpPr/>
          <p:nvPr/>
        </p:nvSpPr>
        <p:spPr>
          <a:xfrm>
            <a:off x="7452360" y="3236976"/>
            <a:ext cx="4160520" cy="713232"/>
          </a:xfrm>
          <a:prstGeom prst="roundRect">
            <a:avLst>
              <a:gd name="adj" fmla="val 12821"/>
            </a:avLst>
          </a:prstGeom>
          <a:solidFill>
            <a:srgbClr val="FFFFFF"/>
          </a:solidFill>
          <a:ln w="12700">
            <a:solidFill>
              <a:srgbClr val="FFFFFF"/>
            </a:solidFill>
            <a:prstDash val="solid"/>
          </a:ln>
        </p:spPr>
      </p:sp>
      <p:sp>
        <p:nvSpPr>
          <p:cNvPr id="25" name="Shape 21"/>
          <p:cNvSpPr/>
          <p:nvPr/>
        </p:nvSpPr>
        <p:spPr>
          <a:xfrm>
            <a:off x="7452360" y="3236976"/>
            <a:ext cx="73152" cy="713232"/>
          </a:xfrm>
          <a:prstGeom prst="rect">
            <a:avLst/>
          </a:prstGeom>
          <a:solidFill>
            <a:srgbClr val="2E9E6B"/>
          </a:solidFill>
          <a:ln w="12700">
            <a:solidFill>
              <a:srgbClr val="2E9E6B"/>
            </a:solidFill>
            <a:prstDash val="solid"/>
          </a:ln>
        </p:spPr>
      </p:sp>
      <p:sp>
        <p:nvSpPr>
          <p:cNvPr id="26" name="Text 22"/>
          <p:cNvSpPr/>
          <p:nvPr/>
        </p:nvSpPr>
        <p:spPr>
          <a:xfrm>
            <a:off x="7680960" y="3291840"/>
            <a:ext cx="3840480" cy="640080"/>
          </a:xfrm>
          <a:prstGeom prst="rect">
            <a:avLst/>
          </a:prstGeom>
          <a:noFill/>
          <a:ln/>
        </p:spPr>
        <p:txBody>
          <a:bodyPr wrap="square" lIns="0" tIns="0" rIns="0" bIns="0" rtlCol="0" anchor="t"/>
          <a:lstStyle/>
          <a:p>
            <a:pPr indent="0" marL="0">
              <a:buNone/>
            </a:pPr>
            <a:r>
              <a:rPr lang="en-US" sz="1150" b="1" dirty="0">
                <a:solidFill>
                  <a:srgbClr val="14213D"/>
                </a:solidFill>
                <a:latin typeface="Calibri" pitchFamily="34" charset="0"/>
                <a:ea typeface="Calibri" pitchFamily="34" charset="-122"/>
                <a:cs typeface="Calibri" pitchFamily="34" charset="-120"/>
              </a:rPr>
              <a:t>AI agreement</a:t>
            </a:r>
            <a:endParaRPr lang="en-US" sz="1150" dirty="0"/>
          </a:p>
          <a:p>
            <a:pPr indent="0" marL="0">
              <a:buNone/>
            </a:pPr>
            <a:r>
              <a:rPr lang="en-US" sz="1000" dirty="0">
                <a:solidFill>
                  <a:srgbClr val="5F6B80"/>
                </a:solidFill>
                <a:latin typeface="Calibri" pitchFamily="34" charset="0"/>
                <a:ea typeface="Calibri" pitchFamily="34" charset="-122"/>
                <a:cs typeface="Calibri" pitchFamily="34" charset="-120"/>
              </a:rPr>
              <a:t>Damage band matches an expert's rating on a small labelled set; target 70% or more</a:t>
            </a:r>
            <a:endParaRPr lang="en-US" sz="1150" dirty="0"/>
          </a:p>
        </p:txBody>
      </p:sp>
      <p:sp>
        <p:nvSpPr>
          <p:cNvPr id="27" name="Shape 23"/>
          <p:cNvSpPr/>
          <p:nvPr/>
        </p:nvSpPr>
        <p:spPr>
          <a:xfrm>
            <a:off x="7452360" y="4023360"/>
            <a:ext cx="4160520" cy="713232"/>
          </a:xfrm>
          <a:prstGeom prst="roundRect">
            <a:avLst>
              <a:gd name="adj" fmla="val 12821"/>
            </a:avLst>
          </a:prstGeom>
          <a:solidFill>
            <a:srgbClr val="FFFFFF"/>
          </a:solidFill>
          <a:ln w="12700">
            <a:solidFill>
              <a:srgbClr val="FFFFFF"/>
            </a:solidFill>
            <a:prstDash val="solid"/>
          </a:ln>
        </p:spPr>
      </p:sp>
      <p:sp>
        <p:nvSpPr>
          <p:cNvPr id="28" name="Shape 24"/>
          <p:cNvSpPr/>
          <p:nvPr/>
        </p:nvSpPr>
        <p:spPr>
          <a:xfrm>
            <a:off x="7452360" y="4023360"/>
            <a:ext cx="73152" cy="713232"/>
          </a:xfrm>
          <a:prstGeom prst="rect">
            <a:avLst/>
          </a:prstGeom>
          <a:solidFill>
            <a:srgbClr val="2E9E6B"/>
          </a:solidFill>
          <a:ln w="12700">
            <a:solidFill>
              <a:srgbClr val="2E9E6B"/>
            </a:solidFill>
            <a:prstDash val="solid"/>
          </a:ln>
        </p:spPr>
      </p:sp>
      <p:sp>
        <p:nvSpPr>
          <p:cNvPr id="29" name="Text 25"/>
          <p:cNvSpPr/>
          <p:nvPr/>
        </p:nvSpPr>
        <p:spPr>
          <a:xfrm>
            <a:off x="7680960" y="4078224"/>
            <a:ext cx="3840480" cy="640080"/>
          </a:xfrm>
          <a:prstGeom prst="rect">
            <a:avLst/>
          </a:prstGeom>
          <a:noFill/>
          <a:ln/>
        </p:spPr>
        <p:txBody>
          <a:bodyPr wrap="square" lIns="0" tIns="0" rIns="0" bIns="0" rtlCol="0" anchor="t"/>
          <a:lstStyle/>
          <a:p>
            <a:pPr indent="0" marL="0">
              <a:buNone/>
            </a:pPr>
            <a:r>
              <a:rPr lang="en-US" sz="1150" b="1" dirty="0">
                <a:solidFill>
                  <a:srgbClr val="14213D"/>
                </a:solidFill>
                <a:latin typeface="Calibri" pitchFamily="34" charset="0"/>
                <a:ea typeface="Calibri" pitchFamily="34" charset="-122"/>
                <a:cs typeface="Calibri" pitchFamily="34" charset="-120"/>
              </a:rPr>
              <a:t>Usability</a:t>
            </a:r>
            <a:endParaRPr lang="en-US" sz="1150" dirty="0"/>
          </a:p>
          <a:p>
            <a:pPr indent="0" marL="0">
              <a:buNone/>
            </a:pPr>
            <a:r>
              <a:rPr lang="en-US" sz="1000" dirty="0">
                <a:solidFill>
                  <a:srgbClr val="5F6B80"/>
                </a:solidFill>
                <a:latin typeface="Calibri" pitchFamily="34" charset="0"/>
                <a:ea typeface="Calibri" pitchFamily="34" charset="-122"/>
                <a:cs typeface="Calibri" pitchFamily="34" charset="-120"/>
              </a:rPr>
              <a:t>4 of 5 test users finish a claim unaided in 10 minutes or less</a:t>
            </a:r>
            <a:endParaRPr lang="en-US" sz="1150" dirty="0"/>
          </a:p>
        </p:txBody>
      </p:sp>
      <p:sp>
        <p:nvSpPr>
          <p:cNvPr id="30" name="Shape 26"/>
          <p:cNvSpPr/>
          <p:nvPr/>
        </p:nvSpPr>
        <p:spPr>
          <a:xfrm>
            <a:off x="7452360" y="4809744"/>
            <a:ext cx="4160520" cy="713232"/>
          </a:xfrm>
          <a:prstGeom prst="roundRect">
            <a:avLst>
              <a:gd name="adj" fmla="val 12821"/>
            </a:avLst>
          </a:prstGeom>
          <a:solidFill>
            <a:srgbClr val="FFFFFF"/>
          </a:solidFill>
          <a:ln w="12700">
            <a:solidFill>
              <a:srgbClr val="FFFFFF"/>
            </a:solidFill>
            <a:prstDash val="solid"/>
          </a:ln>
        </p:spPr>
      </p:sp>
      <p:sp>
        <p:nvSpPr>
          <p:cNvPr id="31" name="Shape 27"/>
          <p:cNvSpPr/>
          <p:nvPr/>
        </p:nvSpPr>
        <p:spPr>
          <a:xfrm>
            <a:off x="7452360" y="4809744"/>
            <a:ext cx="73152" cy="713232"/>
          </a:xfrm>
          <a:prstGeom prst="rect">
            <a:avLst/>
          </a:prstGeom>
          <a:solidFill>
            <a:srgbClr val="2E9E6B"/>
          </a:solidFill>
          <a:ln w="12700">
            <a:solidFill>
              <a:srgbClr val="2E9E6B"/>
            </a:solidFill>
            <a:prstDash val="solid"/>
          </a:ln>
        </p:spPr>
      </p:sp>
      <p:sp>
        <p:nvSpPr>
          <p:cNvPr id="32" name="Text 28"/>
          <p:cNvSpPr/>
          <p:nvPr/>
        </p:nvSpPr>
        <p:spPr>
          <a:xfrm>
            <a:off x="7680960" y="4864608"/>
            <a:ext cx="3840480" cy="640080"/>
          </a:xfrm>
          <a:prstGeom prst="rect">
            <a:avLst/>
          </a:prstGeom>
          <a:noFill/>
          <a:ln/>
        </p:spPr>
        <p:txBody>
          <a:bodyPr wrap="square" lIns="0" tIns="0" rIns="0" bIns="0" rtlCol="0" anchor="t"/>
          <a:lstStyle/>
          <a:p>
            <a:pPr indent="0" marL="0">
              <a:buNone/>
            </a:pPr>
            <a:r>
              <a:rPr lang="en-US" sz="1150" b="1" dirty="0">
                <a:solidFill>
                  <a:srgbClr val="14213D"/>
                </a:solidFill>
                <a:latin typeface="Calibri" pitchFamily="34" charset="0"/>
                <a:ea typeface="Calibri" pitchFamily="34" charset="-122"/>
                <a:cs typeface="Calibri" pitchFamily="34" charset="-120"/>
              </a:rPr>
              <a:t>Surveyor load</a:t>
            </a:r>
            <a:endParaRPr lang="en-US" sz="1150" dirty="0"/>
          </a:p>
          <a:p>
            <a:pPr indent="0" marL="0">
              <a:buNone/>
            </a:pPr>
            <a:r>
              <a:rPr lang="en-US" sz="1000" dirty="0">
                <a:solidFill>
                  <a:srgbClr val="5F6B80"/>
                </a:solidFill>
                <a:latin typeface="Calibri" pitchFamily="34" charset="0"/>
                <a:ea typeface="Calibri" pitchFamily="34" charset="-122"/>
                <a:cs typeface="Calibri" pitchFamily="34" charset="-120"/>
              </a:rPr>
              <a:t>Visits per 100 claims after triage, compared with 100 today</a:t>
            </a:r>
            <a:endParaRPr lang="en-US" sz="1150" dirty="0"/>
          </a:p>
        </p:txBody>
      </p:sp>
      <p:sp>
        <p:nvSpPr>
          <p:cNvPr id="33" name="Shape 29"/>
          <p:cNvSpPr/>
          <p:nvPr/>
        </p:nvSpPr>
        <p:spPr>
          <a:xfrm>
            <a:off x="7452360" y="5669280"/>
            <a:ext cx="4160520" cy="640080"/>
          </a:xfrm>
          <a:prstGeom prst="roundRect">
            <a:avLst>
              <a:gd name="adj" fmla="val 14286"/>
            </a:avLst>
          </a:prstGeom>
          <a:solidFill>
            <a:srgbClr val="E6F0FC"/>
          </a:solidFill>
          <a:ln w="12700">
            <a:solidFill>
              <a:srgbClr val="E6F0FC"/>
            </a:solidFill>
            <a:prstDash val="solid"/>
          </a:ln>
        </p:spPr>
      </p:sp>
      <p:sp>
        <p:nvSpPr>
          <p:cNvPr id="34" name="Text 30"/>
          <p:cNvSpPr/>
          <p:nvPr/>
        </p:nvSpPr>
        <p:spPr>
          <a:xfrm>
            <a:off x="7589520" y="5669280"/>
            <a:ext cx="3931920" cy="640080"/>
          </a:xfrm>
          <a:prstGeom prst="rect">
            <a:avLst/>
          </a:prstGeom>
          <a:noFill/>
          <a:ln/>
        </p:spPr>
        <p:txBody>
          <a:bodyPr wrap="square" lIns="0" tIns="0" rIns="0" bIns="0" rtlCol="0" anchor="ctr"/>
          <a:lstStyle/>
          <a:p>
            <a:pPr indent="0" marL="0">
              <a:buNone/>
            </a:pPr>
            <a:r>
              <a:rPr lang="en-US" sz="1100" dirty="0">
                <a:solidFill>
                  <a:srgbClr val="14213D"/>
                </a:solidFill>
                <a:latin typeface="Calibri" pitchFamily="34" charset="0"/>
                <a:ea typeface="Calibri" pitchFamily="34" charset="-122"/>
                <a:cs typeface="Calibri" pitchFamily="34" charset="-120"/>
              </a:rPr>
              <a:t>Aligned with UN SDG 1 (No Poverty), SDG 2 (Zero Hunger) and SDG 13 (Climate Action).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320040"/>
            <a:ext cx="11064240" cy="868680"/>
          </a:xfrm>
          <a:prstGeom prst="rect">
            <a:avLst/>
          </a:prstGeom>
          <a:noFill/>
          <a:ln/>
        </p:spPr>
        <p:txBody>
          <a:bodyPr wrap="square" lIns="0" tIns="0" rIns="0" bIns="0" rtlCol="0" anchor="t"/>
          <a:lstStyle/>
          <a:p>
            <a:pPr indent="0" marL="0">
              <a:buNone/>
            </a:pPr>
            <a:r>
              <a:rPr lang="en-US" sz="2400" b="1" dirty="0">
                <a:solidFill>
                  <a:srgbClr val="14213D"/>
                </a:solidFill>
                <a:latin typeface="Georgia" pitchFamily="34" charset="0"/>
                <a:ea typeface="Georgia" pitchFamily="34" charset="-122"/>
                <a:cs typeface="Georgia" pitchFamily="34" charset="-120"/>
              </a:rPr>
              <a:t>Technical approach: a lightweight web stack that turns five photos into a scored claim file</a:t>
            </a:r>
            <a:endParaRPr lang="en-US" sz="2400" dirty="0"/>
          </a:p>
        </p:txBody>
      </p:sp>
      <p:sp>
        <p:nvSpPr>
          <p:cNvPr id="3" name="Text 1"/>
          <p:cNvSpPr/>
          <p:nvPr/>
        </p:nvSpPr>
        <p:spPr>
          <a:xfrm>
            <a:off x="548640" y="6492240"/>
            <a:ext cx="7315200" cy="228600"/>
          </a:xfrm>
          <a:prstGeom prst="rect">
            <a:avLst/>
          </a:prstGeom>
          <a:noFill/>
          <a:ln/>
        </p:spPr>
        <p:txBody>
          <a:bodyPr wrap="square" lIns="0" tIns="0" rIns="0" bIns="0" rtlCol="0" anchor="ctr"/>
          <a:lstStyle/>
          <a:p>
            <a:pPr indent="0" marL="0">
              <a:buNone/>
            </a:pPr>
            <a:r>
              <a:rPr lang="en-US" sz="900" dirty="0">
                <a:solidFill>
                  <a:srgbClr val="5F6B80"/>
                </a:solidFill>
                <a:latin typeface="Calibri" pitchFamily="34" charset="0"/>
                <a:ea typeface="Calibri" pitchFamily="34" charset="-122"/>
                <a:cs typeface="Calibri" pitchFamily="34" charset="-120"/>
              </a:rPr>
              <a:t>IMPACT TANK '26  |  SOLUTION CONCEPT DECK  |  FarmProof  |  Team Nexus.DTU</a:t>
            </a:r>
            <a:endParaRPr lang="en-US" sz="900" dirty="0"/>
          </a:p>
        </p:txBody>
      </p:sp>
      <p:sp>
        <p:nvSpPr>
          <p:cNvPr id="4" name="Text 2"/>
          <p:cNvSpPr/>
          <p:nvPr/>
        </p:nvSpPr>
        <p:spPr>
          <a:xfrm>
            <a:off x="11155680" y="6492240"/>
            <a:ext cx="457200" cy="228600"/>
          </a:xfrm>
          <a:prstGeom prst="rect">
            <a:avLst/>
          </a:prstGeom>
          <a:noFill/>
          <a:ln/>
        </p:spPr>
        <p:txBody>
          <a:bodyPr wrap="square" lIns="0" tIns="0" rIns="0" bIns="0" rtlCol="0" anchor="ctr"/>
          <a:lstStyle/>
          <a:p>
            <a:pPr algn="r" indent="0" marL="0">
              <a:buNone/>
            </a:pPr>
            <a:r>
              <a:rPr lang="en-US" sz="900" dirty="0">
                <a:solidFill>
                  <a:srgbClr val="5F6B80"/>
                </a:solidFill>
                <a:latin typeface="Calibri" pitchFamily="34" charset="0"/>
                <a:ea typeface="Calibri" pitchFamily="34" charset="-122"/>
                <a:cs typeface="Calibri" pitchFamily="34" charset="-120"/>
              </a:rPr>
              <a:t>10</a:t>
            </a:r>
            <a:endParaRPr lang="en-US" sz="900" dirty="0"/>
          </a:p>
        </p:txBody>
      </p:sp>
      <p:sp>
        <p:nvSpPr>
          <p:cNvPr id="6" name="Shape 3"/>
          <p:cNvSpPr/>
          <p:nvPr/>
        </p:nvSpPr>
        <p:spPr>
          <a:xfrm>
            <a:off x="548640" y="1371600"/>
            <a:ext cx="2514600" cy="2880360"/>
          </a:xfrm>
          <a:prstGeom prst="roundRect">
            <a:avLst>
              <a:gd name="adj" fmla="val 3636"/>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sp>
        <p:nvSpPr>
          <p:cNvPr id="7" name="Shape 4"/>
          <p:cNvSpPr/>
          <p:nvPr/>
        </p:nvSpPr>
        <p:spPr>
          <a:xfrm>
            <a:off x="548640" y="1371600"/>
            <a:ext cx="2514600" cy="685800"/>
          </a:xfrm>
          <a:prstGeom prst="roundRect">
            <a:avLst>
              <a:gd name="adj" fmla="val 13333"/>
            </a:avLst>
          </a:prstGeom>
          <a:solidFill>
            <a:srgbClr val="2E9E6B"/>
          </a:solidFill>
          <a:ln w="12700">
            <a:solidFill>
              <a:srgbClr val="2E9E6B"/>
            </a:solidFill>
            <a:prstDash val="solid"/>
          </a:ln>
        </p:spPr>
      </p:sp>
      <p:sp>
        <p:nvSpPr>
          <p:cNvPr id="8" name="Text 5"/>
          <p:cNvSpPr/>
          <p:nvPr/>
        </p:nvSpPr>
        <p:spPr>
          <a:xfrm>
            <a:off x="685800" y="1417320"/>
            <a:ext cx="2286000" cy="62179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1  FARMER APP</a:t>
            </a:r>
            <a:endParaRPr lang="en-US" sz="1200" dirty="0"/>
          </a:p>
          <a:p>
            <a:pPr indent="0" marL="0">
              <a:buNone/>
            </a:pPr>
            <a:r>
              <a:rPr lang="en-US" sz="1050" dirty="0">
                <a:solidFill>
                  <a:srgbClr val="FFFFFF"/>
                </a:solidFill>
                <a:latin typeface="Calibri" pitchFamily="34" charset="0"/>
                <a:ea typeface="Calibri" pitchFamily="34" charset="-122"/>
                <a:cs typeface="Calibri" pitchFamily="34" charset="-120"/>
              </a:rPr>
              <a:t>React PWA, mobile web</a:t>
            </a:r>
            <a:endParaRPr lang="en-US" sz="1200" dirty="0"/>
          </a:p>
        </p:txBody>
      </p:sp>
      <p:sp>
        <p:nvSpPr>
          <p:cNvPr id="9" name="Text 6"/>
          <p:cNvSpPr/>
          <p:nvPr/>
        </p:nvSpPr>
        <p:spPr>
          <a:xfrm>
            <a:off x="685800" y="2194560"/>
            <a:ext cx="2286000" cy="201168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4213D"/>
                </a:solidFill>
                <a:latin typeface="Calibri" pitchFamily="34" charset="0"/>
                <a:ea typeface="Calibri" pitchFamily="34" charset="-122"/>
                <a:cs typeface="Calibri" pitchFamily="34" charset="-120"/>
              </a:rPr>
              <a:t>Live camera only through the browser camera API; no gallery picker</a:t>
            </a:r>
            <a:endParaRPr lang="en-US" sz="1050" dirty="0"/>
          </a:p>
          <a:p>
            <a:pPr marL="342900" indent="-342900">
              <a:spcAft>
                <a:spcPts val="400"/>
              </a:spcAft>
              <a:buSzPct val="100000"/>
              <a:buChar char="•"/>
            </a:pPr>
            <a:r>
              <a:rPr lang="en-US" sz="1050" dirty="0">
                <a:solidFill>
                  <a:srgbClr val="14213D"/>
                </a:solidFill>
                <a:latin typeface="Calibri" pitchFamily="34" charset="0"/>
                <a:ea typeface="Calibri" pitchFamily="34" charset="-122"/>
                <a:cs typeface="Calibri" pitchFamily="34" charset="-120"/>
              </a:rPr>
              <a:t>GPS plus plot pin and boundary on a Leaflet map</a:t>
            </a:r>
            <a:endParaRPr lang="en-US" sz="1050" dirty="0"/>
          </a:p>
          <a:p>
            <a:pPr marL="342900" indent="-342900">
              <a:spcAft>
                <a:spcPts val="400"/>
              </a:spcAft>
              <a:buSzPct val="100000"/>
              <a:buChar char="•"/>
            </a:pPr>
            <a:r>
              <a:rPr lang="en-US" sz="1050" dirty="0">
                <a:solidFill>
                  <a:srgbClr val="14213D"/>
                </a:solidFill>
                <a:latin typeface="Calibri" pitchFamily="34" charset="0"/>
                <a:ea typeface="Calibri" pitchFamily="34" charset="-122"/>
                <a:cs typeface="Calibri" pitchFamily="34" charset="-120"/>
              </a:rPr>
              <a:t>Offline queue: service worker and IndexedDB, syncs when signal returns</a:t>
            </a:r>
            <a:endParaRPr lang="en-US" sz="1050" dirty="0"/>
          </a:p>
          <a:p>
            <a:pPr marL="342900" indent="-342900">
              <a:spcAft>
                <a:spcPts val="400"/>
              </a:spcAft>
              <a:buSzPct val="100000"/>
              <a:buChar char="•"/>
            </a:pPr>
            <a:r>
              <a:rPr lang="en-US" sz="1050" dirty="0">
                <a:solidFill>
                  <a:srgbClr val="14213D"/>
                </a:solidFill>
                <a:latin typeface="Calibri" pitchFamily="34" charset="0"/>
                <a:ea typeface="Calibri" pitchFamily="34" charset="-122"/>
                <a:cs typeface="Calibri" pitchFamily="34" charset="-120"/>
              </a:rPr>
              <a:t>English and Telugu labels</a:t>
            </a:r>
            <a:endParaRPr lang="en-US" sz="1050" dirty="0"/>
          </a:p>
        </p:txBody>
      </p:sp>
      <p:sp>
        <p:nvSpPr>
          <p:cNvPr id="10" name="Shape 7"/>
          <p:cNvSpPr/>
          <p:nvPr/>
        </p:nvSpPr>
        <p:spPr>
          <a:xfrm>
            <a:off x="3081528" y="2743200"/>
            <a:ext cx="301752" cy="0"/>
          </a:xfrm>
          <a:prstGeom prst="line">
            <a:avLst/>
          </a:prstGeom>
          <a:noFill/>
          <a:ln w="25400">
            <a:solidFill>
              <a:srgbClr val="14213D"/>
            </a:solidFill>
            <a:prstDash val="solid"/>
            <a:tailEnd type="triangle"/>
          </a:ln>
        </p:spPr>
      </p:sp>
      <p:sp>
        <p:nvSpPr>
          <p:cNvPr id="11" name="Shape 8"/>
          <p:cNvSpPr/>
          <p:nvPr/>
        </p:nvSpPr>
        <p:spPr>
          <a:xfrm>
            <a:off x="3401568" y="1371600"/>
            <a:ext cx="2514600" cy="2880360"/>
          </a:xfrm>
          <a:prstGeom prst="roundRect">
            <a:avLst>
              <a:gd name="adj" fmla="val 3636"/>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sp>
        <p:nvSpPr>
          <p:cNvPr id="12" name="Shape 9"/>
          <p:cNvSpPr/>
          <p:nvPr/>
        </p:nvSpPr>
        <p:spPr>
          <a:xfrm>
            <a:off x="3401568" y="1371600"/>
            <a:ext cx="2514600" cy="685800"/>
          </a:xfrm>
          <a:prstGeom prst="roundRect">
            <a:avLst>
              <a:gd name="adj" fmla="val 13333"/>
            </a:avLst>
          </a:prstGeom>
          <a:solidFill>
            <a:srgbClr val="2F7FD8"/>
          </a:solidFill>
          <a:ln w="12700">
            <a:solidFill>
              <a:srgbClr val="2F7FD8"/>
            </a:solidFill>
            <a:prstDash val="solid"/>
          </a:ln>
        </p:spPr>
      </p:sp>
      <p:sp>
        <p:nvSpPr>
          <p:cNvPr id="13" name="Text 10"/>
          <p:cNvSpPr/>
          <p:nvPr/>
        </p:nvSpPr>
        <p:spPr>
          <a:xfrm>
            <a:off x="3538728" y="1417320"/>
            <a:ext cx="2286000" cy="62179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2  BACKEND</a:t>
            </a:r>
            <a:endParaRPr lang="en-US" sz="1200" dirty="0"/>
          </a:p>
          <a:p>
            <a:pPr indent="0" marL="0">
              <a:buNone/>
            </a:pPr>
            <a:r>
              <a:rPr lang="en-US" sz="1050" dirty="0">
                <a:solidFill>
                  <a:srgbClr val="FFFFFF"/>
                </a:solidFill>
                <a:latin typeface="Calibri" pitchFamily="34" charset="0"/>
                <a:ea typeface="Calibri" pitchFamily="34" charset="-122"/>
                <a:cs typeface="Calibri" pitchFamily="34" charset="-120"/>
              </a:rPr>
              <a:t>Supabase</a:t>
            </a:r>
            <a:endParaRPr lang="en-US" sz="1200" dirty="0"/>
          </a:p>
        </p:txBody>
      </p:sp>
      <p:sp>
        <p:nvSpPr>
          <p:cNvPr id="14" name="Text 11"/>
          <p:cNvSpPr/>
          <p:nvPr/>
        </p:nvSpPr>
        <p:spPr>
          <a:xfrm>
            <a:off x="3538728" y="2194560"/>
            <a:ext cx="2286000" cy="201168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4213D"/>
                </a:solidFill>
                <a:latin typeface="Calibri" pitchFamily="34" charset="0"/>
                <a:ea typeface="Calibri" pitchFamily="34" charset="-122"/>
                <a:cs typeface="Calibri" pitchFamily="34" charset="-120"/>
              </a:rPr>
              <a:t>Phone-number login (OTP)</a:t>
            </a:r>
            <a:endParaRPr lang="en-US" sz="1050" dirty="0"/>
          </a:p>
          <a:p>
            <a:pPr marL="342900" indent="-342900">
              <a:spcAft>
                <a:spcPts val="400"/>
              </a:spcAft>
              <a:buSzPct val="100000"/>
              <a:buChar char="•"/>
            </a:pPr>
            <a:r>
              <a:rPr lang="en-US" sz="1050" dirty="0">
                <a:solidFill>
                  <a:srgbClr val="14213D"/>
                </a:solidFill>
                <a:latin typeface="Calibri" pitchFamily="34" charset="0"/>
                <a:ea typeface="Calibri" pitchFamily="34" charset="-122"/>
                <a:cs typeface="Calibri" pitchFamily="34" charset="-120"/>
              </a:rPr>
              <a:t>Postgres tables: farmers, plots, claims, photos, scores</a:t>
            </a:r>
            <a:endParaRPr lang="en-US" sz="1050" dirty="0"/>
          </a:p>
          <a:p>
            <a:pPr marL="342900" indent="-342900">
              <a:spcAft>
                <a:spcPts val="400"/>
              </a:spcAft>
              <a:buSzPct val="100000"/>
              <a:buChar char="•"/>
            </a:pPr>
            <a:r>
              <a:rPr lang="en-US" sz="1050" dirty="0">
                <a:solidFill>
                  <a:srgbClr val="14213D"/>
                </a:solidFill>
                <a:latin typeface="Calibri" pitchFamily="34" charset="0"/>
                <a:ea typeface="Calibri" pitchFamily="34" charset="-122"/>
                <a:cs typeface="Calibri" pitchFamily="34" charset="-120"/>
              </a:rPr>
              <a:t>Private storage bucket for photos, opened by signed links</a:t>
            </a:r>
            <a:endParaRPr lang="en-US" sz="1050" dirty="0"/>
          </a:p>
          <a:p>
            <a:pPr marL="342900" indent="-342900">
              <a:spcAft>
                <a:spcPts val="400"/>
              </a:spcAft>
              <a:buSzPct val="100000"/>
              <a:buChar char="•"/>
            </a:pPr>
            <a:r>
              <a:rPr lang="en-US" sz="1050" dirty="0">
                <a:solidFill>
                  <a:srgbClr val="14213D"/>
                </a:solidFill>
                <a:latin typeface="Calibri" pitchFamily="34" charset="0"/>
                <a:ea typeface="Calibri" pitchFamily="34" charset="-122"/>
                <a:cs typeface="Calibri" pitchFamily="34" charset="-120"/>
              </a:rPr>
              <a:t>Row-level security by role: farmer, officer, insurer</a:t>
            </a:r>
            <a:endParaRPr lang="en-US" sz="1050" dirty="0"/>
          </a:p>
        </p:txBody>
      </p:sp>
      <p:sp>
        <p:nvSpPr>
          <p:cNvPr id="15" name="Shape 12"/>
          <p:cNvSpPr/>
          <p:nvPr/>
        </p:nvSpPr>
        <p:spPr>
          <a:xfrm>
            <a:off x="5934456" y="2743200"/>
            <a:ext cx="301752" cy="0"/>
          </a:xfrm>
          <a:prstGeom prst="line">
            <a:avLst/>
          </a:prstGeom>
          <a:noFill/>
          <a:ln w="25400">
            <a:solidFill>
              <a:srgbClr val="14213D"/>
            </a:solidFill>
            <a:prstDash val="solid"/>
            <a:tailEnd type="triangle"/>
          </a:ln>
        </p:spPr>
      </p:sp>
      <p:sp>
        <p:nvSpPr>
          <p:cNvPr id="16" name="Shape 13"/>
          <p:cNvSpPr/>
          <p:nvPr/>
        </p:nvSpPr>
        <p:spPr>
          <a:xfrm>
            <a:off x="6254496" y="1371600"/>
            <a:ext cx="2514600" cy="2880360"/>
          </a:xfrm>
          <a:prstGeom prst="roundRect">
            <a:avLst>
              <a:gd name="adj" fmla="val 3636"/>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sp>
        <p:nvSpPr>
          <p:cNvPr id="17" name="Shape 14"/>
          <p:cNvSpPr/>
          <p:nvPr/>
        </p:nvSpPr>
        <p:spPr>
          <a:xfrm>
            <a:off x="6254496" y="1371600"/>
            <a:ext cx="2514600" cy="685800"/>
          </a:xfrm>
          <a:prstGeom prst="roundRect">
            <a:avLst>
              <a:gd name="adj" fmla="val 13333"/>
            </a:avLst>
          </a:prstGeom>
          <a:solidFill>
            <a:srgbClr val="F2A33A"/>
          </a:solidFill>
          <a:ln w="12700">
            <a:solidFill>
              <a:srgbClr val="F2A33A"/>
            </a:solidFill>
            <a:prstDash val="solid"/>
          </a:ln>
        </p:spPr>
      </p:sp>
      <p:sp>
        <p:nvSpPr>
          <p:cNvPr id="18" name="Text 15"/>
          <p:cNvSpPr/>
          <p:nvPr/>
        </p:nvSpPr>
        <p:spPr>
          <a:xfrm>
            <a:off x="6391656" y="1417320"/>
            <a:ext cx="2286000" cy="621792"/>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3  EVIDENCE ENGINE</a:t>
            </a:r>
            <a:endParaRPr lang="en-US" sz="1200" dirty="0"/>
          </a:p>
          <a:p>
            <a:pPr indent="0" marL="0">
              <a:buNone/>
            </a:pPr>
            <a:r>
              <a:rPr lang="en-US" sz="1050" dirty="0">
                <a:solidFill>
                  <a:srgbClr val="14213D"/>
                </a:solidFill>
                <a:latin typeface="Calibri" pitchFamily="34" charset="0"/>
                <a:ea typeface="Calibri" pitchFamily="34" charset="-122"/>
                <a:cs typeface="Calibri" pitchFamily="34" charset="-120"/>
              </a:rPr>
              <a:t>Serverless functions</a:t>
            </a:r>
            <a:endParaRPr lang="en-US" sz="1200" dirty="0"/>
          </a:p>
        </p:txBody>
      </p:sp>
      <p:sp>
        <p:nvSpPr>
          <p:cNvPr id="19" name="Text 16"/>
          <p:cNvSpPr/>
          <p:nvPr/>
        </p:nvSpPr>
        <p:spPr>
          <a:xfrm>
            <a:off x="6391656" y="2194560"/>
            <a:ext cx="2286000" cy="201168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4213D"/>
                </a:solidFill>
                <a:latin typeface="Calibri" pitchFamily="34" charset="0"/>
                <a:ea typeface="Calibri" pitchFamily="34" charset="-122"/>
                <a:cs typeface="Calibri" pitchFamily="34" charset="-120"/>
              </a:rPr>
              <a:t>Integrity checks on every photo</a:t>
            </a:r>
            <a:endParaRPr lang="en-US" sz="1050" dirty="0"/>
          </a:p>
          <a:p>
            <a:pPr marL="342900" indent="-342900">
              <a:spcAft>
                <a:spcPts val="400"/>
              </a:spcAft>
              <a:buSzPct val="100000"/>
              <a:buChar char="•"/>
            </a:pPr>
            <a:r>
              <a:rPr lang="en-US" sz="1050" dirty="0">
                <a:solidFill>
                  <a:srgbClr val="14213D"/>
                </a:solidFill>
                <a:latin typeface="Calibri" pitchFamily="34" charset="0"/>
                <a:ea typeface="Calibri" pitchFamily="34" charset="-122"/>
                <a:cs typeface="Calibri" pitchFamily="34" charset="-120"/>
              </a:rPr>
              <a:t>Vision-model API gives damage band and confidence as JSON</a:t>
            </a:r>
            <a:endParaRPr lang="en-US" sz="1050" dirty="0"/>
          </a:p>
          <a:p>
            <a:pPr marL="342900" indent="-342900">
              <a:spcAft>
                <a:spcPts val="400"/>
              </a:spcAft>
              <a:buSzPct val="100000"/>
              <a:buChar char="•"/>
            </a:pPr>
            <a:r>
              <a:rPr lang="en-US" sz="1050" dirty="0">
                <a:solidFill>
                  <a:srgbClr val="14213D"/>
                </a:solidFill>
                <a:latin typeface="Calibri" pitchFamily="34" charset="0"/>
                <a:ea typeface="Calibri" pitchFamily="34" charset="-122"/>
                <a:cs typeface="Calibri" pitchFamily="34" charset="-120"/>
              </a:rPr>
              <a:t>Open-Meteo history for the plot and claim date</a:t>
            </a:r>
            <a:endParaRPr lang="en-US" sz="1050" dirty="0"/>
          </a:p>
          <a:p>
            <a:pPr marL="342900" indent="-342900">
              <a:spcAft>
                <a:spcPts val="400"/>
              </a:spcAft>
              <a:buSzPct val="100000"/>
              <a:buChar char="•"/>
            </a:pPr>
            <a:r>
              <a:rPr lang="en-US" sz="1050" dirty="0">
                <a:solidFill>
                  <a:srgbClr val="14213D"/>
                </a:solidFill>
                <a:latin typeface="Calibri" pitchFamily="34" charset="0"/>
                <a:ea typeface="Calibri" pitchFamily="34" charset="-122"/>
                <a:cs typeface="Calibri" pitchFamily="34" charset="-120"/>
              </a:rPr>
              <a:t>Rules engine: verified, review or visit</a:t>
            </a:r>
            <a:endParaRPr lang="en-US" sz="1050" dirty="0"/>
          </a:p>
        </p:txBody>
      </p:sp>
      <p:sp>
        <p:nvSpPr>
          <p:cNvPr id="20" name="Shape 17"/>
          <p:cNvSpPr/>
          <p:nvPr/>
        </p:nvSpPr>
        <p:spPr>
          <a:xfrm>
            <a:off x="8787384" y="2743200"/>
            <a:ext cx="301752" cy="0"/>
          </a:xfrm>
          <a:prstGeom prst="line">
            <a:avLst/>
          </a:prstGeom>
          <a:noFill/>
          <a:ln w="25400">
            <a:solidFill>
              <a:srgbClr val="14213D"/>
            </a:solidFill>
            <a:prstDash val="solid"/>
            <a:tailEnd type="triangle"/>
          </a:ln>
        </p:spPr>
      </p:sp>
      <p:sp>
        <p:nvSpPr>
          <p:cNvPr id="21" name="Shape 18"/>
          <p:cNvSpPr/>
          <p:nvPr/>
        </p:nvSpPr>
        <p:spPr>
          <a:xfrm>
            <a:off x="9107424" y="1371600"/>
            <a:ext cx="2514600" cy="2880360"/>
          </a:xfrm>
          <a:prstGeom prst="roundRect">
            <a:avLst>
              <a:gd name="adj" fmla="val 3636"/>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sp>
        <p:nvSpPr>
          <p:cNvPr id="22" name="Shape 19"/>
          <p:cNvSpPr/>
          <p:nvPr/>
        </p:nvSpPr>
        <p:spPr>
          <a:xfrm>
            <a:off x="9107424" y="1371600"/>
            <a:ext cx="2514600" cy="685800"/>
          </a:xfrm>
          <a:prstGeom prst="roundRect">
            <a:avLst>
              <a:gd name="adj" fmla="val 13333"/>
            </a:avLst>
          </a:prstGeom>
          <a:solidFill>
            <a:srgbClr val="7B61C8"/>
          </a:solidFill>
          <a:ln w="12700">
            <a:solidFill>
              <a:srgbClr val="7B61C8"/>
            </a:solidFill>
            <a:prstDash val="solid"/>
          </a:ln>
        </p:spPr>
      </p:sp>
      <p:sp>
        <p:nvSpPr>
          <p:cNvPr id="23" name="Text 20"/>
          <p:cNvSpPr/>
          <p:nvPr/>
        </p:nvSpPr>
        <p:spPr>
          <a:xfrm>
            <a:off x="9244584" y="1417320"/>
            <a:ext cx="2286000" cy="62179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4  OFFICER DASHBOARD</a:t>
            </a:r>
            <a:endParaRPr lang="en-US" sz="1200" dirty="0"/>
          </a:p>
          <a:p>
            <a:pPr indent="0" marL="0">
              <a:buNone/>
            </a:pPr>
            <a:r>
              <a:rPr lang="en-US" sz="1050" dirty="0">
                <a:solidFill>
                  <a:srgbClr val="FFFFFF"/>
                </a:solidFill>
                <a:latin typeface="Calibri" pitchFamily="34" charset="0"/>
                <a:ea typeface="Calibri" pitchFamily="34" charset="-122"/>
                <a:cs typeface="Calibri" pitchFamily="34" charset="-120"/>
              </a:rPr>
              <a:t>React web app</a:t>
            </a:r>
            <a:endParaRPr lang="en-US" sz="1200" dirty="0"/>
          </a:p>
        </p:txBody>
      </p:sp>
      <p:sp>
        <p:nvSpPr>
          <p:cNvPr id="24" name="Text 21"/>
          <p:cNvSpPr/>
          <p:nvPr/>
        </p:nvSpPr>
        <p:spPr>
          <a:xfrm>
            <a:off x="9244584" y="2194560"/>
            <a:ext cx="2286000" cy="201168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4213D"/>
                </a:solidFill>
                <a:latin typeface="Calibri" pitchFamily="34" charset="0"/>
                <a:ea typeface="Calibri" pitchFamily="34" charset="-122"/>
                <a:cs typeface="Calibri" pitchFamily="34" charset="-120"/>
              </a:rPr>
              <a:t>Ranked claim list with filters</a:t>
            </a:r>
            <a:endParaRPr lang="en-US" sz="1050" dirty="0"/>
          </a:p>
          <a:p>
            <a:pPr marL="342900" indent="-342900">
              <a:spcAft>
                <a:spcPts val="400"/>
              </a:spcAft>
              <a:buSzPct val="100000"/>
              <a:buChar char="•"/>
            </a:pPr>
            <a:r>
              <a:rPr lang="en-US" sz="1050" dirty="0">
                <a:solidFill>
                  <a:srgbClr val="14213D"/>
                </a:solidFill>
                <a:latin typeface="Calibri" pitchFamily="34" charset="0"/>
                <a:ea typeface="Calibri" pitchFamily="34" charset="-122"/>
                <a:cs typeface="Calibri" pitchFamily="34" charset="-120"/>
              </a:rPr>
              <a:t>Evidence pack: photos, map, weather, AI result</a:t>
            </a:r>
            <a:endParaRPr lang="en-US" sz="1050" dirty="0"/>
          </a:p>
          <a:p>
            <a:pPr marL="342900" indent="-342900">
              <a:spcAft>
                <a:spcPts val="400"/>
              </a:spcAft>
              <a:buSzPct val="100000"/>
              <a:buChar char="•"/>
            </a:pPr>
            <a:r>
              <a:rPr lang="en-US" sz="1050" dirty="0">
                <a:solidFill>
                  <a:srgbClr val="14213D"/>
                </a:solidFill>
                <a:latin typeface="Calibri" pitchFamily="34" charset="0"/>
                <a:ea typeface="Calibri" pitchFamily="34" charset="-122"/>
                <a:cs typeface="Calibri" pitchFamily="34" charset="-120"/>
              </a:rPr>
              <a:t>Override and comment; every override is logged</a:t>
            </a:r>
            <a:endParaRPr lang="en-US" sz="1050" dirty="0"/>
          </a:p>
          <a:p>
            <a:pPr marL="342900" indent="-342900">
              <a:spcAft>
                <a:spcPts val="400"/>
              </a:spcAft>
              <a:buSzPct val="100000"/>
              <a:buChar char="•"/>
            </a:pPr>
            <a:r>
              <a:rPr lang="en-US" sz="1050" dirty="0">
                <a:solidFill>
                  <a:srgbClr val="14213D"/>
                </a:solidFill>
                <a:latin typeface="Calibri" pitchFamily="34" charset="0"/>
                <a:ea typeface="Calibri" pitchFamily="34" charset="-122"/>
                <a:cs typeface="Calibri" pitchFamily="34" charset="-120"/>
              </a:rPr>
              <a:t>Status updates flow back to the farmer's tracker</a:t>
            </a:r>
            <a:endParaRPr lang="en-US" sz="1050" dirty="0"/>
          </a:p>
        </p:txBody>
      </p:sp>
      <p:sp>
        <p:nvSpPr>
          <p:cNvPr id="25" name="Text 22"/>
          <p:cNvSpPr/>
          <p:nvPr/>
        </p:nvSpPr>
        <p:spPr>
          <a:xfrm>
            <a:off x="548640" y="4434840"/>
            <a:ext cx="4572000" cy="228600"/>
          </a:xfrm>
          <a:prstGeom prst="rect">
            <a:avLst/>
          </a:prstGeom>
          <a:noFill/>
          <a:ln/>
        </p:spPr>
        <p:txBody>
          <a:bodyPr wrap="square" lIns="0" tIns="0" rIns="0" bIns="0" rtlCol="0" anchor="t"/>
          <a:lstStyle/>
          <a:p>
            <a:pPr indent="0" marL="0">
              <a:buNone/>
            </a:pPr>
            <a:r>
              <a:rPr lang="en-US" sz="1000" b="1" spc="150" kern="0" dirty="0">
                <a:solidFill>
                  <a:srgbClr val="2E9E6B"/>
                </a:solidFill>
                <a:latin typeface="Calibri" pitchFamily="34" charset="0"/>
                <a:ea typeface="Calibri" pitchFamily="34" charset="-122"/>
                <a:cs typeface="Calibri" pitchFamily="34" charset="-120"/>
              </a:rPr>
              <a:t>DATA FLOW FOR ONE CLAIM</a:t>
            </a:r>
            <a:endParaRPr lang="en-US" sz="1000" dirty="0"/>
          </a:p>
        </p:txBody>
      </p:sp>
      <p:sp>
        <p:nvSpPr>
          <p:cNvPr id="26" name="Shape 23"/>
          <p:cNvSpPr/>
          <p:nvPr/>
        </p:nvSpPr>
        <p:spPr>
          <a:xfrm>
            <a:off x="548640" y="4709160"/>
            <a:ext cx="1737360" cy="960120"/>
          </a:xfrm>
          <a:prstGeom prst="roundRect">
            <a:avLst>
              <a:gd name="adj" fmla="val 9524"/>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sp>
        <p:nvSpPr>
          <p:cNvPr id="27" name="Shape 24"/>
          <p:cNvSpPr/>
          <p:nvPr/>
        </p:nvSpPr>
        <p:spPr>
          <a:xfrm>
            <a:off x="640080" y="4773168"/>
            <a:ext cx="274320" cy="274320"/>
          </a:xfrm>
          <a:prstGeom prst="ellipse">
            <a:avLst/>
          </a:prstGeom>
          <a:solidFill>
            <a:srgbClr val="2E9E6B"/>
          </a:solidFill>
          <a:ln w="12700">
            <a:solidFill>
              <a:srgbClr val="2E9E6B"/>
            </a:solidFill>
            <a:prstDash val="solid"/>
          </a:ln>
        </p:spPr>
      </p:sp>
      <p:sp>
        <p:nvSpPr>
          <p:cNvPr id="28" name="Text 25"/>
          <p:cNvSpPr/>
          <p:nvPr/>
        </p:nvSpPr>
        <p:spPr>
          <a:xfrm>
            <a:off x="640080" y="477316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9" name="Text 26"/>
          <p:cNvSpPr/>
          <p:nvPr/>
        </p:nvSpPr>
        <p:spPr>
          <a:xfrm>
            <a:off x="987552" y="4773168"/>
            <a:ext cx="1280160" cy="274320"/>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Capture</a:t>
            </a:r>
            <a:endParaRPr lang="en-US" sz="1150" dirty="0"/>
          </a:p>
        </p:txBody>
      </p:sp>
      <p:sp>
        <p:nvSpPr>
          <p:cNvPr id="30" name="Text 27"/>
          <p:cNvSpPr/>
          <p:nvPr/>
        </p:nvSpPr>
        <p:spPr>
          <a:xfrm>
            <a:off x="640080" y="5102352"/>
            <a:ext cx="1554480" cy="548640"/>
          </a:xfrm>
          <a:prstGeom prst="rect">
            <a:avLst/>
          </a:prstGeom>
          <a:noFill/>
          <a:ln/>
        </p:spPr>
        <p:txBody>
          <a:bodyPr wrap="square" lIns="0" tIns="0" rIns="0" bIns="0" rtlCol="0" anchor="t"/>
          <a:lstStyle/>
          <a:p>
            <a:pPr indent="0" marL="0">
              <a:buNone/>
            </a:pPr>
            <a:r>
              <a:rPr lang="en-US" sz="950" dirty="0">
                <a:solidFill>
                  <a:srgbClr val="5F6B80"/>
                </a:solidFill>
                <a:latin typeface="Calibri" pitchFamily="34" charset="0"/>
                <a:ea typeface="Calibri" pitchFamily="34" charset="-122"/>
                <a:cs typeface="Calibri" pitchFamily="34" charset="-120"/>
              </a:rPr>
              <a:t>Five live photos, GPS and time stored on the phone</a:t>
            </a:r>
            <a:endParaRPr lang="en-US" sz="950" dirty="0"/>
          </a:p>
        </p:txBody>
      </p:sp>
      <p:sp>
        <p:nvSpPr>
          <p:cNvPr id="31" name="Shape 28"/>
          <p:cNvSpPr/>
          <p:nvPr/>
        </p:nvSpPr>
        <p:spPr>
          <a:xfrm>
            <a:off x="2414016" y="4709160"/>
            <a:ext cx="1737360" cy="960120"/>
          </a:xfrm>
          <a:prstGeom prst="roundRect">
            <a:avLst>
              <a:gd name="adj" fmla="val 9524"/>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sp>
        <p:nvSpPr>
          <p:cNvPr id="32" name="Shape 29"/>
          <p:cNvSpPr/>
          <p:nvPr/>
        </p:nvSpPr>
        <p:spPr>
          <a:xfrm>
            <a:off x="2505456" y="4773168"/>
            <a:ext cx="274320" cy="274320"/>
          </a:xfrm>
          <a:prstGeom prst="ellipse">
            <a:avLst/>
          </a:prstGeom>
          <a:solidFill>
            <a:srgbClr val="2E9E6B"/>
          </a:solidFill>
          <a:ln w="12700">
            <a:solidFill>
              <a:srgbClr val="2E9E6B"/>
            </a:solidFill>
            <a:prstDash val="solid"/>
          </a:ln>
        </p:spPr>
      </p:sp>
      <p:sp>
        <p:nvSpPr>
          <p:cNvPr id="33" name="Text 30"/>
          <p:cNvSpPr/>
          <p:nvPr/>
        </p:nvSpPr>
        <p:spPr>
          <a:xfrm>
            <a:off x="2505456" y="477316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4" name="Text 31"/>
          <p:cNvSpPr/>
          <p:nvPr/>
        </p:nvSpPr>
        <p:spPr>
          <a:xfrm>
            <a:off x="2852928" y="4773168"/>
            <a:ext cx="1280160" cy="274320"/>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Upload</a:t>
            </a:r>
            <a:endParaRPr lang="en-US" sz="1150" dirty="0"/>
          </a:p>
        </p:txBody>
      </p:sp>
      <p:sp>
        <p:nvSpPr>
          <p:cNvPr id="35" name="Text 32"/>
          <p:cNvSpPr/>
          <p:nvPr/>
        </p:nvSpPr>
        <p:spPr>
          <a:xfrm>
            <a:off x="2505456" y="5102352"/>
            <a:ext cx="1554480" cy="548640"/>
          </a:xfrm>
          <a:prstGeom prst="rect">
            <a:avLst/>
          </a:prstGeom>
          <a:noFill/>
          <a:ln/>
        </p:spPr>
        <p:txBody>
          <a:bodyPr wrap="square" lIns="0" tIns="0" rIns="0" bIns="0" rtlCol="0" anchor="t"/>
          <a:lstStyle/>
          <a:p>
            <a:pPr indent="0" marL="0">
              <a:buNone/>
            </a:pPr>
            <a:r>
              <a:rPr lang="en-US" sz="950" dirty="0">
                <a:solidFill>
                  <a:srgbClr val="5F6B80"/>
                </a:solidFill>
                <a:latin typeface="Calibri" pitchFamily="34" charset="0"/>
                <a:ea typeface="Calibri" pitchFamily="34" charset="-122"/>
                <a:cs typeface="Calibri" pitchFamily="34" charset="-120"/>
              </a:rPr>
              <a:t>Sent when online; saved in the queue if not</a:t>
            </a:r>
            <a:endParaRPr lang="en-US" sz="950" dirty="0"/>
          </a:p>
        </p:txBody>
      </p:sp>
      <p:sp>
        <p:nvSpPr>
          <p:cNvPr id="36" name="Shape 33"/>
          <p:cNvSpPr/>
          <p:nvPr/>
        </p:nvSpPr>
        <p:spPr>
          <a:xfrm>
            <a:off x="4279392" y="4709160"/>
            <a:ext cx="1737360" cy="960120"/>
          </a:xfrm>
          <a:prstGeom prst="roundRect">
            <a:avLst>
              <a:gd name="adj" fmla="val 9524"/>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sp>
        <p:nvSpPr>
          <p:cNvPr id="37" name="Shape 34"/>
          <p:cNvSpPr/>
          <p:nvPr/>
        </p:nvSpPr>
        <p:spPr>
          <a:xfrm>
            <a:off x="4370832" y="4773168"/>
            <a:ext cx="274320" cy="274320"/>
          </a:xfrm>
          <a:prstGeom prst="ellipse">
            <a:avLst/>
          </a:prstGeom>
          <a:solidFill>
            <a:srgbClr val="2E9E6B"/>
          </a:solidFill>
          <a:ln w="12700">
            <a:solidFill>
              <a:srgbClr val="2E9E6B"/>
            </a:solidFill>
            <a:prstDash val="solid"/>
          </a:ln>
        </p:spPr>
      </p:sp>
      <p:sp>
        <p:nvSpPr>
          <p:cNvPr id="38" name="Text 35"/>
          <p:cNvSpPr/>
          <p:nvPr/>
        </p:nvSpPr>
        <p:spPr>
          <a:xfrm>
            <a:off x="4370832" y="477316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9" name="Text 36"/>
          <p:cNvSpPr/>
          <p:nvPr/>
        </p:nvSpPr>
        <p:spPr>
          <a:xfrm>
            <a:off x="4718304" y="4773168"/>
            <a:ext cx="1280160" cy="274320"/>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Integrity</a:t>
            </a:r>
            <a:endParaRPr lang="en-US" sz="1150" dirty="0"/>
          </a:p>
        </p:txBody>
      </p:sp>
      <p:sp>
        <p:nvSpPr>
          <p:cNvPr id="40" name="Text 37"/>
          <p:cNvSpPr/>
          <p:nvPr/>
        </p:nvSpPr>
        <p:spPr>
          <a:xfrm>
            <a:off x="4370832" y="5102352"/>
            <a:ext cx="1554480" cy="548640"/>
          </a:xfrm>
          <a:prstGeom prst="rect">
            <a:avLst/>
          </a:prstGeom>
          <a:noFill/>
          <a:ln/>
        </p:spPr>
        <p:txBody>
          <a:bodyPr wrap="square" lIns="0" tIns="0" rIns="0" bIns="0" rtlCol="0" anchor="t"/>
          <a:lstStyle/>
          <a:p>
            <a:pPr indent="0" marL="0">
              <a:buNone/>
            </a:pPr>
            <a:r>
              <a:rPr lang="en-US" sz="950" dirty="0">
                <a:solidFill>
                  <a:srgbClr val="5F6B80"/>
                </a:solidFill>
                <a:latin typeface="Calibri" pitchFamily="34" charset="0"/>
                <a:ea typeface="Calibri" pitchFamily="34" charset="-122"/>
                <a:cs typeface="Calibri" pitchFamily="34" charset="-120"/>
              </a:rPr>
              <a:t>Location, time and duplicate checks</a:t>
            </a:r>
            <a:endParaRPr lang="en-US" sz="950" dirty="0"/>
          </a:p>
        </p:txBody>
      </p:sp>
      <p:sp>
        <p:nvSpPr>
          <p:cNvPr id="41" name="Shape 38"/>
          <p:cNvSpPr/>
          <p:nvPr/>
        </p:nvSpPr>
        <p:spPr>
          <a:xfrm>
            <a:off x="6144768" y="4709160"/>
            <a:ext cx="1737360" cy="960120"/>
          </a:xfrm>
          <a:prstGeom prst="roundRect">
            <a:avLst>
              <a:gd name="adj" fmla="val 9524"/>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sp>
        <p:nvSpPr>
          <p:cNvPr id="42" name="Shape 39"/>
          <p:cNvSpPr/>
          <p:nvPr/>
        </p:nvSpPr>
        <p:spPr>
          <a:xfrm>
            <a:off x="6236208" y="4773168"/>
            <a:ext cx="274320" cy="274320"/>
          </a:xfrm>
          <a:prstGeom prst="ellipse">
            <a:avLst/>
          </a:prstGeom>
          <a:solidFill>
            <a:srgbClr val="2E9E6B"/>
          </a:solidFill>
          <a:ln w="12700">
            <a:solidFill>
              <a:srgbClr val="2E9E6B"/>
            </a:solidFill>
            <a:prstDash val="solid"/>
          </a:ln>
        </p:spPr>
      </p:sp>
      <p:sp>
        <p:nvSpPr>
          <p:cNvPr id="43" name="Text 40"/>
          <p:cNvSpPr/>
          <p:nvPr/>
        </p:nvSpPr>
        <p:spPr>
          <a:xfrm>
            <a:off x="6236208" y="477316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4" name="Text 41"/>
          <p:cNvSpPr/>
          <p:nvPr/>
        </p:nvSpPr>
        <p:spPr>
          <a:xfrm>
            <a:off x="6583680" y="4773168"/>
            <a:ext cx="1280160" cy="274320"/>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AI + weather</a:t>
            </a:r>
            <a:endParaRPr lang="en-US" sz="1150" dirty="0"/>
          </a:p>
        </p:txBody>
      </p:sp>
      <p:sp>
        <p:nvSpPr>
          <p:cNvPr id="45" name="Text 42"/>
          <p:cNvSpPr/>
          <p:nvPr/>
        </p:nvSpPr>
        <p:spPr>
          <a:xfrm>
            <a:off x="6236208" y="5102352"/>
            <a:ext cx="1554480" cy="548640"/>
          </a:xfrm>
          <a:prstGeom prst="rect">
            <a:avLst/>
          </a:prstGeom>
          <a:noFill/>
          <a:ln/>
        </p:spPr>
        <p:txBody>
          <a:bodyPr wrap="square" lIns="0" tIns="0" rIns="0" bIns="0" rtlCol="0" anchor="t"/>
          <a:lstStyle/>
          <a:p>
            <a:pPr indent="0" marL="0">
              <a:buNone/>
            </a:pPr>
            <a:r>
              <a:rPr lang="en-US" sz="950" dirty="0">
                <a:solidFill>
                  <a:srgbClr val="5F6B80"/>
                </a:solidFill>
                <a:latin typeface="Calibri" pitchFamily="34" charset="0"/>
                <a:ea typeface="Calibri" pitchFamily="34" charset="-122"/>
                <a:cs typeface="Calibri" pitchFamily="34" charset="-120"/>
              </a:rPr>
              <a:t>Damage band and weather record for the plot</a:t>
            </a:r>
            <a:endParaRPr lang="en-US" sz="950" dirty="0"/>
          </a:p>
        </p:txBody>
      </p:sp>
      <p:sp>
        <p:nvSpPr>
          <p:cNvPr id="46" name="Shape 43"/>
          <p:cNvSpPr/>
          <p:nvPr/>
        </p:nvSpPr>
        <p:spPr>
          <a:xfrm>
            <a:off x="8010144" y="4709160"/>
            <a:ext cx="1737360" cy="960120"/>
          </a:xfrm>
          <a:prstGeom prst="roundRect">
            <a:avLst>
              <a:gd name="adj" fmla="val 9524"/>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sp>
        <p:nvSpPr>
          <p:cNvPr id="47" name="Shape 44"/>
          <p:cNvSpPr/>
          <p:nvPr/>
        </p:nvSpPr>
        <p:spPr>
          <a:xfrm>
            <a:off x="8101584" y="4773168"/>
            <a:ext cx="274320" cy="274320"/>
          </a:xfrm>
          <a:prstGeom prst="ellipse">
            <a:avLst/>
          </a:prstGeom>
          <a:solidFill>
            <a:srgbClr val="2E9E6B"/>
          </a:solidFill>
          <a:ln w="12700">
            <a:solidFill>
              <a:srgbClr val="2E9E6B"/>
            </a:solidFill>
            <a:prstDash val="solid"/>
          </a:ln>
        </p:spPr>
      </p:sp>
      <p:sp>
        <p:nvSpPr>
          <p:cNvPr id="48" name="Text 45"/>
          <p:cNvSpPr/>
          <p:nvPr/>
        </p:nvSpPr>
        <p:spPr>
          <a:xfrm>
            <a:off x="8101584" y="477316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9" name="Text 46"/>
          <p:cNvSpPr/>
          <p:nvPr/>
        </p:nvSpPr>
        <p:spPr>
          <a:xfrm>
            <a:off x="8449056" y="4773168"/>
            <a:ext cx="1280160" cy="274320"/>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Score</a:t>
            </a:r>
            <a:endParaRPr lang="en-US" sz="1150" dirty="0"/>
          </a:p>
        </p:txBody>
      </p:sp>
      <p:sp>
        <p:nvSpPr>
          <p:cNvPr id="50" name="Text 47"/>
          <p:cNvSpPr/>
          <p:nvPr/>
        </p:nvSpPr>
        <p:spPr>
          <a:xfrm>
            <a:off x="8101584" y="5102352"/>
            <a:ext cx="1554480" cy="548640"/>
          </a:xfrm>
          <a:prstGeom prst="rect">
            <a:avLst/>
          </a:prstGeom>
          <a:noFill/>
          <a:ln/>
        </p:spPr>
        <p:txBody>
          <a:bodyPr wrap="square" lIns="0" tIns="0" rIns="0" bIns="0" rtlCol="0" anchor="t"/>
          <a:lstStyle/>
          <a:p>
            <a:pPr indent="0" marL="0">
              <a:buNone/>
            </a:pPr>
            <a:r>
              <a:rPr lang="en-US" sz="950" dirty="0">
                <a:solidFill>
                  <a:srgbClr val="5F6B80"/>
                </a:solidFill>
                <a:latin typeface="Calibri" pitchFamily="34" charset="0"/>
                <a:ea typeface="Calibri" pitchFamily="34" charset="-122"/>
                <a:cs typeface="Calibri" pitchFamily="34" charset="-120"/>
              </a:rPr>
              <a:t>Verified, review or visit; claim ranked</a:t>
            </a:r>
            <a:endParaRPr lang="en-US" sz="950" dirty="0"/>
          </a:p>
        </p:txBody>
      </p:sp>
      <p:sp>
        <p:nvSpPr>
          <p:cNvPr id="51" name="Shape 48"/>
          <p:cNvSpPr/>
          <p:nvPr/>
        </p:nvSpPr>
        <p:spPr>
          <a:xfrm>
            <a:off x="9875520" y="4709160"/>
            <a:ext cx="1737360" cy="960120"/>
          </a:xfrm>
          <a:prstGeom prst="roundRect">
            <a:avLst>
              <a:gd name="adj" fmla="val 9524"/>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sp>
        <p:nvSpPr>
          <p:cNvPr id="52" name="Shape 49"/>
          <p:cNvSpPr/>
          <p:nvPr/>
        </p:nvSpPr>
        <p:spPr>
          <a:xfrm>
            <a:off x="9966960" y="4773168"/>
            <a:ext cx="274320" cy="274320"/>
          </a:xfrm>
          <a:prstGeom prst="ellipse">
            <a:avLst/>
          </a:prstGeom>
          <a:solidFill>
            <a:srgbClr val="2E9E6B"/>
          </a:solidFill>
          <a:ln w="12700">
            <a:solidFill>
              <a:srgbClr val="2E9E6B"/>
            </a:solidFill>
            <a:prstDash val="solid"/>
          </a:ln>
        </p:spPr>
      </p:sp>
      <p:sp>
        <p:nvSpPr>
          <p:cNvPr id="53" name="Text 50"/>
          <p:cNvSpPr/>
          <p:nvPr/>
        </p:nvSpPr>
        <p:spPr>
          <a:xfrm>
            <a:off x="9966960" y="477316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54" name="Text 51"/>
          <p:cNvSpPr/>
          <p:nvPr/>
        </p:nvSpPr>
        <p:spPr>
          <a:xfrm>
            <a:off x="10314432" y="4773168"/>
            <a:ext cx="1280160" cy="274320"/>
          </a:xfrm>
          <a:prstGeom prst="rect">
            <a:avLst/>
          </a:prstGeom>
          <a:noFill/>
          <a:ln/>
        </p:spPr>
        <p:txBody>
          <a:bodyPr wrap="square" lIns="0" tIns="0" rIns="0" bIns="0"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Review</a:t>
            </a:r>
            <a:endParaRPr lang="en-US" sz="1150" dirty="0"/>
          </a:p>
        </p:txBody>
      </p:sp>
      <p:sp>
        <p:nvSpPr>
          <p:cNvPr id="55" name="Text 52"/>
          <p:cNvSpPr/>
          <p:nvPr/>
        </p:nvSpPr>
        <p:spPr>
          <a:xfrm>
            <a:off x="9966960" y="5102352"/>
            <a:ext cx="1554480" cy="548640"/>
          </a:xfrm>
          <a:prstGeom prst="rect">
            <a:avLst/>
          </a:prstGeom>
          <a:noFill/>
          <a:ln/>
        </p:spPr>
        <p:txBody>
          <a:bodyPr wrap="square" lIns="0" tIns="0" rIns="0" bIns="0" rtlCol="0" anchor="t"/>
          <a:lstStyle/>
          <a:p>
            <a:pPr indent="0" marL="0">
              <a:buNone/>
            </a:pPr>
            <a:r>
              <a:rPr lang="en-US" sz="950" dirty="0">
                <a:solidFill>
                  <a:srgbClr val="5F6B80"/>
                </a:solidFill>
                <a:latin typeface="Calibri" pitchFamily="34" charset="0"/>
                <a:ea typeface="Calibri" pitchFamily="34" charset="-122"/>
                <a:cs typeface="Calibri" pitchFamily="34" charset="-120"/>
              </a:rPr>
              <a:t>Officer checks the pack; farmer sees status</a:t>
            </a:r>
            <a:endParaRPr lang="en-US" sz="950" dirty="0"/>
          </a:p>
        </p:txBody>
      </p:sp>
      <p:sp>
        <p:nvSpPr>
          <p:cNvPr id="56" name="Shape 53"/>
          <p:cNvSpPr/>
          <p:nvPr/>
        </p:nvSpPr>
        <p:spPr>
          <a:xfrm>
            <a:off x="548640" y="5806440"/>
            <a:ext cx="11064240" cy="502920"/>
          </a:xfrm>
          <a:prstGeom prst="roundRect">
            <a:avLst>
              <a:gd name="adj" fmla="val 18182"/>
            </a:avLst>
          </a:prstGeom>
          <a:solidFill>
            <a:srgbClr val="E8F5EE"/>
          </a:solidFill>
          <a:ln w="12700">
            <a:solidFill>
              <a:srgbClr val="E8F5EE"/>
            </a:solidFill>
            <a:prstDash val="solid"/>
          </a:ln>
        </p:spPr>
      </p:sp>
      <p:sp>
        <p:nvSpPr>
          <p:cNvPr id="57" name="Text 54"/>
          <p:cNvSpPr/>
          <p:nvPr/>
        </p:nvSpPr>
        <p:spPr>
          <a:xfrm>
            <a:off x="731520" y="5806440"/>
            <a:ext cx="10698480" cy="5029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Why this stack: </a:t>
            </a:r>
            <a:pPr indent="0" marL="0">
              <a:buNone/>
            </a:pPr>
            <a:r>
              <a:rPr lang="en-US" sz="1100" dirty="0">
                <a:solidFill>
                  <a:srgbClr val="14213D"/>
                </a:solidFill>
                <a:latin typeface="Calibri" pitchFamily="34" charset="0"/>
                <a:ea typeface="Calibri" pitchFamily="34" charset="-122"/>
                <a:cs typeface="Calibri" pitchFamily="34" charset="-120"/>
              </a:rPr>
              <a:t>free tiers and open data, no model training, one codebase for farmer and officer, and every piece can be built and tested within the build week.</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320040"/>
            <a:ext cx="11064240" cy="868680"/>
          </a:xfrm>
          <a:prstGeom prst="rect">
            <a:avLst/>
          </a:prstGeom>
          <a:noFill/>
          <a:ln/>
        </p:spPr>
        <p:txBody>
          <a:bodyPr wrap="square" lIns="0" tIns="0" rIns="0" bIns="0" rtlCol="0" anchor="t"/>
          <a:lstStyle/>
          <a:p>
            <a:pPr indent="0" marL="0">
              <a:buNone/>
            </a:pPr>
            <a:r>
              <a:rPr lang="en-US" sz="2400" b="1" dirty="0">
                <a:solidFill>
                  <a:srgbClr val="14213D"/>
                </a:solidFill>
                <a:latin typeface="Georgia" pitchFamily="34" charset="0"/>
                <a:ea typeface="Georgia" pitchFamily="34" charset="-122"/>
                <a:cs typeface="Georgia" pitchFamily="34" charset="-120"/>
              </a:rPr>
              <a:t>How the evidence is checked: integrity, AI scoring, weather match and a clear decision rule</a:t>
            </a:r>
            <a:endParaRPr lang="en-US" sz="2400" dirty="0"/>
          </a:p>
        </p:txBody>
      </p:sp>
      <p:sp>
        <p:nvSpPr>
          <p:cNvPr id="3" name="Text 1"/>
          <p:cNvSpPr/>
          <p:nvPr/>
        </p:nvSpPr>
        <p:spPr>
          <a:xfrm>
            <a:off x="548640" y="6492240"/>
            <a:ext cx="7315200" cy="228600"/>
          </a:xfrm>
          <a:prstGeom prst="rect">
            <a:avLst/>
          </a:prstGeom>
          <a:noFill/>
          <a:ln/>
        </p:spPr>
        <p:txBody>
          <a:bodyPr wrap="square" lIns="0" tIns="0" rIns="0" bIns="0" rtlCol="0" anchor="ctr"/>
          <a:lstStyle/>
          <a:p>
            <a:pPr indent="0" marL="0">
              <a:buNone/>
            </a:pPr>
            <a:r>
              <a:rPr lang="en-US" sz="900" dirty="0">
                <a:solidFill>
                  <a:srgbClr val="5F6B80"/>
                </a:solidFill>
                <a:latin typeface="Calibri" pitchFamily="34" charset="0"/>
                <a:ea typeface="Calibri" pitchFamily="34" charset="-122"/>
                <a:cs typeface="Calibri" pitchFamily="34" charset="-120"/>
              </a:rPr>
              <a:t>IMPACT TANK '26  |  SOLUTION CONCEPT DECK  |  FarmProof  |  Team Nexus.DTU</a:t>
            </a:r>
            <a:endParaRPr lang="en-US" sz="900" dirty="0"/>
          </a:p>
        </p:txBody>
      </p:sp>
      <p:sp>
        <p:nvSpPr>
          <p:cNvPr id="4" name="Text 2"/>
          <p:cNvSpPr/>
          <p:nvPr/>
        </p:nvSpPr>
        <p:spPr>
          <a:xfrm>
            <a:off x="11155680" y="6492240"/>
            <a:ext cx="457200" cy="228600"/>
          </a:xfrm>
          <a:prstGeom prst="rect">
            <a:avLst/>
          </a:prstGeom>
          <a:noFill/>
          <a:ln/>
        </p:spPr>
        <p:txBody>
          <a:bodyPr wrap="square" lIns="0" tIns="0" rIns="0" bIns="0" rtlCol="0" anchor="ctr"/>
          <a:lstStyle/>
          <a:p>
            <a:pPr algn="r" indent="0" marL="0">
              <a:buNone/>
            </a:pPr>
            <a:r>
              <a:rPr lang="en-US" sz="900" dirty="0">
                <a:solidFill>
                  <a:srgbClr val="5F6B80"/>
                </a:solidFill>
                <a:latin typeface="Calibri" pitchFamily="34" charset="0"/>
                <a:ea typeface="Calibri" pitchFamily="34" charset="-122"/>
                <a:cs typeface="Calibri" pitchFamily="34" charset="-120"/>
              </a:rPr>
              <a:t>11</a:t>
            </a:r>
            <a:endParaRPr lang="en-US" sz="900" dirty="0"/>
          </a:p>
        </p:txBody>
      </p:sp>
      <p:sp>
        <p:nvSpPr>
          <p:cNvPr id="6" name="Shape 3"/>
          <p:cNvSpPr/>
          <p:nvPr/>
        </p:nvSpPr>
        <p:spPr>
          <a:xfrm>
            <a:off x="548640" y="1371600"/>
            <a:ext cx="5760720" cy="1554480"/>
          </a:xfrm>
          <a:prstGeom prst="roundRect">
            <a:avLst>
              <a:gd name="adj" fmla="val 5882"/>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sp>
        <p:nvSpPr>
          <p:cNvPr id="7" name="Shape 4"/>
          <p:cNvSpPr/>
          <p:nvPr/>
        </p:nvSpPr>
        <p:spPr>
          <a:xfrm>
            <a:off x="685800" y="1481328"/>
            <a:ext cx="329184" cy="329184"/>
          </a:xfrm>
          <a:prstGeom prst="ellipse">
            <a:avLst/>
          </a:prstGeom>
          <a:solidFill>
            <a:srgbClr val="2E9E6B"/>
          </a:solidFill>
          <a:ln w="12700">
            <a:solidFill>
              <a:srgbClr val="2E9E6B"/>
            </a:solidFill>
            <a:prstDash val="solid"/>
          </a:ln>
        </p:spPr>
      </p:sp>
      <p:sp>
        <p:nvSpPr>
          <p:cNvPr id="8" name="Text 5"/>
          <p:cNvSpPr/>
          <p:nvPr/>
        </p:nvSpPr>
        <p:spPr>
          <a:xfrm>
            <a:off x="685800" y="14813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p:nvPr/>
        </p:nvSpPr>
        <p:spPr>
          <a:xfrm>
            <a:off x="1143000" y="1481328"/>
            <a:ext cx="5029200" cy="329184"/>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Photo integrity checks</a:t>
            </a:r>
            <a:endParaRPr lang="en-US" sz="1300" dirty="0"/>
          </a:p>
        </p:txBody>
      </p:sp>
      <p:sp>
        <p:nvSpPr>
          <p:cNvPr id="10" name="Text 7"/>
          <p:cNvSpPr/>
          <p:nvPr/>
        </p:nvSpPr>
        <p:spPr>
          <a:xfrm>
            <a:off x="731520" y="1874520"/>
            <a:ext cx="5440680" cy="105156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4213D"/>
                </a:solidFill>
                <a:latin typeface="Calibri" pitchFamily="34" charset="0"/>
                <a:ea typeface="Calibri" pitchFamily="34" charset="-122"/>
                <a:cs typeface="Calibri" pitchFamily="34" charset="-120"/>
              </a:rPr>
              <a:t>Live camera only; five required shots: wide, close-up, plant count, boundary, undamaged comparison</a:t>
            </a:r>
            <a:endParaRPr lang="en-US" sz="1050" dirty="0"/>
          </a:p>
          <a:p>
            <a:pPr marL="342900" indent="-342900">
              <a:spcAft>
                <a:spcPts val="200"/>
              </a:spcAft>
              <a:buSzPct val="100000"/>
              <a:buChar char="•"/>
            </a:pPr>
            <a:r>
              <a:rPr lang="en-US" sz="1050" dirty="0">
                <a:solidFill>
                  <a:srgbClr val="14213D"/>
                </a:solidFill>
                <a:latin typeface="Calibri" pitchFamily="34" charset="0"/>
                <a:ea typeface="Calibri" pitchFamily="34" charset="-122"/>
                <a:cs typeface="Calibri" pitchFamily="34" charset="-120"/>
              </a:rPr>
              <a:t>GPS within about 100 m of the pinned plot; device time matches server time; inside the 72-hour window</a:t>
            </a:r>
            <a:endParaRPr lang="en-US" sz="1050" dirty="0"/>
          </a:p>
          <a:p>
            <a:pPr marL="342900" indent="-342900">
              <a:spcAft>
                <a:spcPts val="200"/>
              </a:spcAft>
              <a:buSzPct val="100000"/>
              <a:buChar char="•"/>
            </a:pPr>
            <a:r>
              <a:rPr lang="en-US" sz="1050" dirty="0">
                <a:solidFill>
                  <a:srgbClr val="14213D"/>
                </a:solidFill>
                <a:latin typeface="Calibri" pitchFamily="34" charset="0"/>
                <a:ea typeface="Calibri" pitchFamily="34" charset="-122"/>
                <a:cs typeface="Calibri" pitchFamily="34" charset="-120"/>
              </a:rPr>
              <a:t>File hash catches reused or duplicate photos across claims</a:t>
            </a:r>
            <a:endParaRPr lang="en-US" sz="1050" dirty="0"/>
          </a:p>
        </p:txBody>
      </p:sp>
      <p:sp>
        <p:nvSpPr>
          <p:cNvPr id="11" name="Shape 8"/>
          <p:cNvSpPr/>
          <p:nvPr/>
        </p:nvSpPr>
        <p:spPr>
          <a:xfrm>
            <a:off x="548640" y="3017520"/>
            <a:ext cx="5760720" cy="1554480"/>
          </a:xfrm>
          <a:prstGeom prst="roundRect">
            <a:avLst>
              <a:gd name="adj" fmla="val 5882"/>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sp>
        <p:nvSpPr>
          <p:cNvPr id="12" name="Shape 9"/>
          <p:cNvSpPr/>
          <p:nvPr/>
        </p:nvSpPr>
        <p:spPr>
          <a:xfrm>
            <a:off x="685800" y="3127248"/>
            <a:ext cx="329184" cy="329184"/>
          </a:xfrm>
          <a:prstGeom prst="ellipse">
            <a:avLst/>
          </a:prstGeom>
          <a:solidFill>
            <a:srgbClr val="2E9E6B"/>
          </a:solidFill>
          <a:ln w="12700">
            <a:solidFill>
              <a:srgbClr val="2E9E6B"/>
            </a:solidFill>
            <a:prstDash val="solid"/>
          </a:ln>
        </p:spPr>
      </p:sp>
      <p:sp>
        <p:nvSpPr>
          <p:cNvPr id="13" name="Text 10"/>
          <p:cNvSpPr/>
          <p:nvPr/>
        </p:nvSpPr>
        <p:spPr>
          <a:xfrm>
            <a:off x="685800" y="31272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1"/>
          <p:cNvSpPr/>
          <p:nvPr/>
        </p:nvSpPr>
        <p:spPr>
          <a:xfrm>
            <a:off x="1143000" y="3127248"/>
            <a:ext cx="5029200" cy="329184"/>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AI damage scoring</a:t>
            </a:r>
            <a:endParaRPr lang="en-US" sz="1300" dirty="0"/>
          </a:p>
        </p:txBody>
      </p:sp>
      <p:sp>
        <p:nvSpPr>
          <p:cNvPr id="15" name="Text 12"/>
          <p:cNvSpPr/>
          <p:nvPr/>
        </p:nvSpPr>
        <p:spPr>
          <a:xfrm>
            <a:off x="731520" y="3520440"/>
            <a:ext cx="5440680" cy="105156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4213D"/>
                </a:solidFill>
                <a:latin typeface="Calibri" pitchFamily="34" charset="0"/>
                <a:ea typeface="Calibri" pitchFamily="34" charset="-122"/>
                <a:cs typeface="Calibri" pitchFamily="34" charset="-120"/>
              </a:rPr>
              <a:t>Vision-model API with a written rubric: lodging, leaf loss, waterlogging, hail marks</a:t>
            </a:r>
            <a:endParaRPr lang="en-US" sz="1050" dirty="0"/>
          </a:p>
          <a:p>
            <a:pPr marL="342900" indent="-342900">
              <a:spcAft>
                <a:spcPts val="200"/>
              </a:spcAft>
              <a:buSzPct val="100000"/>
              <a:buChar char="•"/>
            </a:pPr>
            <a:r>
              <a:rPr lang="en-US" sz="1050" dirty="0">
                <a:solidFill>
                  <a:srgbClr val="14213D"/>
                </a:solidFill>
                <a:latin typeface="Calibri" pitchFamily="34" charset="0"/>
                <a:ea typeface="Calibri" pitchFamily="34" charset="-122"/>
                <a:cs typeface="Calibri" pitchFamily="34" charset="-120"/>
              </a:rPr>
              <a:t>Returns JSON: damage band (low, moderate, severe), likely cause, confidence from 0 to 1</a:t>
            </a:r>
            <a:endParaRPr lang="en-US" sz="1050" dirty="0"/>
          </a:p>
          <a:p>
            <a:pPr marL="342900" indent="-342900">
              <a:spcAft>
                <a:spcPts val="200"/>
              </a:spcAft>
              <a:buSzPct val="100000"/>
              <a:buChar char="•"/>
            </a:pPr>
            <a:r>
              <a:rPr lang="en-US" sz="1050" dirty="0">
                <a:solidFill>
                  <a:srgbClr val="14213D"/>
                </a:solidFill>
                <a:latin typeface="Calibri" pitchFamily="34" charset="0"/>
                <a:ea typeface="Calibri" pitchFamily="34" charset="-122"/>
                <a:cs typeface="Calibri" pitchFamily="34" charset="-120"/>
              </a:rPr>
              <a:t>Low confidence goes to review; the model never rejects a claim</a:t>
            </a:r>
            <a:endParaRPr lang="en-US" sz="1050" dirty="0"/>
          </a:p>
        </p:txBody>
      </p:sp>
      <p:sp>
        <p:nvSpPr>
          <p:cNvPr id="16" name="Shape 13"/>
          <p:cNvSpPr/>
          <p:nvPr/>
        </p:nvSpPr>
        <p:spPr>
          <a:xfrm>
            <a:off x="548640" y="4663440"/>
            <a:ext cx="5760720" cy="1554480"/>
          </a:xfrm>
          <a:prstGeom prst="roundRect">
            <a:avLst>
              <a:gd name="adj" fmla="val 5882"/>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sp>
        <p:nvSpPr>
          <p:cNvPr id="17" name="Shape 14"/>
          <p:cNvSpPr/>
          <p:nvPr/>
        </p:nvSpPr>
        <p:spPr>
          <a:xfrm>
            <a:off x="685800" y="4773168"/>
            <a:ext cx="329184" cy="329184"/>
          </a:xfrm>
          <a:prstGeom prst="ellipse">
            <a:avLst/>
          </a:prstGeom>
          <a:solidFill>
            <a:srgbClr val="2E9E6B"/>
          </a:solidFill>
          <a:ln w="12700">
            <a:solidFill>
              <a:srgbClr val="2E9E6B"/>
            </a:solidFill>
            <a:prstDash val="solid"/>
          </a:ln>
        </p:spPr>
      </p:sp>
      <p:sp>
        <p:nvSpPr>
          <p:cNvPr id="18" name="Text 15"/>
          <p:cNvSpPr/>
          <p:nvPr/>
        </p:nvSpPr>
        <p:spPr>
          <a:xfrm>
            <a:off x="685800" y="47731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1143000" y="4773168"/>
            <a:ext cx="5029200" cy="329184"/>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Weather cross-check</a:t>
            </a:r>
            <a:endParaRPr lang="en-US" sz="1300" dirty="0"/>
          </a:p>
        </p:txBody>
      </p:sp>
      <p:sp>
        <p:nvSpPr>
          <p:cNvPr id="20" name="Text 17"/>
          <p:cNvSpPr/>
          <p:nvPr/>
        </p:nvSpPr>
        <p:spPr>
          <a:xfrm>
            <a:off x="731520" y="5166360"/>
            <a:ext cx="5440680" cy="105156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4213D"/>
                </a:solidFill>
                <a:latin typeface="Calibri" pitchFamily="34" charset="0"/>
                <a:ea typeface="Calibri" pitchFamily="34" charset="-122"/>
                <a:cs typeface="Calibri" pitchFamily="34" charset="-120"/>
              </a:rPr>
              <a:t>Open-Meteo history for the plot's coordinates on the claim date, plus or minus one day</a:t>
            </a:r>
            <a:endParaRPr lang="en-US" sz="1050" dirty="0"/>
          </a:p>
          <a:p>
            <a:pPr marL="342900" indent="-342900">
              <a:spcAft>
                <a:spcPts val="200"/>
              </a:spcAft>
              <a:buSzPct val="100000"/>
              <a:buChar char="•"/>
            </a:pPr>
            <a:r>
              <a:rPr lang="en-US" sz="1050" dirty="0">
                <a:solidFill>
                  <a:srgbClr val="14213D"/>
                </a:solidFill>
                <a:latin typeface="Calibri" pitchFamily="34" charset="0"/>
                <a:ea typeface="Calibri" pitchFamily="34" charset="-122"/>
                <a:cs typeface="Calibri" pitchFamily="34" charset="-120"/>
              </a:rPr>
              <a:t>Checks rainfall, wind gusts and hail or thunderstorm codes against the claimed cause</a:t>
            </a:r>
            <a:endParaRPr lang="en-US" sz="1050" dirty="0"/>
          </a:p>
          <a:p>
            <a:pPr marL="342900" indent="-342900">
              <a:spcAft>
                <a:spcPts val="200"/>
              </a:spcAft>
              <a:buSzPct val="100000"/>
              <a:buChar char="•"/>
            </a:pPr>
            <a:r>
              <a:rPr lang="en-US" sz="1050" dirty="0">
                <a:solidFill>
                  <a:srgbClr val="14213D"/>
                </a:solidFill>
                <a:latin typeface="Calibri" pitchFamily="34" charset="0"/>
                <a:ea typeface="Calibri" pitchFamily="34" charset="-122"/>
                <a:cs typeface="Calibri" pitchFamily="34" charset="-120"/>
              </a:rPr>
              <a:t>Grid is kilometre-scale, so weather supports the claim but never decides it alone</a:t>
            </a:r>
            <a:endParaRPr lang="en-US" sz="1050" dirty="0"/>
          </a:p>
        </p:txBody>
      </p:sp>
      <p:sp>
        <p:nvSpPr>
          <p:cNvPr id="21" name="Text 18"/>
          <p:cNvSpPr/>
          <p:nvPr/>
        </p:nvSpPr>
        <p:spPr>
          <a:xfrm>
            <a:off x="6583680" y="1371600"/>
            <a:ext cx="5029200" cy="228600"/>
          </a:xfrm>
          <a:prstGeom prst="rect">
            <a:avLst/>
          </a:prstGeom>
          <a:noFill/>
          <a:ln/>
        </p:spPr>
        <p:txBody>
          <a:bodyPr wrap="square" lIns="0" tIns="0" rIns="0" bIns="0" rtlCol="0" anchor="t"/>
          <a:lstStyle/>
          <a:p>
            <a:pPr indent="0" marL="0">
              <a:buNone/>
            </a:pPr>
            <a:r>
              <a:rPr lang="en-US" sz="1000" b="1" spc="150" kern="0" dirty="0">
                <a:solidFill>
                  <a:srgbClr val="2E9E6B"/>
                </a:solidFill>
                <a:latin typeface="Calibri" pitchFamily="34" charset="0"/>
                <a:ea typeface="Calibri" pitchFamily="34" charset="-122"/>
                <a:cs typeface="Calibri" pitchFamily="34" charset="-120"/>
              </a:rPr>
              <a:t>DECISION RULE (PROTOTYPE DEFAULTS)</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0" y="1664208"/>
          <a:ext cx="5029200" cy="914400"/>
        </p:xfrm>
        <a:graphic>
          <a:graphicData uri="http://schemas.openxmlformats.org/drawingml/2006/table">
            <a:tbl>
              <a:tblPr/>
              <a:tblGrid>
                <a:gridCol w="914400"/>
                <a:gridCol w="2468880"/>
                <a:gridCol w="1645920"/>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Outcome</a:t>
                      </a:r>
                      <a:endParaRPr lang="en-US" sz="1100" dirty="0">
                        <a:latin typeface="Calibri" charset="0"/>
                        <a:ea typeface="Calibri" charset="0"/>
                        <a:cs typeface="Calibri" charset="0"/>
                      </a:endParaRPr>
                    </a:p>
                  </a:txBody>
                  <a:tcPr marL="91440" marR="91440" marT="45720" marB="45720">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When</a:t>
                      </a:r>
                      <a:endParaRPr lang="en-US" sz="1100" dirty="0">
                        <a:latin typeface="Calibri" charset="0"/>
                        <a:ea typeface="Calibri" charset="0"/>
                        <a:cs typeface="Calibri" charset="0"/>
                      </a:endParaRPr>
                    </a:p>
                  </a:txBody>
                  <a:tcPr marL="91440" marR="91440" marT="45720" marB="45720">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1421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happens</a:t>
                      </a:r>
                      <a:endParaRPr lang="en-US" sz="1100" dirty="0">
                        <a:latin typeface="Calibri" charset="0"/>
                        <a:ea typeface="Calibri" charset="0"/>
                        <a:cs typeface="Calibri" charset="0"/>
                      </a:endParaRPr>
                    </a:p>
                  </a:txBody>
                  <a:tcPr marL="91440" marR="91440" marT="45720" marB="45720">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14213D"/>
                    </a:solidFill>
                  </a:tcPr>
                </a:tc>
              </a:tr>
              <a:tr h="914400">
                <a:tc>
                  <a:txBody>
                    <a:bodyPr/>
                    <a:lstStyle/>
                    <a:p>
                      <a:pPr indent="0" marL="0">
                        <a:buNone/>
                      </a:pPr>
                      <a:r>
                        <a:rPr lang="en-US" sz="1150" b="1" dirty="0">
                          <a:solidFill>
                            <a:srgbClr val="2E9E6B"/>
                          </a:solidFill>
                          <a:latin typeface="Calibri" pitchFamily="34" charset="0"/>
                          <a:ea typeface="Calibri" pitchFamily="34" charset="-122"/>
                          <a:cs typeface="Calibri" pitchFamily="34" charset="-120"/>
                        </a:rPr>
                        <a:t>Verified</a:t>
                      </a:r>
                      <a:endParaRPr lang="en-US" sz="11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E8F5EE"/>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Integrity passes, damage moderate or severe, weather consistent, confidence 0.7 or higher</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Fast-tracked to the insurer with the evidence pack</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r>
              <a:tr h="640080">
                <a:tc>
                  <a:txBody>
                    <a:bodyPr/>
                    <a:lstStyle/>
                    <a:p>
                      <a:pPr indent="0" marL="0">
                        <a:buNone/>
                      </a:pPr>
                      <a:r>
                        <a:rPr lang="en-US" sz="1150" b="1" dirty="0">
                          <a:solidFill>
                            <a:srgbClr val="B8741A"/>
                          </a:solidFill>
                          <a:latin typeface="Calibri" pitchFamily="34" charset="0"/>
                          <a:ea typeface="Calibri" pitchFamily="34" charset="-122"/>
                          <a:cs typeface="Calibri" pitchFamily="34" charset="-120"/>
                        </a:rPr>
                        <a:t>Review</a:t>
                      </a:r>
                      <a:endParaRPr lang="en-US" sz="11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EF3E0"/>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One signal is weak or confidence is low</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Officer checks the pack remotely</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r>
              <a:tr h="731520">
                <a:tc>
                  <a:txBody>
                    <a:bodyPr/>
                    <a:lstStyle/>
                    <a:p>
                      <a:pPr indent="0" marL="0">
                        <a:buNone/>
                      </a:pPr>
                      <a:r>
                        <a:rPr lang="en-US" sz="1150" b="1" dirty="0">
                          <a:solidFill>
                            <a:srgbClr val="E4572E"/>
                          </a:solidFill>
                          <a:latin typeface="Calibri" pitchFamily="34" charset="0"/>
                          <a:ea typeface="Calibri" pitchFamily="34" charset="-122"/>
                          <a:cs typeface="Calibri" pitchFamily="34" charset="-120"/>
                        </a:rPr>
                        <a:t>Visit</a:t>
                      </a:r>
                      <a:endParaRPr lang="en-US" sz="11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CEAE5"/>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Integrity fails, or a severe claim has no weather support</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Surveyor visits first</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r>
            </a:tbl>
          </a:graphicData>
        </a:graphic>
      </p:graphicFrame>
      <p:sp>
        <p:nvSpPr>
          <p:cNvPr id="23" name="Shape 19"/>
          <p:cNvSpPr/>
          <p:nvPr/>
        </p:nvSpPr>
        <p:spPr>
          <a:xfrm>
            <a:off x="6583680" y="4480560"/>
            <a:ext cx="5029200" cy="1828800"/>
          </a:xfrm>
          <a:prstGeom prst="roundRect">
            <a:avLst>
              <a:gd name="adj" fmla="val 5000"/>
            </a:avLst>
          </a:prstGeom>
          <a:solidFill>
            <a:srgbClr val="E6F0FC"/>
          </a:solidFill>
          <a:ln w="12700">
            <a:solidFill>
              <a:srgbClr val="E6F0FC"/>
            </a:solidFill>
            <a:prstDash val="solid"/>
          </a:ln>
        </p:spPr>
      </p:sp>
      <p:sp>
        <p:nvSpPr>
          <p:cNvPr id="24" name="Text 20"/>
          <p:cNvSpPr/>
          <p:nvPr/>
        </p:nvSpPr>
        <p:spPr>
          <a:xfrm>
            <a:off x="6766560" y="4572000"/>
            <a:ext cx="4572000" cy="228600"/>
          </a:xfrm>
          <a:prstGeom prst="rect">
            <a:avLst/>
          </a:prstGeom>
          <a:noFill/>
          <a:ln/>
        </p:spPr>
        <p:txBody>
          <a:bodyPr wrap="square" lIns="0" tIns="0" rIns="0" bIns="0" rtlCol="0" anchor="t"/>
          <a:lstStyle/>
          <a:p>
            <a:pPr indent="0" marL="0">
              <a:buNone/>
            </a:pPr>
            <a:r>
              <a:rPr lang="en-US" sz="1000" b="1" spc="150" kern="0" dirty="0">
                <a:solidFill>
                  <a:srgbClr val="2F7FD8"/>
                </a:solidFill>
                <a:latin typeface="Calibri" pitchFamily="34" charset="0"/>
                <a:ea typeface="Calibri" pitchFamily="34" charset="-122"/>
                <a:cs typeface="Calibri" pitchFamily="34" charset="-120"/>
              </a:rPr>
              <a:t>SAFEGUARDS AND LIMITS</a:t>
            </a:r>
            <a:endParaRPr lang="en-US" sz="1000" dirty="0"/>
          </a:p>
        </p:txBody>
      </p:sp>
      <p:sp>
        <p:nvSpPr>
          <p:cNvPr id="25" name="Text 21"/>
          <p:cNvSpPr/>
          <p:nvPr/>
        </p:nvSpPr>
        <p:spPr>
          <a:xfrm>
            <a:off x="6766560" y="4846320"/>
            <a:ext cx="4709160" cy="141732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4213D"/>
                </a:solidFill>
                <a:latin typeface="Calibri" pitchFamily="34" charset="0"/>
                <a:ea typeface="Calibri" pitchFamily="34" charset="-122"/>
                <a:cs typeface="Calibri" pitchFamily="34" charset="-120"/>
              </a:rPr>
              <a:t>Only officers decide; the system ranks and recommends</a:t>
            </a:r>
            <a:endParaRPr lang="en-US" sz="1050" dirty="0"/>
          </a:p>
          <a:p>
            <a:pPr marL="342900" indent="-342900">
              <a:spcAft>
                <a:spcPts val="200"/>
              </a:spcAft>
              <a:buSzPct val="100000"/>
              <a:buChar char="•"/>
            </a:pPr>
            <a:r>
              <a:rPr lang="en-US" sz="1050" dirty="0">
                <a:solidFill>
                  <a:srgbClr val="14213D"/>
                </a:solidFill>
                <a:latin typeface="Calibri" pitchFamily="34" charset="0"/>
                <a:ea typeface="Calibri" pitchFamily="34" charset="-122"/>
                <a:cs typeface="Calibri" pitchFamily="34" charset="-120"/>
              </a:rPr>
              <a:t>Photos stored privately; visible only to the insurer and officers on that claim; consent taken at the start</a:t>
            </a:r>
            <a:endParaRPr lang="en-US" sz="1050" dirty="0"/>
          </a:p>
          <a:p>
            <a:pPr marL="342900" indent="-342900">
              <a:spcAft>
                <a:spcPts val="200"/>
              </a:spcAft>
              <a:buSzPct val="100000"/>
              <a:buChar char="•"/>
            </a:pPr>
            <a:r>
              <a:rPr lang="en-US" sz="1050" dirty="0">
                <a:solidFill>
                  <a:srgbClr val="14213D"/>
                </a:solidFill>
                <a:latin typeface="Calibri" pitchFamily="34" charset="0"/>
                <a:ea typeface="Calibri" pitchFamily="34" charset="-122"/>
                <a:cs typeface="Calibri" pitchFamily="34" charset="-120"/>
              </a:rPr>
              <a:t>Confidence is always shown, and every override is logged to improve the rubric</a:t>
            </a:r>
            <a:endParaRPr lang="en-US" sz="1050" dirty="0"/>
          </a:p>
          <a:p>
            <a:pPr marL="342900" indent="-342900">
              <a:spcAft>
                <a:spcPts val="200"/>
              </a:spcAft>
              <a:buSzPct val="100000"/>
              <a:buChar char="•"/>
            </a:pPr>
            <a:r>
              <a:rPr lang="en-US" sz="1050" dirty="0">
                <a:solidFill>
                  <a:srgbClr val="14213D"/>
                </a:solidFill>
                <a:latin typeface="Calibri" pitchFamily="34" charset="0"/>
                <a:ea typeface="Calibri" pitchFamily="34" charset="-122"/>
                <a:cs typeface="Calibri" pitchFamily="34" charset="-120"/>
              </a:rPr>
              <a:t>Honest limit: a clever fake or a very local storm can still slip through, which is why borderline claims go to review</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320040"/>
            <a:ext cx="11064240" cy="868680"/>
          </a:xfrm>
          <a:prstGeom prst="rect">
            <a:avLst/>
          </a:prstGeom>
          <a:noFill/>
          <a:ln/>
        </p:spPr>
        <p:txBody>
          <a:bodyPr wrap="square" lIns="0" tIns="0" rIns="0" bIns="0" rtlCol="0" anchor="t"/>
          <a:lstStyle/>
          <a:p>
            <a:pPr indent="0" marL="0">
              <a:buNone/>
            </a:pPr>
            <a:r>
              <a:rPr lang="en-US" sz="2400" b="1" dirty="0">
                <a:solidFill>
                  <a:srgbClr val="14213D"/>
                </a:solidFill>
                <a:latin typeface="Georgia" pitchFamily="34" charset="0"/>
                <a:ea typeface="Georgia" pitchFamily="34" charset="-122"/>
                <a:cs typeface="Georgia" pitchFamily="34" charset="-120"/>
              </a:rPr>
              <a:t>Prototype plan: one working claim flow, end to end, on demo data</a:t>
            </a:r>
            <a:endParaRPr lang="en-US" sz="2400" dirty="0"/>
          </a:p>
        </p:txBody>
      </p:sp>
      <p:sp>
        <p:nvSpPr>
          <p:cNvPr id="3" name="Text 1"/>
          <p:cNvSpPr/>
          <p:nvPr/>
        </p:nvSpPr>
        <p:spPr>
          <a:xfrm>
            <a:off x="548640" y="6492240"/>
            <a:ext cx="7315200" cy="228600"/>
          </a:xfrm>
          <a:prstGeom prst="rect">
            <a:avLst/>
          </a:prstGeom>
          <a:noFill/>
          <a:ln/>
        </p:spPr>
        <p:txBody>
          <a:bodyPr wrap="square" lIns="0" tIns="0" rIns="0" bIns="0" rtlCol="0" anchor="ctr"/>
          <a:lstStyle/>
          <a:p>
            <a:pPr indent="0" marL="0">
              <a:buNone/>
            </a:pPr>
            <a:r>
              <a:rPr lang="en-US" sz="900" dirty="0">
                <a:solidFill>
                  <a:srgbClr val="5F6B80"/>
                </a:solidFill>
                <a:latin typeface="Calibri" pitchFamily="34" charset="0"/>
                <a:ea typeface="Calibri" pitchFamily="34" charset="-122"/>
                <a:cs typeface="Calibri" pitchFamily="34" charset="-120"/>
              </a:rPr>
              <a:t>IMPACT TANK '26  |  SOLUTION CONCEPT DECK  |  FarmProof  |  Team Nexus.DTU</a:t>
            </a:r>
            <a:endParaRPr lang="en-US" sz="900" dirty="0"/>
          </a:p>
        </p:txBody>
      </p:sp>
      <p:sp>
        <p:nvSpPr>
          <p:cNvPr id="4" name="Text 2"/>
          <p:cNvSpPr/>
          <p:nvPr/>
        </p:nvSpPr>
        <p:spPr>
          <a:xfrm>
            <a:off x="11155680" y="6492240"/>
            <a:ext cx="457200" cy="228600"/>
          </a:xfrm>
          <a:prstGeom prst="rect">
            <a:avLst/>
          </a:prstGeom>
          <a:noFill/>
          <a:ln/>
        </p:spPr>
        <p:txBody>
          <a:bodyPr wrap="square" lIns="0" tIns="0" rIns="0" bIns="0" rtlCol="0" anchor="ctr"/>
          <a:lstStyle/>
          <a:p>
            <a:pPr algn="r" indent="0" marL="0">
              <a:buNone/>
            </a:pPr>
            <a:r>
              <a:rPr lang="en-US" sz="900" dirty="0">
                <a:solidFill>
                  <a:srgbClr val="5F6B80"/>
                </a:solidFill>
                <a:latin typeface="Calibri" pitchFamily="34" charset="0"/>
                <a:ea typeface="Calibri" pitchFamily="34" charset="-122"/>
                <a:cs typeface="Calibri" pitchFamily="34" charset="-120"/>
              </a:rPr>
              <a:t>12</a:t>
            </a:r>
            <a:endParaRPr lang="en-US" sz="900" dirty="0"/>
          </a:p>
        </p:txBody>
      </p:sp>
      <p:sp>
        <p:nvSpPr>
          <p:cNvPr id="6" name="Shape 3"/>
          <p:cNvSpPr/>
          <p:nvPr/>
        </p:nvSpPr>
        <p:spPr>
          <a:xfrm>
            <a:off x="548640" y="1371600"/>
            <a:ext cx="5669280" cy="2011680"/>
          </a:xfrm>
          <a:prstGeom prst="roundRect">
            <a:avLst>
              <a:gd name="adj" fmla="val 4545"/>
            </a:avLst>
          </a:prstGeom>
          <a:solidFill>
            <a:srgbClr val="FFFFFF"/>
          </a:solidFill>
          <a:ln w="12700">
            <a:solidFill>
              <a:srgbClr val="FFFFFF"/>
            </a:solidFill>
            <a:prstDash val="solid"/>
          </a:ln>
          <a:effectLst>
            <a:outerShdw sx="100000" sy="100000" kx="0" ky="0" algn="bl" rotWithShape="0" blurRad="101600" dist="25400" dir="5400000">
              <a:srgbClr val="1B2B4B">
                <a:alpha val="12000"/>
              </a:srgbClr>
            </a:outerShdw>
          </a:effectLst>
        </p:spPr>
      </p:sp>
      <p:sp>
        <p:nvSpPr>
          <p:cNvPr id="7" name="Text 4"/>
          <p:cNvSpPr/>
          <p:nvPr/>
        </p:nvSpPr>
        <p:spPr>
          <a:xfrm>
            <a:off x="731520" y="1463040"/>
            <a:ext cx="1828800" cy="228600"/>
          </a:xfrm>
          <a:prstGeom prst="rect">
            <a:avLst/>
          </a:prstGeom>
          <a:noFill/>
          <a:ln/>
        </p:spPr>
        <p:txBody>
          <a:bodyPr wrap="square" lIns="0" tIns="0" rIns="0" bIns="0" rtlCol="0" anchor="t"/>
          <a:lstStyle/>
          <a:p>
            <a:pPr indent="0" marL="0">
              <a:buNone/>
            </a:pPr>
            <a:r>
              <a:rPr lang="en-US" sz="1000" b="1" spc="150" kern="0" dirty="0">
                <a:solidFill>
                  <a:srgbClr val="2E9E6B"/>
                </a:solidFill>
                <a:latin typeface="Calibri" pitchFamily="34" charset="0"/>
                <a:ea typeface="Calibri" pitchFamily="34" charset="-122"/>
                <a:cs typeface="Calibri" pitchFamily="34" charset="-120"/>
              </a:rPr>
              <a:t>WILL BUILD</a:t>
            </a:r>
            <a:endParaRPr lang="en-US" sz="1000" dirty="0"/>
          </a:p>
        </p:txBody>
      </p:sp>
      <p:sp>
        <p:nvSpPr>
          <p:cNvPr id="8" name="Text 5"/>
          <p:cNvSpPr/>
          <p:nvPr/>
        </p:nvSpPr>
        <p:spPr>
          <a:xfrm>
            <a:off x="731520" y="1737360"/>
            <a:ext cx="3383280" cy="160020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Farmer flow: report, 5-photo guided capture, plot pin, submit</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AI damage band with confidence (vision model + rubric)</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Weather cross-check for the claim date and place</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Claim tracker with status timeline</a:t>
            </a:r>
            <a:endParaRPr lang="en-US" sz="1100" dirty="0"/>
          </a:p>
          <a:p>
            <a:pPr marL="342900" indent="-342900">
              <a:spcAft>
                <a:spcPts val="300"/>
              </a:spcAft>
              <a:buSzPct val="100000"/>
              <a:buChar char="•"/>
            </a:pPr>
            <a:r>
              <a:rPr lang="en-US" sz="1100" dirty="0">
                <a:solidFill>
                  <a:srgbClr val="14213D"/>
                </a:solidFill>
                <a:latin typeface="Calibri" pitchFamily="34" charset="0"/>
                <a:ea typeface="Calibri" pitchFamily="34" charset="-122"/>
                <a:cs typeface="Calibri" pitchFamily="34" charset="-120"/>
              </a:rPr>
              <a:t>Officer view: ranked claims, evidence pack, override</a:t>
            </a:r>
            <a:endParaRPr lang="en-US" sz="1100" dirty="0"/>
          </a:p>
        </p:txBody>
      </p:sp>
      <p:sp>
        <p:nvSpPr>
          <p:cNvPr id="9" name="Text 6"/>
          <p:cNvSpPr/>
          <p:nvPr/>
        </p:nvSpPr>
        <p:spPr>
          <a:xfrm>
            <a:off x="4297680" y="1463040"/>
            <a:ext cx="1828800" cy="228600"/>
          </a:xfrm>
          <a:prstGeom prst="rect">
            <a:avLst/>
          </a:prstGeom>
          <a:noFill/>
          <a:ln/>
        </p:spPr>
        <p:txBody>
          <a:bodyPr wrap="square" lIns="0" tIns="0" rIns="0" bIns="0" rtlCol="0" anchor="t"/>
          <a:lstStyle/>
          <a:p>
            <a:pPr indent="0" marL="0">
              <a:buNone/>
            </a:pPr>
            <a:r>
              <a:rPr lang="en-US" sz="1000" b="1" spc="150" kern="0" dirty="0">
                <a:solidFill>
                  <a:srgbClr val="C0561F"/>
                </a:solidFill>
                <a:latin typeface="Calibri" pitchFamily="34" charset="0"/>
                <a:ea typeface="Calibri" pitchFamily="34" charset="-122"/>
                <a:cs typeface="Calibri" pitchFamily="34" charset="-120"/>
              </a:rPr>
              <a:t>OUT OF SCOPE</a:t>
            </a:r>
            <a:endParaRPr lang="en-US" sz="1000" dirty="0"/>
          </a:p>
        </p:txBody>
      </p:sp>
      <p:sp>
        <p:nvSpPr>
          <p:cNvPr id="10" name="Text 7"/>
          <p:cNvSpPr/>
          <p:nvPr/>
        </p:nvSpPr>
        <p:spPr>
          <a:xfrm>
            <a:off x="4297680" y="1737360"/>
            <a:ext cx="1828800" cy="160020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5F6B80"/>
                </a:solidFill>
                <a:latin typeface="Calibri" pitchFamily="34" charset="0"/>
                <a:ea typeface="Calibri" pitchFamily="34" charset="-122"/>
                <a:cs typeface="Calibri" pitchFamily="34" charset="-120"/>
              </a:rPr>
              <a:t>Live insurer systems</a:t>
            </a:r>
            <a:endParaRPr lang="en-US" sz="1100" dirty="0"/>
          </a:p>
          <a:p>
            <a:pPr marL="342900" indent="-342900">
              <a:spcAft>
                <a:spcPts val="300"/>
              </a:spcAft>
              <a:buSzPct val="100000"/>
              <a:buChar char="•"/>
            </a:pPr>
            <a:r>
              <a:rPr lang="en-US" sz="1100" dirty="0">
                <a:solidFill>
                  <a:srgbClr val="5F6B80"/>
                </a:solidFill>
                <a:latin typeface="Calibri" pitchFamily="34" charset="0"/>
                <a:ea typeface="Calibri" pitchFamily="34" charset="-122"/>
                <a:cs typeface="Calibri" pitchFamily="34" charset="-120"/>
              </a:rPr>
              <a:t>Payments</a:t>
            </a:r>
            <a:endParaRPr lang="en-US" sz="1100" dirty="0"/>
          </a:p>
          <a:p>
            <a:pPr marL="342900" indent="-342900">
              <a:spcAft>
                <a:spcPts val="300"/>
              </a:spcAft>
              <a:buSzPct val="100000"/>
              <a:buChar char="•"/>
            </a:pPr>
            <a:r>
              <a:rPr lang="en-US" sz="1100" dirty="0">
                <a:solidFill>
                  <a:srgbClr val="5F6B80"/>
                </a:solidFill>
                <a:latin typeface="Calibri" pitchFamily="34" charset="0"/>
                <a:ea typeface="Calibri" pitchFamily="34" charset="-122"/>
                <a:cs typeface="Calibri" pitchFamily="34" charset="-120"/>
              </a:rPr>
              <a:t>Satellite imagery</a:t>
            </a:r>
            <a:endParaRPr lang="en-US" sz="1100" dirty="0"/>
          </a:p>
          <a:p>
            <a:pPr marL="342900" indent="-342900">
              <a:spcAft>
                <a:spcPts val="300"/>
              </a:spcAft>
              <a:buSzPct val="100000"/>
              <a:buChar char="•"/>
            </a:pPr>
            <a:r>
              <a:rPr lang="en-US" sz="1100" dirty="0">
                <a:solidFill>
                  <a:srgbClr val="5F6B80"/>
                </a:solidFill>
                <a:latin typeface="Calibri" pitchFamily="34" charset="0"/>
                <a:ea typeface="Calibri" pitchFamily="34" charset="-122"/>
                <a:cs typeface="Calibri" pitchFamily="34" charset="-120"/>
              </a:rPr>
              <a:t>Full language coverage</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3520440"/>
          <a:ext cx="5669280" cy="914400"/>
        </p:xfrm>
        <a:graphic>
          <a:graphicData uri="http://schemas.openxmlformats.org/drawingml/2006/table">
            <a:tbl>
              <a:tblPr/>
              <a:tblGrid>
                <a:gridCol w="1005840"/>
                <a:gridCol w="2103120"/>
                <a:gridCol w="2560320"/>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Layer</a:t>
                      </a:r>
                      <a:endParaRPr lang="en-US" sz="1050" dirty="0">
                        <a:latin typeface="Calibri" charset="0"/>
                        <a:ea typeface="Calibri" charset="0"/>
                        <a:cs typeface="Calibri" charset="0"/>
                      </a:endParaRPr>
                    </a:p>
                  </a:txBody>
                  <a:tcPr marL="91440" marR="91440" marT="45720" marB="45720">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Tool</a:t>
                      </a:r>
                      <a:endParaRPr lang="en-US" sz="1050" dirty="0">
                        <a:latin typeface="Calibri" charset="0"/>
                        <a:ea typeface="Calibri" charset="0"/>
                        <a:cs typeface="Calibri" charset="0"/>
                      </a:endParaRPr>
                    </a:p>
                  </a:txBody>
                  <a:tcPr marL="91440" marR="91440" marT="45720" marB="45720">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1421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Why</a:t>
                      </a:r>
                      <a:endParaRPr lang="en-US" sz="1050" dirty="0">
                        <a:latin typeface="Calibri" charset="0"/>
                        <a:ea typeface="Calibri" charset="0"/>
                        <a:cs typeface="Calibri" charset="0"/>
                      </a:endParaRPr>
                    </a:p>
                  </a:txBody>
                  <a:tcPr marL="91440" marR="91440" marT="45720" marB="45720">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14213D"/>
                    </a:solidFill>
                  </a:tcPr>
                </a:tc>
              </a:tr>
              <a:tr h="338328">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Front end</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React PWA (mobile web)</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Runs on any Android browser; offline cache</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Backend</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Supabase</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Auth, database and photo storage on a free tier</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AI</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Vision-model API + damage rubric</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No training data needed in one week</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Weather</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Open-Meteo / NASA POWER</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Free historical rain and wind data</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r>
              <a:tr h="338328">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Map</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Leaflet + OpenStreetMap</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Free plot pin and boundary</a:t>
                      </a:r>
                      <a:endParaRPr lang="en-US" sz="1050" dirty="0">
                        <a:latin typeface="Calibri" charset="0"/>
                        <a:ea typeface="Calibri" charset="0"/>
                        <a:cs typeface="Calibri" charset="0"/>
                      </a:endParaRPr>
                    </a:p>
                  </a:txBody>
                  <a:tcPr marL="91440" marR="91440" marT="45720" marB="45720" anchor="ctr">
                    <a:lnL w="12700" cap="flat" cmpd="sng" algn="ctr">
                      <a:solidFill>
                        <a:srgbClr val="D9E0EC"/>
                      </a:solidFill>
                      <a:prstDash val="solid"/>
                      <a:round/>
                      <a:headEnd type="none" w="med" len="med"/>
                      <a:tailEnd type="none" w="med" len="med"/>
                    </a:lnL>
                    <a:lnR w="12700" cap="flat" cmpd="sng" algn="ctr">
                      <a:solidFill>
                        <a:srgbClr val="D9E0EC"/>
                      </a:solidFill>
                      <a:prstDash val="solid"/>
                      <a:round/>
                      <a:headEnd type="none" w="med" len="med"/>
                      <a:tailEnd type="none" w="med" len="med"/>
                    </a:lnR>
                    <a:lnT w="12700" cap="flat" cmpd="sng" algn="ctr">
                      <a:solidFill>
                        <a:srgbClr val="D9E0EC"/>
                      </a:solidFill>
                      <a:prstDash val="solid"/>
                      <a:round/>
                      <a:headEnd type="none" w="med" len="med"/>
                      <a:tailEnd type="none" w="med" len="med"/>
                    </a:lnT>
                    <a:lnB w="12700" cap="flat" cmpd="sng" algn="ctr">
                      <a:solidFill>
                        <a:srgbClr val="D9E0EC"/>
                      </a:solidFill>
                      <a:prstDash val="solid"/>
                      <a:round/>
                      <a:headEnd type="none" w="med" len="med"/>
                      <a:tailEnd type="none" w="med" len="med"/>
                    </a:lnB>
                    <a:solidFill>
                      <a:srgbClr val="FFFFFF"/>
                    </a:solidFill>
                  </a:tcPr>
                </a:tc>
              </a:tr>
            </a:tbl>
          </a:graphicData>
        </a:graphic>
      </p:graphicFrame>
      <p:sp>
        <p:nvSpPr>
          <p:cNvPr id="12" name="Shape 8"/>
          <p:cNvSpPr/>
          <p:nvPr/>
        </p:nvSpPr>
        <p:spPr>
          <a:xfrm>
            <a:off x="548640" y="5669280"/>
            <a:ext cx="5669280" cy="658368"/>
          </a:xfrm>
          <a:prstGeom prst="roundRect">
            <a:avLst>
              <a:gd name="adj" fmla="val 13889"/>
            </a:avLst>
          </a:prstGeom>
          <a:solidFill>
            <a:srgbClr val="E8F5EE"/>
          </a:solidFill>
          <a:ln w="12700">
            <a:solidFill>
              <a:srgbClr val="E8F5EE"/>
            </a:solidFill>
            <a:prstDash val="solid"/>
          </a:ln>
        </p:spPr>
      </p:sp>
      <p:sp>
        <p:nvSpPr>
          <p:cNvPr id="13" name="Text 9"/>
          <p:cNvSpPr/>
          <p:nvPr/>
        </p:nvSpPr>
        <p:spPr>
          <a:xfrm>
            <a:off x="731520" y="5669280"/>
            <a:ext cx="5394960" cy="658368"/>
          </a:xfrm>
          <a:prstGeom prst="rect">
            <a:avLst/>
          </a:prstGeom>
          <a:noFill/>
          <a:ln/>
        </p:spPr>
        <p:txBody>
          <a:bodyPr wrap="square" lIns="0" tIns="0" rIns="0" bIns="0" rtlCol="0" anchor="ctr"/>
          <a:lstStyle/>
          <a:p>
            <a:pPr indent="0" marL="0">
              <a:buNone/>
            </a:pPr>
            <a:r>
              <a:rPr lang="en-US" sz="1050" b="1" dirty="0">
                <a:solidFill>
                  <a:srgbClr val="14213D"/>
                </a:solidFill>
                <a:latin typeface="Calibri" pitchFamily="34" charset="0"/>
                <a:ea typeface="Calibri" pitchFamily="34" charset="-122"/>
                <a:cs typeface="Calibri" pitchFamily="34" charset="-120"/>
              </a:rPr>
              <a:t>Target maturity: functional MVP. </a:t>
            </a:r>
            <a:pPr indent="0" marL="0">
              <a:buNone/>
            </a:pPr>
            <a:r>
              <a:rPr lang="en-US" sz="1050" dirty="0">
                <a:solidFill>
                  <a:srgbClr val="14213D"/>
                </a:solidFill>
                <a:latin typeface="Calibri" pitchFamily="34" charset="0"/>
                <a:ea typeface="Calibri" pitchFamily="34" charset="-122"/>
                <a:cs typeface="Calibri" pitchFamily="34" charset="-120"/>
              </a:rPr>
              <a:t>Farmer flow and officer view work end to end on realistic demo data; AI scoring checked on a small labelled image set; no live insurer integration.</a:t>
            </a:r>
            <a:endParaRPr lang="en-US" sz="1050" dirty="0"/>
          </a:p>
        </p:txBody>
      </p:sp>
      <p:pic>
        <p:nvPicPr>
          <p:cNvPr id="14" name="Image 0" descr="/home/claude/img/dashboard.png">    </p:cNvPr>
          <p:cNvPicPr>
            <a:picLocks noChangeAspect="1"/>
          </p:cNvPicPr>
          <p:nvPr/>
        </p:nvPicPr>
        <p:blipFill>
          <a:blip r:embed="rId1"/>
          <a:stretch>
            <a:fillRect/>
          </a:stretch>
        </p:blipFill>
        <p:spPr>
          <a:xfrm>
            <a:off x="6492240" y="1371600"/>
            <a:ext cx="5120640" cy="3072384"/>
          </a:xfrm>
          <a:prstGeom prst="rect">
            <a:avLst/>
          </a:prstGeom>
        </p:spPr>
      </p:pic>
      <p:sp>
        <p:nvSpPr>
          <p:cNvPr id="15" name="Text 10"/>
          <p:cNvSpPr/>
          <p:nvPr/>
        </p:nvSpPr>
        <p:spPr>
          <a:xfrm>
            <a:off x="6492240" y="4480560"/>
            <a:ext cx="5120640" cy="228600"/>
          </a:xfrm>
          <a:prstGeom prst="rect">
            <a:avLst/>
          </a:prstGeom>
          <a:noFill/>
          <a:ln/>
        </p:spPr>
        <p:txBody>
          <a:bodyPr wrap="square" lIns="0" tIns="0" rIns="0" bIns="0" rtlCol="0" anchor="t"/>
          <a:lstStyle/>
          <a:p>
            <a:pPr indent="0" marL="0">
              <a:buNone/>
            </a:pPr>
            <a:r>
              <a:rPr lang="en-US" sz="950" i="1" dirty="0">
                <a:solidFill>
                  <a:srgbClr val="5F6B80"/>
                </a:solidFill>
                <a:latin typeface="Calibri" pitchFamily="34" charset="0"/>
                <a:ea typeface="Calibri" pitchFamily="34" charset="-122"/>
                <a:cs typeface="Calibri" pitchFamily="34" charset="-120"/>
              </a:rPr>
              <a:t>Planned officer view (concept, sample data)</a:t>
            </a:r>
            <a:endParaRPr lang="en-US" sz="950" dirty="0"/>
          </a:p>
        </p:txBody>
      </p:sp>
      <p:sp>
        <p:nvSpPr>
          <p:cNvPr id="16" name="Text 11"/>
          <p:cNvSpPr/>
          <p:nvPr/>
        </p:nvSpPr>
        <p:spPr>
          <a:xfrm>
            <a:off x="6492240" y="4754880"/>
            <a:ext cx="2743200" cy="228600"/>
          </a:xfrm>
          <a:prstGeom prst="rect">
            <a:avLst/>
          </a:prstGeom>
          <a:noFill/>
          <a:ln/>
        </p:spPr>
        <p:txBody>
          <a:bodyPr wrap="square" lIns="0" tIns="0" rIns="0" bIns="0" rtlCol="0" anchor="t"/>
          <a:lstStyle/>
          <a:p>
            <a:pPr indent="0" marL="0">
              <a:buNone/>
            </a:pPr>
            <a:r>
              <a:rPr lang="en-US" sz="1000" b="1" spc="150" kern="0" dirty="0">
                <a:solidFill>
                  <a:srgbClr val="2E9E6B"/>
                </a:solidFill>
                <a:latin typeface="Calibri" pitchFamily="34" charset="0"/>
                <a:ea typeface="Calibri" pitchFamily="34" charset="-122"/>
                <a:cs typeface="Calibri" pitchFamily="34" charset="-120"/>
              </a:rPr>
              <a:t>BUILD PLAN (WEEK 2)</a:t>
            </a:r>
            <a:endParaRPr lang="en-US" sz="1000" dirty="0"/>
          </a:p>
        </p:txBody>
      </p:sp>
      <p:sp>
        <p:nvSpPr>
          <p:cNvPr id="17" name="Shape 12"/>
          <p:cNvSpPr/>
          <p:nvPr/>
        </p:nvSpPr>
        <p:spPr>
          <a:xfrm>
            <a:off x="6492240" y="5029200"/>
            <a:ext cx="1207008" cy="1280160"/>
          </a:xfrm>
          <a:prstGeom prst="roundRect">
            <a:avLst>
              <a:gd name="adj" fmla="val 7576"/>
            </a:avLst>
          </a:prstGeom>
          <a:solidFill>
            <a:srgbClr val="FFFFFF"/>
          </a:solidFill>
          <a:ln w="12700">
            <a:solidFill>
              <a:srgbClr val="FFFFFF"/>
            </a:solidFill>
            <a:prstDash val="solid"/>
          </a:ln>
        </p:spPr>
      </p:sp>
      <p:sp>
        <p:nvSpPr>
          <p:cNvPr id="18" name="Text 13"/>
          <p:cNvSpPr/>
          <p:nvPr/>
        </p:nvSpPr>
        <p:spPr>
          <a:xfrm>
            <a:off x="6583680" y="5102352"/>
            <a:ext cx="1051560" cy="1188720"/>
          </a:xfrm>
          <a:prstGeom prst="rect">
            <a:avLst/>
          </a:prstGeom>
          <a:noFill/>
          <a:ln/>
        </p:spPr>
        <p:txBody>
          <a:bodyPr wrap="square" lIns="0" tIns="0" rIns="0" bIns="0" rtlCol="0" anchor="t"/>
          <a:lstStyle/>
          <a:p>
            <a:pPr indent="0" marL="0">
              <a:buNone/>
            </a:pPr>
            <a:r>
              <a:rPr lang="en-US" sz="1150" b="1" dirty="0">
                <a:solidFill>
                  <a:srgbClr val="2E9E6B"/>
                </a:solidFill>
                <a:latin typeface="Calibri" pitchFamily="34" charset="0"/>
                <a:ea typeface="Calibri" pitchFamily="34" charset="-122"/>
                <a:cs typeface="Calibri" pitchFamily="34" charset="-120"/>
              </a:rPr>
              <a:t>Days 1-2</a:t>
            </a:r>
            <a:endParaRPr lang="en-US" sz="1150" dirty="0"/>
          </a:p>
          <a:p>
            <a:pPr indent="0" marL="0">
              <a:buNone/>
            </a:pPr>
            <a:r>
              <a:rPr lang="en-US" sz="1100" dirty="0">
                <a:solidFill>
                  <a:srgbClr val="14213D"/>
                </a:solidFill>
                <a:latin typeface="Calibri" pitchFamily="34" charset="0"/>
                <a:ea typeface="Calibri" pitchFamily="34" charset="-122"/>
                <a:cs typeface="Calibri" pitchFamily="34" charset="-120"/>
              </a:rPr>
              <a:t>Capture flow, plot pin, offline queue</a:t>
            </a:r>
            <a:endParaRPr lang="en-US" sz="1150" dirty="0"/>
          </a:p>
        </p:txBody>
      </p:sp>
      <p:sp>
        <p:nvSpPr>
          <p:cNvPr id="19" name="Shape 14"/>
          <p:cNvSpPr/>
          <p:nvPr/>
        </p:nvSpPr>
        <p:spPr>
          <a:xfrm>
            <a:off x="7790688" y="5029200"/>
            <a:ext cx="1207008" cy="1280160"/>
          </a:xfrm>
          <a:prstGeom prst="roundRect">
            <a:avLst>
              <a:gd name="adj" fmla="val 7576"/>
            </a:avLst>
          </a:prstGeom>
          <a:solidFill>
            <a:srgbClr val="FFFFFF"/>
          </a:solidFill>
          <a:ln w="12700">
            <a:solidFill>
              <a:srgbClr val="FFFFFF"/>
            </a:solidFill>
            <a:prstDash val="solid"/>
          </a:ln>
        </p:spPr>
      </p:sp>
      <p:sp>
        <p:nvSpPr>
          <p:cNvPr id="20" name="Text 15"/>
          <p:cNvSpPr/>
          <p:nvPr/>
        </p:nvSpPr>
        <p:spPr>
          <a:xfrm>
            <a:off x="7882128" y="5102352"/>
            <a:ext cx="1051560" cy="1188720"/>
          </a:xfrm>
          <a:prstGeom prst="rect">
            <a:avLst/>
          </a:prstGeom>
          <a:noFill/>
          <a:ln/>
        </p:spPr>
        <p:txBody>
          <a:bodyPr wrap="square" lIns="0" tIns="0" rIns="0" bIns="0" rtlCol="0" anchor="t"/>
          <a:lstStyle/>
          <a:p>
            <a:pPr indent="0" marL="0">
              <a:buNone/>
            </a:pPr>
            <a:r>
              <a:rPr lang="en-US" sz="1150" b="1" dirty="0">
                <a:solidFill>
                  <a:srgbClr val="2E9E6B"/>
                </a:solidFill>
                <a:latin typeface="Calibri" pitchFamily="34" charset="0"/>
                <a:ea typeface="Calibri" pitchFamily="34" charset="-122"/>
                <a:cs typeface="Calibri" pitchFamily="34" charset="-120"/>
              </a:rPr>
              <a:t>Days 3-4</a:t>
            </a:r>
            <a:endParaRPr lang="en-US" sz="1150" dirty="0"/>
          </a:p>
          <a:p>
            <a:pPr indent="0" marL="0">
              <a:buNone/>
            </a:pPr>
            <a:r>
              <a:rPr lang="en-US" sz="1100" dirty="0">
                <a:solidFill>
                  <a:srgbClr val="14213D"/>
                </a:solidFill>
                <a:latin typeface="Calibri" pitchFamily="34" charset="0"/>
                <a:ea typeface="Calibri" pitchFamily="34" charset="-122"/>
                <a:cs typeface="Calibri" pitchFamily="34" charset="-120"/>
              </a:rPr>
              <a:t>AI damage scoring + weather check</a:t>
            </a:r>
            <a:endParaRPr lang="en-US" sz="1150" dirty="0"/>
          </a:p>
        </p:txBody>
      </p:sp>
      <p:sp>
        <p:nvSpPr>
          <p:cNvPr id="21" name="Shape 16"/>
          <p:cNvSpPr/>
          <p:nvPr/>
        </p:nvSpPr>
        <p:spPr>
          <a:xfrm>
            <a:off x="9089136" y="5029200"/>
            <a:ext cx="1207008" cy="1280160"/>
          </a:xfrm>
          <a:prstGeom prst="roundRect">
            <a:avLst>
              <a:gd name="adj" fmla="val 7576"/>
            </a:avLst>
          </a:prstGeom>
          <a:solidFill>
            <a:srgbClr val="FFFFFF"/>
          </a:solidFill>
          <a:ln w="12700">
            <a:solidFill>
              <a:srgbClr val="FFFFFF"/>
            </a:solidFill>
            <a:prstDash val="solid"/>
          </a:ln>
        </p:spPr>
      </p:sp>
      <p:sp>
        <p:nvSpPr>
          <p:cNvPr id="22" name="Text 17"/>
          <p:cNvSpPr/>
          <p:nvPr/>
        </p:nvSpPr>
        <p:spPr>
          <a:xfrm>
            <a:off x="9180576" y="5102352"/>
            <a:ext cx="1051560" cy="1188720"/>
          </a:xfrm>
          <a:prstGeom prst="rect">
            <a:avLst/>
          </a:prstGeom>
          <a:noFill/>
          <a:ln/>
        </p:spPr>
        <p:txBody>
          <a:bodyPr wrap="square" lIns="0" tIns="0" rIns="0" bIns="0" rtlCol="0" anchor="t"/>
          <a:lstStyle/>
          <a:p>
            <a:pPr indent="0" marL="0">
              <a:buNone/>
            </a:pPr>
            <a:r>
              <a:rPr lang="en-US" sz="1150" b="1" dirty="0">
                <a:solidFill>
                  <a:srgbClr val="2E9E6B"/>
                </a:solidFill>
                <a:latin typeface="Calibri" pitchFamily="34" charset="0"/>
                <a:ea typeface="Calibri" pitchFamily="34" charset="-122"/>
                <a:cs typeface="Calibri" pitchFamily="34" charset="-120"/>
              </a:rPr>
              <a:t>Days 5-6</a:t>
            </a:r>
            <a:endParaRPr lang="en-US" sz="1150" dirty="0"/>
          </a:p>
          <a:p>
            <a:pPr indent="0" marL="0">
              <a:buNone/>
            </a:pPr>
            <a:r>
              <a:rPr lang="en-US" sz="1100" dirty="0">
                <a:solidFill>
                  <a:srgbClr val="14213D"/>
                </a:solidFill>
                <a:latin typeface="Calibri" pitchFamily="34" charset="0"/>
                <a:ea typeface="Calibri" pitchFamily="34" charset="-122"/>
                <a:cs typeface="Calibri" pitchFamily="34" charset="-120"/>
              </a:rPr>
              <a:t>Officer view, tracker, test with 5 users</a:t>
            </a:r>
            <a:endParaRPr lang="en-US" sz="1150" dirty="0"/>
          </a:p>
        </p:txBody>
      </p:sp>
      <p:sp>
        <p:nvSpPr>
          <p:cNvPr id="23" name="Shape 18"/>
          <p:cNvSpPr/>
          <p:nvPr/>
        </p:nvSpPr>
        <p:spPr>
          <a:xfrm>
            <a:off x="10387584" y="5029200"/>
            <a:ext cx="1207008" cy="1280160"/>
          </a:xfrm>
          <a:prstGeom prst="roundRect">
            <a:avLst>
              <a:gd name="adj" fmla="val 7576"/>
            </a:avLst>
          </a:prstGeom>
          <a:solidFill>
            <a:srgbClr val="FFFFFF"/>
          </a:solidFill>
          <a:ln w="12700">
            <a:solidFill>
              <a:srgbClr val="FFFFFF"/>
            </a:solidFill>
            <a:prstDash val="solid"/>
          </a:ln>
        </p:spPr>
      </p:sp>
      <p:sp>
        <p:nvSpPr>
          <p:cNvPr id="24" name="Text 19"/>
          <p:cNvSpPr/>
          <p:nvPr/>
        </p:nvSpPr>
        <p:spPr>
          <a:xfrm>
            <a:off x="10479024" y="5102352"/>
            <a:ext cx="1051560" cy="1188720"/>
          </a:xfrm>
          <a:prstGeom prst="rect">
            <a:avLst/>
          </a:prstGeom>
          <a:noFill/>
          <a:ln/>
        </p:spPr>
        <p:txBody>
          <a:bodyPr wrap="square" lIns="0" tIns="0" rIns="0" bIns="0" rtlCol="0" anchor="t"/>
          <a:lstStyle/>
          <a:p>
            <a:pPr indent="0" marL="0">
              <a:buNone/>
            </a:pPr>
            <a:r>
              <a:rPr lang="en-US" sz="1150" b="1" dirty="0">
                <a:solidFill>
                  <a:srgbClr val="2E9E6B"/>
                </a:solidFill>
                <a:latin typeface="Calibri" pitchFamily="34" charset="0"/>
                <a:ea typeface="Calibri" pitchFamily="34" charset="-122"/>
                <a:cs typeface="Calibri" pitchFamily="34" charset="-120"/>
              </a:rPr>
              <a:t>Day 7</a:t>
            </a:r>
            <a:endParaRPr lang="en-US" sz="1150" dirty="0"/>
          </a:p>
          <a:p>
            <a:pPr indent="0" marL="0">
              <a:buNone/>
            </a:pPr>
            <a:r>
              <a:rPr lang="en-US" sz="1100" dirty="0">
                <a:solidFill>
                  <a:srgbClr val="14213D"/>
                </a:solidFill>
                <a:latin typeface="Calibri" pitchFamily="34" charset="0"/>
                <a:ea typeface="Calibri" pitchFamily="34" charset="-122"/>
                <a:cs typeface="Calibri" pitchFamily="34" charset="-120"/>
              </a:rPr>
              <a:t>Fixes, demo video, submission</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 Tank 26 - Solution Concept Deck - FarmProof</dc:title>
  <dc:subject>PptxGenJS Presentation</dc:subject>
  <dc:creator>PptxGenJS</dc:creator>
  <cp:lastModifiedBy>PptxGenJS</cp:lastModifiedBy>
  <cp:revision>1</cp:revision>
  <dcterms:created xsi:type="dcterms:W3CDTF">2026-10-18T12:51:25Z</dcterms:created>
  <dcterms:modified xsi:type="dcterms:W3CDTF">2026-10-18T12:51:25Z</dcterms:modified>
</cp:coreProperties>
</file>